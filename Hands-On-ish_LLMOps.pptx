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77" r:id="rId38"/>
    <p:sldId id="278" r:id="rId39"/>
    <p:sldId id="279" r:id="rId40"/>
    <p:sldId id="280" r:id="rId41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</p:sldIdLst>
  <p:sldSz cy="6858000" cx="12192000"/>
  <p:notesSz cx="6858000" cy="12192000"/>
  <p:embeddedFontLst>
    <p:embeddedFont>
      <p:font typeface="Roboto"/>
      <p:regular r:id="rId26"/>
      <p:bold r:id="rId27"/>
      <p:italic r:id="rId28"/>
      <p:boldItalic r:id="rId29"/>
    </p:embeddedFont>
    <p:embeddedFont>
      <p:font typeface="Lato"/>
      <p:regular r:id="rId30"/>
      <p:bold r:id="rId31"/>
      <p:italic r:id="rId32"/>
      <p:boldItalic r:id="rId33"/>
    </p:embeddedFont>
    <p:embeddedFont>
      <p:font typeface="Spectral"/>
      <p:regular r:id="rId34"/>
      <p:bold r:id="rId35"/>
      <p:italic r:id="rId36"/>
      <p:boldItalic r:id="rId3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?><Relationships xmlns="http://schemas.openxmlformats.org/package/2006/relationships"><Relationship Id="rId20" Type="http://schemas.openxmlformats.org/officeDocument/2006/relationships/slide" Target="slides/slide16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schemas.openxmlformats.org/officeDocument/2006/relationships/font" Target="fonts/Roboto-regular.fntdata"/><Relationship Id="rId25" Type="http://schemas.openxmlformats.org/officeDocument/2006/relationships/slide" Target="slides/slide21.xml"/><Relationship Id="rId28" Type="http://schemas.openxmlformats.org/officeDocument/2006/relationships/font" Target="fonts/Roboto-italic.fntdata"/><Relationship Id="rId27" Type="http://schemas.openxmlformats.org/officeDocument/2006/relationships/font" Target="fonts/Roboto-bold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29" Type="http://schemas.openxmlformats.org/officeDocument/2006/relationships/font" Target="fonts/Roboto-boldItalic.fntdata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31" Type="http://schemas.openxmlformats.org/officeDocument/2006/relationships/font" Target="fonts/Lato-bold.fntdata"/><Relationship Id="rId30" Type="http://schemas.openxmlformats.org/officeDocument/2006/relationships/font" Target="fonts/Lato-regular.fntdata"/><Relationship Id="rId11" Type="http://schemas.openxmlformats.org/officeDocument/2006/relationships/slide" Target="slides/slide7.xml"/><Relationship Id="rId33" Type="http://schemas.openxmlformats.org/officeDocument/2006/relationships/font" Target="fonts/Lato-boldItalic.fntdata"/><Relationship Id="rId10" Type="http://schemas.openxmlformats.org/officeDocument/2006/relationships/slide" Target="slides/slide6.xml"/><Relationship Id="rId32" Type="http://schemas.openxmlformats.org/officeDocument/2006/relationships/font" Target="fonts/Lato-italic.fntdata"/><Relationship Id="rId13" Type="http://schemas.openxmlformats.org/officeDocument/2006/relationships/slide" Target="slides/slide9.xml"/><Relationship Id="rId35" Type="http://schemas.openxmlformats.org/officeDocument/2006/relationships/font" Target="fonts/Spectral-bold.fntdata"/><Relationship Id="rId12" Type="http://schemas.openxmlformats.org/officeDocument/2006/relationships/slide" Target="slides/slide8.xml"/><Relationship Id="rId34" Type="http://schemas.openxmlformats.org/officeDocument/2006/relationships/font" Target="fonts/Spectral-regular.fntdata"/><Relationship Id="rId15" Type="http://schemas.openxmlformats.org/officeDocument/2006/relationships/slide" Target="slides/slide11.xml"/><Relationship Id="rId37" Type="http://schemas.openxmlformats.org/officeDocument/2006/relationships/font" Target="fonts/Spectral-boldItalic.fntdata"/><Relationship Id="rId14" Type="http://schemas.openxmlformats.org/officeDocument/2006/relationships/slide" Target="slides/slide10.xml"/><Relationship Id="rId36" Type="http://schemas.openxmlformats.org/officeDocument/2006/relationships/font" Target="fonts/Spectral-italic.fntdata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slide" Target="slides/slide15.xml"/><Relationship Id="rId18" Type="http://schemas.openxmlformats.org/officeDocument/2006/relationships/slide" Target="slides/slide14.xml"/><Relationship Id="rId38" Type="http://schemas.openxmlformats.org/officeDocument/2006/relationships/slide" Target="slides/slide22.xml"/><Relationship Id="rId39" Type="http://schemas.openxmlformats.org/officeDocument/2006/relationships/slide" Target="slides/slide23.xml"/><Relationship Id="rId40" Type="http://schemas.openxmlformats.org/officeDocument/2006/relationships/slide" Target="slides/slide24.xml"/><Relationship Id="rId41" Type="http://schemas.openxmlformats.org/officeDocument/2006/relationships/slide" Target="slides/slide25.xml"/></Relationships>
</file>

<file path=ppt/notesMasters/_rels/notesMaster1.xml.rels><?xml version="1.0" encoding="UTF-8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" name="Google Shape;28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" name="Google Shape;29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g3daa87adfd2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" name="Google Shape;50;g3daa87adfd2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6" name="Google Shape;76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" name="Google Shape;77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5" name="Google Shape;95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3daa87adfd2_0_2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2" name="Google Shape;122;g3daa87adfd2_0_2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23" name="Google Shape;123;g3daa87adfd2_0_27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3daa87adfd2_0_6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1" name="Google Shape;161;g3daa87adfd2_0_6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62" name="Google Shape;162;g3daa87adfd2_0_67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7" name="Google Shape;197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" name="Google Shape;198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3" name="Google Shape;233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4" name="Google Shape;234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7" name="Google Shape;257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8" name="Google Shape;258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4" name="Google Shape;274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5" name="Google Shape;275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0" name="Google Shape;300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1" name="Google Shape;301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9" name="Google Shape;319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0" name="Google Shape;320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6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58" name="Google Shape;358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9" name="Google Shape;359;p1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3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75" name="Google Shape;375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6" name="Google Shape;376;p1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6" name="Shape 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" name="Google Shape;397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98" name="Google Shape;398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9" name="Google Shape;399;p1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3" name="Shape 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Google Shape;414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15" name="Google Shape;415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6" name="Google Shape;416;p1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7" name="Shape 4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8" name="Google Shape;448;p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49" name="Google Shape;449;p1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0" name="Google Shape;450;p1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5" name="Shape 4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6" name="Google Shape;476;p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77" name="Google Shape;477;p1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8" name="Google Shape;478;p1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8" name="Shape 5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9" name="Google Shape;509;p1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10" name="Google Shape;510;p1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1" name="Google Shape;511;p1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9" name="Shape 5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0" name="Google Shape;540;p2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41" name="Google Shape;541;p2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2" name="Google Shape;542;p2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hyperlink" Target="https://arsinnovate.com" TargetMode="External"/><Relationship Id="rId4" Type="http://schemas.openxmlformats.org/officeDocument/2006/relationships/hyperlink" Target="https://arsinnovate.com" TargetMode="External"/><Relationship Id="rId5" Type="http://schemas.openxmlformats.org/officeDocument/2006/relationships/image" Target="../media/image12.png"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hyperlink" Target="https://arsinnovate.com" TargetMode="External"/><Relationship Id="rId4" Type="http://schemas.openxmlformats.org/officeDocument/2006/relationships/hyperlink" Target="https://arsinnovate.com" TargetMode="External"/><Relationship Id="rId5" Type="http://schemas.openxmlformats.org/officeDocument/2006/relationships/image" Target="../media/image2.png"/><Relationship Id="rId6" Type="http://schemas.openxmlformats.org/officeDocument/2006/relationships/image" Target="../media/image12.png"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hyperlink" Target="https://arsinnovate.com" TargetMode="External"/><Relationship Id="rId4" Type="http://schemas.openxmlformats.org/officeDocument/2006/relationships/hyperlink" Target="https://arsinnovate.com" TargetMode="External"/><Relationship Id="rId5" Type="http://schemas.openxmlformats.org/officeDocument/2006/relationships/image" Target="../media/image7.png"/><Relationship Id="rId6" Type="http://schemas.openxmlformats.org/officeDocument/2006/relationships/image" Target="../media/image6.png"/><Relationship Id="rId7" Type="http://schemas.openxmlformats.org/officeDocument/2006/relationships/image" Target="../media/image4.png"/><Relationship Id="rId8" Type="http://schemas.openxmlformats.org/officeDocument/2006/relationships/image" Target="../media/image12.png"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hyperlink" Target="https://arsinnovate.com" TargetMode="External"/><Relationship Id="rId4" Type="http://schemas.openxmlformats.org/officeDocument/2006/relationships/hyperlink" Target="https://arsinnovate.com" TargetMode="External"/><Relationship Id="rId5" Type="http://schemas.openxmlformats.org/officeDocument/2006/relationships/image" Target="../media/image12.png"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hyperlink" Target="https://arsinnovate.com" TargetMode="External"/><Relationship Id="rId4" Type="http://schemas.openxmlformats.org/officeDocument/2006/relationships/hyperlink" Target="https://arsinnovate.com" TargetMode="External"/><Relationship Id="rId5" Type="http://schemas.openxmlformats.org/officeDocument/2006/relationships/image" Target="../media/image7.png"/><Relationship Id="rId6" Type="http://schemas.openxmlformats.org/officeDocument/2006/relationships/image" Target="../media/image6.png"/><Relationship Id="rId7" Type="http://schemas.openxmlformats.org/officeDocument/2006/relationships/image" Target="../media/image4.png"/><Relationship Id="rId8" Type="http://schemas.openxmlformats.org/officeDocument/2006/relationships/image" Target="../media/image12.png"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hyperlink" Target="https://arsinnovate.com" TargetMode="External"/><Relationship Id="rId4" Type="http://schemas.openxmlformats.org/officeDocument/2006/relationships/hyperlink" Target="https://arsinnovate.com" TargetMode="External"/><Relationship Id="rId5" Type="http://schemas.openxmlformats.org/officeDocument/2006/relationships/image" Target="../media/image10.png"/><Relationship Id="rId6" Type="http://schemas.openxmlformats.org/officeDocument/2006/relationships/image" Target="../media/image12.png"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hyperlink" Target="https://arsinnovate.com" TargetMode="External"/><Relationship Id="rId4" Type="http://schemas.openxmlformats.org/officeDocument/2006/relationships/hyperlink" Target="https://arsinnovate.com" TargetMode="External"/><Relationship Id="rId9" Type="http://schemas.openxmlformats.org/officeDocument/2006/relationships/image" Target="../media/image12.png"/><Relationship Id="rId5" Type="http://schemas.openxmlformats.org/officeDocument/2006/relationships/image" Target="../media/image21.png"/><Relationship Id="rId6" Type="http://schemas.openxmlformats.org/officeDocument/2006/relationships/image" Target="../media/image19.png"/><Relationship Id="rId7" Type="http://schemas.openxmlformats.org/officeDocument/2006/relationships/image" Target="../media/image23.png"/><Relationship Id="rId8" Type="http://schemas.openxmlformats.org/officeDocument/2006/relationships/image" Target="../media/image24.png"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hyperlink" Target="https://arsinnovate.com" TargetMode="External"/><Relationship Id="rId4" Type="http://schemas.openxmlformats.org/officeDocument/2006/relationships/hyperlink" Target="https://arsinnovate.com" TargetMode="External"/><Relationship Id="rId5" Type="http://schemas.openxmlformats.org/officeDocument/2006/relationships/image" Target="../media/image12.png"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hyperlink" Target="https://arsinnovate.com" TargetMode="External"/><Relationship Id="rId4" Type="http://schemas.openxmlformats.org/officeDocument/2006/relationships/hyperlink" Target="https://arsinnovate.com" TargetMode="External"/><Relationship Id="rId9" Type="http://schemas.openxmlformats.org/officeDocument/2006/relationships/image" Target="../media/image12.png"/><Relationship Id="rId5" Type="http://schemas.openxmlformats.org/officeDocument/2006/relationships/image" Target="../media/image17.png"/><Relationship Id="rId6" Type="http://schemas.openxmlformats.org/officeDocument/2006/relationships/image" Target="../media/image32.png"/><Relationship Id="rId7" Type="http://schemas.openxmlformats.org/officeDocument/2006/relationships/image" Target="../media/image26.png"/><Relationship Id="rId8" Type="http://schemas.openxmlformats.org/officeDocument/2006/relationships/image" Target="../media/image18.png"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hyperlink" Target="https://arsinnovate.com" TargetMode="External"/><Relationship Id="rId4" Type="http://schemas.openxmlformats.org/officeDocument/2006/relationships/hyperlink" Target="https://arsinnovate.com" TargetMode="External"/><Relationship Id="rId5" Type="http://schemas.openxmlformats.org/officeDocument/2006/relationships/image" Target="../media/image12.png"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hyperlink" Target="https://arsinnovate.com" TargetMode="External"/><Relationship Id="rId4" Type="http://schemas.openxmlformats.org/officeDocument/2006/relationships/hyperlink" Target="https://arsinnovate.com" TargetMode="External"/><Relationship Id="rId5" Type="http://schemas.openxmlformats.org/officeDocument/2006/relationships/image" Target="../media/image2.png"/><Relationship Id="rId6" Type="http://schemas.openxmlformats.org/officeDocument/2006/relationships/image" Target="../media/image12.png"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hyperlink" Target="https://arsinnovate.com" TargetMode="External"/><Relationship Id="rId4" Type="http://schemas.openxmlformats.org/officeDocument/2006/relationships/hyperlink" Target="https://arsinnovate.com" TargetMode="External"/><Relationship Id="rId5" Type="http://schemas.openxmlformats.org/officeDocument/2006/relationships/image" Target="../media/image12.png"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hyperlink" Target="https://arsinnovate.com" TargetMode="External"/><Relationship Id="rId4" Type="http://schemas.openxmlformats.org/officeDocument/2006/relationships/hyperlink" Target="https://arsinnovate.com" TargetMode="External"/><Relationship Id="rId5" Type="http://schemas.openxmlformats.org/officeDocument/2006/relationships/image" Target="../media/image37.png"/><Relationship Id="rId6" Type="http://schemas.openxmlformats.org/officeDocument/2006/relationships/image" Target="../media/image12.png"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hyperlink" Target="https://arsinnovate.com" TargetMode="External"/><Relationship Id="rId4" Type="http://schemas.openxmlformats.org/officeDocument/2006/relationships/hyperlink" Target="https://arsinnovate.com" TargetMode="External"/><Relationship Id="rId5" Type="http://schemas.openxmlformats.org/officeDocument/2006/relationships/image" Target="../media/image12.png"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hyperlink" Target="https://arsinnovate.com" TargetMode="External"/><Relationship Id="rId4" Type="http://schemas.openxmlformats.org/officeDocument/2006/relationships/hyperlink" Target="https://arsinnovate.com" TargetMode="External"/><Relationship Id="rId5" Type="http://schemas.openxmlformats.org/officeDocument/2006/relationships/image" Target="../media/image12.png"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hyperlink" Target="https://arsinnovate.com" TargetMode="External"/><Relationship Id="rId4" Type="http://schemas.openxmlformats.org/officeDocument/2006/relationships/hyperlink" Target="https://arsinnovate.com" TargetMode="External"/><Relationship Id="rId5" Type="http://schemas.openxmlformats.org/officeDocument/2006/relationships/image" Target="../media/image12.png"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hyperlink" Target="https://arsinnovate.com" TargetMode="External"/><Relationship Id="rId4" Type="http://schemas.openxmlformats.org/officeDocument/2006/relationships/hyperlink" Target="https://arsinnovate.com" TargetMode="External"/><Relationship Id="rId5" Type="http://schemas.openxmlformats.org/officeDocument/2006/relationships/image" Target="../media/image12.png"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hyperlink" Target="https://arsinnovate.com" TargetMode="External"/><Relationship Id="rId4" Type="http://schemas.openxmlformats.org/officeDocument/2006/relationships/hyperlink" Target="https://arsinnovate.com" TargetMode="External"/><Relationship Id="rId5" Type="http://schemas.openxmlformats.org/officeDocument/2006/relationships/image" Target="../media/image12.png"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hyperlink" Target="https://arsinnovate.com" TargetMode="External"/><Relationship Id="rId4" Type="http://schemas.openxmlformats.org/officeDocument/2006/relationships/hyperlink" Target="https://arsinnovate.com" TargetMode="External"/><Relationship Id="rId9" Type="http://schemas.openxmlformats.org/officeDocument/2006/relationships/image" Target="../media/image12.png"/><Relationship Id="rId5" Type="http://schemas.openxmlformats.org/officeDocument/2006/relationships/image" Target="../media/image34.png"/><Relationship Id="rId6" Type="http://schemas.openxmlformats.org/officeDocument/2006/relationships/image" Target="../media/image6.png"/><Relationship Id="rId7" Type="http://schemas.openxmlformats.org/officeDocument/2006/relationships/image" Target="../media/image25.png"/><Relationship Id="rId8" Type="http://schemas.openxmlformats.org/officeDocument/2006/relationships/image" Target="../media/image33.png"/></Relationships>
</file>

<file path=ppt/slides/_rels/slide20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hyperlink" Target="https://arsinnovate.com" TargetMode="External"/><Relationship Id="rId4" Type="http://schemas.openxmlformats.org/officeDocument/2006/relationships/hyperlink" Target="https://arsinnovate.com" TargetMode="External"/><Relationship Id="rId5" Type="http://schemas.openxmlformats.org/officeDocument/2006/relationships/image" Target="../media/image12.png"/></Relationships>
</file>

<file path=ppt/slides/_rels/slide2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hyperlink" Target="https://arsinnovate.com" TargetMode="External"/><Relationship Id="rId4" Type="http://schemas.openxmlformats.org/officeDocument/2006/relationships/hyperlink" Target="https://arsinnovate.com" TargetMode="External"/><Relationship Id="rId5" Type="http://schemas.openxmlformats.org/officeDocument/2006/relationships/image" Target="../media/image12.png"/><Relationship Id="rId6" Type="http://schemas.openxmlformats.org/officeDocument/2006/relationships/image" Target="../media/image27.png"/><Relationship Id="rId7" Type="http://schemas.openxmlformats.org/officeDocument/2006/relationships/image" Target="../media/image31.png"/></Relationships>
</file>

<file path=ppt/slides/_rels/slide22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hyperlink" Target="https://arsinnovate.com" TargetMode="External"/><Relationship Id="rId4" Type="http://schemas.openxmlformats.org/officeDocument/2006/relationships/hyperlink" Target="https://arsinnovate.com" TargetMode="External"/><Relationship Id="rId9" Type="http://schemas.openxmlformats.org/officeDocument/2006/relationships/image" Target="../media/image12.png"/><Relationship Id="rId5" Type="http://schemas.openxmlformats.org/officeDocument/2006/relationships/image" Target="../media/image17.png"/><Relationship Id="rId6" Type="http://schemas.openxmlformats.org/officeDocument/2006/relationships/image" Target="../media/image32.png"/><Relationship Id="rId7" Type="http://schemas.openxmlformats.org/officeDocument/2006/relationships/image" Target="../media/image26.png"/><Relationship Id="rId8" Type="http://schemas.openxmlformats.org/officeDocument/2006/relationships/image" Target="../media/image18.png"/></Relationships>
</file>

<file path=ppt/slides/_rels/slide23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hyperlink" Target="https://arsinnovate.com" TargetMode="External"/><Relationship Id="rId4" Type="http://schemas.openxmlformats.org/officeDocument/2006/relationships/hyperlink" Target="https://arsinnovate.com" TargetMode="External"/><Relationship Id="rId9" Type="http://schemas.openxmlformats.org/officeDocument/2006/relationships/image" Target="../media/image12.png"/><Relationship Id="rId5" Type="http://schemas.openxmlformats.org/officeDocument/2006/relationships/image" Target="../media/image17.png"/><Relationship Id="rId6" Type="http://schemas.openxmlformats.org/officeDocument/2006/relationships/image" Target="../media/image32.png"/><Relationship Id="rId7" Type="http://schemas.openxmlformats.org/officeDocument/2006/relationships/image" Target="../media/image26.png"/><Relationship Id="rId8" Type="http://schemas.openxmlformats.org/officeDocument/2006/relationships/image" Target="../media/image18.png"/></Relationships>
</file>

<file path=ppt/slides/_rels/slide24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hyperlink" Target="https://arsinnovate.com" TargetMode="External"/><Relationship Id="rId4" Type="http://schemas.openxmlformats.org/officeDocument/2006/relationships/hyperlink" Target="https://arsinnovate.com" TargetMode="External"/><Relationship Id="rId9" Type="http://schemas.openxmlformats.org/officeDocument/2006/relationships/image" Target="../media/image12.png"/><Relationship Id="rId5" Type="http://schemas.openxmlformats.org/officeDocument/2006/relationships/image" Target="../media/image17.png"/><Relationship Id="rId6" Type="http://schemas.openxmlformats.org/officeDocument/2006/relationships/image" Target="../media/image32.png"/><Relationship Id="rId7" Type="http://schemas.openxmlformats.org/officeDocument/2006/relationships/image" Target="../media/image26.png"/><Relationship Id="rId8" Type="http://schemas.openxmlformats.org/officeDocument/2006/relationships/image" Target="../media/image18.png"/></Relationships>
</file>

<file path=ppt/slides/_rels/slide25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hyperlink" Target="https://arsinnovate.com" TargetMode="External"/><Relationship Id="rId4" Type="http://schemas.openxmlformats.org/officeDocument/2006/relationships/hyperlink" Target="https://arsinnovate.com" TargetMode="External"/><Relationship Id="rId9" Type="http://schemas.openxmlformats.org/officeDocument/2006/relationships/image" Target="../media/image12.png"/><Relationship Id="rId5" Type="http://schemas.openxmlformats.org/officeDocument/2006/relationships/image" Target="../media/image17.png"/><Relationship Id="rId6" Type="http://schemas.openxmlformats.org/officeDocument/2006/relationships/image" Target="../media/image32.png"/><Relationship Id="rId7" Type="http://schemas.openxmlformats.org/officeDocument/2006/relationships/image" Target="../media/image26.png"/><Relationship Id="rId8" Type="http://schemas.openxmlformats.org/officeDocument/2006/relationships/image" Target="../media/image18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>
            <a:off x="9265615" y="457200"/>
            <a:ext cx="2286000" cy="36576"/>
          </a:xfrm>
          <a:prstGeom prst="rect">
            <a:avLst/>
          </a:prstGeom>
          <a:solidFill>
            <a:srgbClr val="326666"/>
          </a:solidFill>
          <a:ln cap="flat" cmpd="sng" w="12700">
            <a:solidFill>
              <a:srgbClr val="32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p3"/>
          <p:cNvSpPr/>
          <p:nvPr/>
        </p:nvSpPr>
        <p:spPr>
          <a:xfrm>
            <a:off x="9265615" y="548640"/>
            <a:ext cx="2286000" cy="18288"/>
          </a:xfrm>
          <a:prstGeom prst="rect">
            <a:avLst/>
          </a:prstGeom>
          <a:solidFill>
            <a:srgbClr val="326666"/>
          </a:solidFill>
          <a:ln cap="flat" cmpd="sng" w="12700">
            <a:solidFill>
              <a:srgbClr val="32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" name="Google Shape;18;p3">
            <a:hlinkClick r:id="rId3"/>
          </p:cNvPr>
          <p:cNvSpPr/>
          <p:nvPr/>
        </p:nvSpPr>
        <p:spPr>
          <a:xfrm>
            <a:off x="502920" y="6446520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Lato"/>
              <a:buNone/>
            </a:pPr>
            <a:r>
              <a:rPr b="0" i="0" lang="en-US" sz="1000" u="sng" cap="none" strike="noStrike">
                <a:solidFill>
                  <a:schemeClr val="hlink"/>
                </a:solidFill>
                <a:latin typeface="Lato"/>
                <a:ea typeface="Lato"/>
                <a:cs typeface="Lato"/>
                <a:sym typeface="Lato"/>
                <a:hlinkClick r:id="rId4"/>
              </a:rPr>
              <a:t>www.arsinnovate.com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3"/>
          <p:cNvSpPr/>
          <p:nvPr/>
        </p:nvSpPr>
        <p:spPr>
          <a:xfrm>
            <a:off x="640080" y="1463040"/>
            <a:ext cx="105156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6400"/>
              <a:buFont typeface="Spectral"/>
              <a:buNone/>
            </a:pPr>
            <a:r>
              <a:rPr b="1" i="0" lang="en-US" sz="6400" u="none" cap="none" strike="noStrike">
                <a:solidFill>
                  <a:srgbClr val="0D1B2A"/>
                </a:solidFill>
                <a:latin typeface="Spectral"/>
                <a:ea typeface="Spectral"/>
                <a:cs typeface="Spectral"/>
                <a:sym typeface="Spectral"/>
              </a:rPr>
              <a:t>Hands-On(ish) LLMOps</a:t>
            </a:r>
            <a:endParaRPr b="0" i="0" sz="6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3"/>
          <p:cNvSpPr/>
          <p:nvPr/>
        </p:nvSpPr>
        <p:spPr>
          <a:xfrm>
            <a:off x="640080" y="2697480"/>
            <a:ext cx="105156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26666"/>
              </a:buClr>
              <a:buSzPts val="2800"/>
              <a:buFont typeface="Spectral"/>
              <a:buNone/>
            </a:pPr>
            <a:r>
              <a:rPr b="0" i="1" lang="en-US" sz="2800" u="none" cap="none" strike="noStrike">
                <a:solidFill>
                  <a:srgbClr val="326666"/>
                </a:solidFill>
                <a:latin typeface="Spectral"/>
                <a:ea typeface="Spectral"/>
                <a:cs typeface="Spectral"/>
                <a:sym typeface="Spectral"/>
              </a:rPr>
              <a:t>Maybe Build · Maybe Demo of an Observable AI System in 90 Minutes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3"/>
          <p:cNvSpPr/>
          <p:nvPr/>
        </p:nvSpPr>
        <p:spPr>
          <a:xfrm>
            <a:off x="640080" y="3302260"/>
            <a:ext cx="1828800" cy="36600"/>
          </a:xfrm>
          <a:prstGeom prst="rect">
            <a:avLst/>
          </a:prstGeom>
          <a:solidFill>
            <a:srgbClr val="326666"/>
          </a:solidFill>
          <a:ln cap="flat" cmpd="sng" w="12700">
            <a:solidFill>
              <a:srgbClr val="32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" name="Google Shape;22;p3"/>
          <p:cNvSpPr/>
          <p:nvPr/>
        </p:nvSpPr>
        <p:spPr>
          <a:xfrm>
            <a:off x="640074" y="3566170"/>
            <a:ext cx="640080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2000"/>
              <a:buFont typeface="Lato"/>
              <a:buNone/>
            </a:pPr>
            <a:r>
              <a:rPr b="1" i="0" lang="en-US" sz="2000" u="none" cap="none" strike="noStrike">
                <a:solidFill>
                  <a:srgbClr val="0D1B2A"/>
                </a:solidFill>
                <a:latin typeface="Lato"/>
                <a:ea typeface="Lato"/>
                <a:cs typeface="Lato"/>
                <a:sym typeface="Lato"/>
              </a:rPr>
              <a:t>Jeanne McClure, PhD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759"/>
              </a:buClr>
              <a:buSzPts val="1500"/>
              <a:buFont typeface="Lato"/>
              <a:buNone/>
            </a:pPr>
            <a:r>
              <a:rPr b="0" i="0" lang="en-US" sz="1500" u="none" cap="none" strike="noStrike">
                <a:solidFill>
                  <a:srgbClr val="4A5759"/>
                </a:solidFill>
                <a:latin typeface="Lato"/>
                <a:ea typeface="Lato"/>
                <a:cs typeface="Lato"/>
                <a:sym typeface="Lato"/>
              </a:rPr>
              <a:t xml:space="preserve">AI:  Principal · Consultant · </a:t>
            </a:r>
            <a:r>
              <a:rPr lang="en-US" sz="1500">
                <a:solidFill>
                  <a:srgbClr val="4A5759"/>
                </a:solidFill>
                <a:latin typeface="Lato"/>
                <a:ea typeface="Lato"/>
                <a:cs typeface="Lato"/>
                <a:sym typeface="Lato"/>
              </a:rPr>
              <a:t>Expert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26666"/>
              </a:buClr>
              <a:buSzPts val="1400"/>
              <a:buFont typeface="Lato"/>
              <a:buNone/>
            </a:pPr>
            <a:r>
              <a:rPr b="1" i="0" lang="en-US" sz="1400" u="none" cap="none" strike="noStrike">
                <a:solidFill>
                  <a:srgbClr val="326666"/>
                </a:solidFill>
                <a:latin typeface="Lato"/>
                <a:ea typeface="Lato"/>
                <a:cs typeface="Lato"/>
                <a:sym typeface="Lato"/>
              </a:rPr>
              <a:t xml:space="preserve">Ars </a:t>
            </a:r>
            <a:r>
              <a:rPr b="1" lang="en-US">
                <a:solidFill>
                  <a:srgbClr val="326666"/>
                </a:solidFill>
                <a:latin typeface="Lato"/>
                <a:ea typeface="Lato"/>
                <a:cs typeface="Lato"/>
                <a:sym typeface="Lato"/>
              </a:rPr>
              <a:t>I</a:t>
            </a:r>
            <a:r>
              <a:rPr b="1" i="0" lang="en-US" sz="1400" u="none" cap="none" strike="noStrike">
                <a:solidFill>
                  <a:srgbClr val="326666"/>
                </a:solidFill>
                <a:latin typeface="Lato"/>
                <a:ea typeface="Lato"/>
                <a:cs typeface="Lato"/>
                <a:sym typeface="Lato"/>
              </a:rPr>
              <a:t>nnovate Technologies &amp; Consulting</a:t>
            </a:r>
            <a:endParaRPr b="1" i="0" sz="1400" u="none" cap="none" strike="noStrike">
              <a:solidFill>
                <a:srgbClr val="326666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26666"/>
              </a:buClr>
              <a:buSzPts val="1400"/>
              <a:buFont typeface="Lato"/>
              <a:buNone/>
            </a:pPr>
            <a:r>
              <a:t/>
            </a:r>
            <a:endParaRPr b="1">
              <a:solidFill>
                <a:srgbClr val="326666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26666"/>
              </a:buClr>
              <a:buSzPts val="1400"/>
              <a:buFont typeface="Lato"/>
              <a:buNone/>
            </a:pPr>
            <a:r>
              <a:rPr b="1" lang="en-US">
                <a:solidFill>
                  <a:srgbClr val="326666"/>
                </a:solidFill>
                <a:latin typeface="Lato"/>
                <a:ea typeface="Lato"/>
                <a:cs typeface="Lato"/>
                <a:sym typeface="Lato"/>
              </a:rPr>
              <a:t xml:space="preserve">Postdoctoral Fellow </a:t>
            </a:r>
            <a:endParaRPr b="1">
              <a:solidFill>
                <a:srgbClr val="326666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26666"/>
              </a:buClr>
              <a:buSzPts val="1400"/>
              <a:buFont typeface="Lato"/>
              <a:buNone/>
            </a:pPr>
            <a:r>
              <a:rPr b="1" lang="en-US">
                <a:solidFill>
                  <a:srgbClr val="326666"/>
                </a:solidFill>
                <a:latin typeface="Lato"/>
                <a:ea typeface="Lato"/>
                <a:cs typeface="Lato"/>
                <a:sym typeface="Lato"/>
              </a:rPr>
              <a:t>Data Science &amp; AI Academy</a:t>
            </a:r>
            <a:endParaRPr b="1">
              <a:solidFill>
                <a:srgbClr val="326666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26666"/>
              </a:buClr>
              <a:buSzPts val="1400"/>
              <a:buFont typeface="Lato"/>
              <a:buNone/>
            </a:pPr>
            <a:r>
              <a:rPr b="1" lang="en-US">
                <a:solidFill>
                  <a:srgbClr val="326666"/>
                </a:solidFill>
                <a:latin typeface="Lato"/>
                <a:ea typeface="Lato"/>
                <a:cs typeface="Lato"/>
                <a:sym typeface="Lato"/>
              </a:rPr>
              <a:t>North Carolina State University</a:t>
            </a:r>
            <a:endParaRPr b="1">
              <a:solidFill>
                <a:srgbClr val="326666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Lato"/>
              <a:buNone/>
            </a:pPr>
            <a:r>
              <a:rPr b="0" i="0" lang="en-US" sz="800" u="none" cap="none" strike="noStrik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 xml:space="preserve"> 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300"/>
              <a:buFont typeface="Lato"/>
              <a:buNone/>
            </a:pPr>
            <a:r>
              <a:rPr b="0" i="0" lang="en-US" sz="1300" u="none" cap="none" strike="noStrike">
                <a:solidFill>
                  <a:srgbClr val="595959"/>
                </a:solidFill>
                <a:latin typeface="Lato"/>
                <a:ea typeface="Lato"/>
                <a:cs typeface="Lato"/>
                <a:sym typeface="Lato"/>
              </a:rPr>
              <a:t>DevOps Days · 2026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23;p3"/>
          <p:cNvSpPr/>
          <p:nvPr/>
        </p:nvSpPr>
        <p:spPr>
          <a:xfrm>
            <a:off x="502920" y="612648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800"/>
              <a:buFont typeface="Lato"/>
              <a:buNone/>
            </a:pPr>
            <a:r>
              <a:rPr b="0" i="0" lang="en-US" sz="800" u="none" cap="none" strike="noStrike">
                <a:solidFill>
                  <a:srgbClr val="595959"/>
                </a:solidFill>
                <a:latin typeface="Lato"/>
                <a:ea typeface="Lato"/>
                <a:cs typeface="Lato"/>
                <a:sym typeface="Lato"/>
              </a:rPr>
              <a:t>© 2026 Jeanne McClure, PhD / Arsinnovate. Non-commercial use only. Attribution required.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" name="Google Shape;24;p3"/>
          <p:cNvSpPr txBox="1"/>
          <p:nvPr/>
        </p:nvSpPr>
        <p:spPr>
          <a:xfrm>
            <a:off x="473725" y="5698325"/>
            <a:ext cx="108483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latin typeface="Roboto"/>
                <a:ea typeface="Roboto"/>
                <a:cs typeface="Roboto"/>
                <a:sym typeface="Roboto"/>
              </a:rPr>
              <a:t>This material is based in part upon work supported by the National Science Foundation under Grant #DGE-2222148. Any opinions, findings, and conclusions or recommendations expressed in this material are those of the author(s) and do not necessarily reflect the views of the National Science Foundation.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25" name="Google Shape;25;p3" title="Gemini_Generated_Image_rbdzoirbdzoirbdz.png"/>
          <p:cNvPicPr preferRelativeResize="0"/>
          <p:nvPr/>
        </p:nvPicPr>
        <p:blipFill rotWithShape="1">
          <a:blip r:embed="rId5">
            <a:alphaModFix/>
          </a:blip>
          <a:srcRect b="33061" l="22742" r="28149" t="10923"/>
          <a:stretch/>
        </p:blipFill>
        <p:spPr>
          <a:xfrm>
            <a:off x="9885440" y="6291673"/>
            <a:ext cx="1727432" cy="492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4"/>
          <p:cNvSpPr/>
          <p:nvPr/>
        </p:nvSpPr>
        <p:spPr>
          <a:xfrm>
            <a:off x="9265615" y="457200"/>
            <a:ext cx="2286000" cy="36576"/>
          </a:xfrm>
          <a:prstGeom prst="rect">
            <a:avLst/>
          </a:prstGeom>
          <a:solidFill>
            <a:srgbClr val="326666"/>
          </a:solidFill>
          <a:ln cap="flat" cmpd="sng" w="12700">
            <a:solidFill>
              <a:srgbClr val="32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" name="Google Shape;32;p4"/>
          <p:cNvSpPr/>
          <p:nvPr/>
        </p:nvSpPr>
        <p:spPr>
          <a:xfrm>
            <a:off x="9265615" y="548640"/>
            <a:ext cx="2286000" cy="18288"/>
          </a:xfrm>
          <a:prstGeom prst="rect">
            <a:avLst/>
          </a:prstGeom>
          <a:solidFill>
            <a:srgbClr val="326666"/>
          </a:solidFill>
          <a:ln cap="flat" cmpd="sng" w="12700">
            <a:solidFill>
              <a:srgbClr val="32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" name="Google Shape;33;p4"/>
          <p:cNvSpPr/>
          <p:nvPr/>
        </p:nvSpPr>
        <p:spPr>
          <a:xfrm>
            <a:off x="502920" y="384048"/>
            <a:ext cx="914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300"/>
              <a:buFont typeface="Lato"/>
              <a:buNone/>
            </a:pPr>
            <a:r>
              <a:rPr b="1" i="0" lang="en-US" sz="1300" u="none" cap="none" strike="noStrike">
                <a:solidFill>
                  <a:srgbClr val="0D1B2A"/>
                </a:solidFill>
                <a:latin typeface="Lato"/>
                <a:ea typeface="Lato"/>
                <a:cs typeface="Lato"/>
                <a:sym typeface="Lato"/>
              </a:rPr>
              <a:t>01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p4">
            <a:hlinkClick r:id="rId3"/>
          </p:cNvPr>
          <p:cNvSpPr/>
          <p:nvPr/>
        </p:nvSpPr>
        <p:spPr>
          <a:xfrm>
            <a:off x="502920" y="6446520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Lato"/>
              <a:buNone/>
            </a:pPr>
            <a:r>
              <a:rPr b="0" i="0" lang="en-US" sz="1000" u="sng" cap="none" strike="noStrike">
                <a:solidFill>
                  <a:schemeClr val="hlink"/>
                </a:solidFill>
                <a:latin typeface="Lato"/>
                <a:ea typeface="Lato"/>
                <a:cs typeface="Lato"/>
                <a:sym typeface="Lato"/>
                <a:hlinkClick r:id="rId4"/>
              </a:rPr>
              <a:t>www.arsinnovate.com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Google Shape;35;p4"/>
          <p:cNvSpPr/>
          <p:nvPr/>
        </p:nvSpPr>
        <p:spPr>
          <a:xfrm>
            <a:off x="11551615" y="6400800"/>
            <a:ext cx="365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100"/>
              <a:buFont typeface="Lato"/>
              <a:buNone/>
            </a:pPr>
            <a:r>
              <a:rPr b="0" i="0" lang="en-US" sz="1100" u="none" cap="none" strike="noStrike">
                <a:solidFill>
                  <a:srgbClr val="595959"/>
                </a:solidFill>
                <a:latin typeface="Lato"/>
                <a:ea typeface="Lato"/>
                <a:cs typeface="Lato"/>
                <a:sym typeface="Lato"/>
              </a:rPr>
              <a:t>2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4"/>
          <p:cNvSpPr/>
          <p:nvPr/>
        </p:nvSpPr>
        <p:spPr>
          <a:xfrm>
            <a:off x="502920" y="960120"/>
            <a:ext cx="11185855" cy="109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4000"/>
              <a:buFont typeface="Spectral"/>
              <a:buNone/>
            </a:pPr>
            <a:r>
              <a:rPr b="1" i="0" lang="en-US" sz="4000" u="none" cap="none" strike="noStrike">
                <a:solidFill>
                  <a:srgbClr val="0D1B2A"/>
                </a:solidFill>
                <a:latin typeface="Spectral"/>
                <a:ea typeface="Spectral"/>
                <a:cs typeface="Spectral"/>
                <a:sym typeface="Spectral"/>
              </a:rPr>
              <a:t>You shipped the LLM feature. It works — mostly.</a:t>
            </a:r>
            <a:endParaRPr b="0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37;p4"/>
          <p:cNvSpPr/>
          <p:nvPr/>
        </p:nvSpPr>
        <p:spPr>
          <a:xfrm>
            <a:off x="502920" y="2286000"/>
            <a:ext cx="5760720" cy="3657600"/>
          </a:xfrm>
          <a:prstGeom prst="rect">
            <a:avLst/>
          </a:prstGeom>
          <a:solidFill>
            <a:srgbClr val="F4F2EE"/>
          </a:solidFill>
          <a:ln cap="flat" cmpd="sng" w="12700">
            <a:solidFill>
              <a:srgbClr val="F4F2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p4"/>
          <p:cNvSpPr/>
          <p:nvPr/>
        </p:nvSpPr>
        <p:spPr>
          <a:xfrm>
            <a:off x="502920" y="2286000"/>
            <a:ext cx="73152" cy="3657600"/>
          </a:xfrm>
          <a:prstGeom prst="rect">
            <a:avLst/>
          </a:prstGeom>
          <a:solidFill>
            <a:srgbClr val="326666"/>
          </a:solidFill>
          <a:ln cap="flat" cmpd="sng" w="12700">
            <a:solidFill>
              <a:srgbClr val="32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" name="Google Shape;39;p4"/>
          <p:cNvSpPr/>
          <p:nvPr/>
        </p:nvSpPr>
        <p:spPr>
          <a:xfrm>
            <a:off x="777240" y="2468880"/>
            <a:ext cx="5394960" cy="3383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2000"/>
              <a:buFont typeface="Spectral"/>
              <a:buNone/>
            </a:pPr>
            <a:r>
              <a:rPr b="1" i="0" lang="en-US" sz="2700" u="none" cap="none" strike="noStrike">
                <a:solidFill>
                  <a:srgbClr val="0D1B2A"/>
                </a:solidFill>
                <a:latin typeface="Spectral"/>
                <a:ea typeface="Spectral"/>
                <a:cs typeface="Spectral"/>
                <a:sym typeface="Spectral"/>
              </a:rPr>
              <a:t>Last week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Lato"/>
              <a:buNone/>
            </a:pPr>
            <a:r>
              <a:rPr b="0" i="0" lang="en-US" sz="1700" u="none" cap="none" strike="noStrik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 xml:space="preserve"> 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02124"/>
              </a:buClr>
              <a:buSzPts val="1500"/>
              <a:buFont typeface="Lato"/>
              <a:buNone/>
            </a:pPr>
            <a:r>
              <a:rPr b="0" i="0" lang="en-US" sz="2200" u="none" cap="none" strike="noStrike">
                <a:solidFill>
                  <a:srgbClr val="202124"/>
                </a:solidFill>
                <a:latin typeface="Lato"/>
                <a:ea typeface="Lato"/>
                <a:cs typeface="Lato"/>
                <a:sym typeface="Lato"/>
              </a:rPr>
              <a:t>your AI assistant gave a customer bizarre advice. Nobody can reproduce it. Nobody knows why.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Lato"/>
              <a:buNone/>
            </a:pPr>
            <a:r>
              <a:rPr b="0" i="0" lang="en-US" sz="1700" u="none" cap="none" strike="noStrik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 xml:space="preserve"> 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759"/>
              </a:buClr>
              <a:buSzPts val="1400"/>
              <a:buFont typeface="Lato"/>
              <a:buNone/>
            </a:pPr>
            <a:r>
              <a:rPr b="0" i="1" lang="en-US" sz="2100" u="none" cap="none" strike="noStrike">
                <a:solidFill>
                  <a:srgbClr val="4A5759"/>
                </a:solidFill>
                <a:latin typeface="Lato"/>
                <a:ea typeface="Lato"/>
                <a:cs typeface="Lato"/>
                <a:sym typeface="Lato"/>
              </a:rPr>
              <a:t>The logs show an HTTP 200.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Lato"/>
              <a:buNone/>
            </a:pPr>
            <a:r>
              <a:rPr b="0" i="0" lang="en-US" sz="1500" u="none" cap="none" strike="noStrik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 xml:space="preserve"> 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800"/>
              <a:buFont typeface="Lato"/>
              <a:buNone/>
            </a:pPr>
            <a:r>
              <a:rPr b="1" i="1" lang="en-US" sz="2500" u="none" cap="none" strike="noStrike">
                <a:solidFill>
                  <a:srgbClr val="0D1B2A"/>
                </a:solidFill>
                <a:latin typeface="Lato"/>
                <a:ea typeface="Lato"/>
                <a:cs typeface="Lato"/>
                <a:sym typeface="Lato"/>
              </a:rPr>
              <a:t>Helpful.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0;p4"/>
          <p:cNvSpPr/>
          <p:nvPr/>
        </p:nvSpPr>
        <p:spPr>
          <a:xfrm>
            <a:off x="6675120" y="2377440"/>
            <a:ext cx="5029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26666"/>
              </a:buClr>
              <a:buSzPts val="1400"/>
              <a:buFont typeface="Lato"/>
              <a:buNone/>
            </a:pPr>
            <a:r>
              <a:rPr b="1" i="0" lang="en-US" sz="2000" u="none" cap="none" strike="noStrike">
                <a:solidFill>
                  <a:srgbClr val="326666"/>
                </a:solidFill>
                <a:latin typeface="Lato"/>
                <a:ea typeface="Lato"/>
                <a:cs typeface="Lato"/>
                <a:sym typeface="Lato"/>
              </a:rPr>
              <a:t>You cannot answer: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41" name="Google Shape;41;p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675120" y="3017520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42" name="Google Shape;42;p4"/>
          <p:cNvSpPr/>
          <p:nvPr/>
        </p:nvSpPr>
        <p:spPr>
          <a:xfrm>
            <a:off x="7178040" y="2971800"/>
            <a:ext cx="4572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700"/>
              <a:buFont typeface="Spectral"/>
              <a:buNone/>
            </a:pPr>
            <a:r>
              <a:rPr b="1" i="0" lang="en-US" sz="1700" u="none" cap="none" strike="noStrike">
                <a:solidFill>
                  <a:srgbClr val="0D1B2A"/>
                </a:solidFill>
                <a:latin typeface="Spectral"/>
                <a:ea typeface="Spectral"/>
                <a:cs typeface="Spectral"/>
                <a:sym typeface="Spectral"/>
              </a:rPr>
              <a:t>Can you debug it when it breaks?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43" name="Google Shape;43;p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675120" y="4023360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44" name="Google Shape;44;p4"/>
          <p:cNvSpPr/>
          <p:nvPr/>
        </p:nvSpPr>
        <p:spPr>
          <a:xfrm>
            <a:off x="7178040" y="3977640"/>
            <a:ext cx="4572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700"/>
              <a:buFont typeface="Spectral"/>
              <a:buNone/>
            </a:pPr>
            <a:r>
              <a:rPr b="1" i="0" lang="en-US" sz="1700" u="none" cap="none" strike="noStrike">
                <a:solidFill>
                  <a:srgbClr val="0D1B2A"/>
                </a:solidFill>
                <a:latin typeface="Spectral"/>
                <a:ea typeface="Spectral"/>
                <a:cs typeface="Spectral"/>
                <a:sym typeface="Spectral"/>
              </a:rPr>
              <a:t>Do you know what it costs per request?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45" name="Google Shape;45;p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675120" y="5029200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46" name="Google Shape;46;p4"/>
          <p:cNvSpPr/>
          <p:nvPr/>
        </p:nvSpPr>
        <p:spPr>
          <a:xfrm>
            <a:off x="7178040" y="4983480"/>
            <a:ext cx="4572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700"/>
              <a:buFont typeface="Spectral"/>
              <a:buNone/>
            </a:pPr>
            <a:r>
              <a:rPr b="1" i="0" lang="en-US" sz="1700" u="none" cap="none" strike="noStrike">
                <a:solidFill>
                  <a:srgbClr val="0D1B2A"/>
                </a:solidFill>
                <a:latin typeface="Spectral"/>
                <a:ea typeface="Spectral"/>
                <a:cs typeface="Spectral"/>
                <a:sym typeface="Spectral"/>
              </a:rPr>
              <a:t>Can you trace why it gave a wrong answer?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7" name="Google Shape;47;p4" title="Gemini_Generated_Image_rbdzoirbdzoirbdz.png"/>
          <p:cNvPicPr preferRelativeResize="0"/>
          <p:nvPr/>
        </p:nvPicPr>
        <p:blipFill rotWithShape="1">
          <a:blip r:embed="rId6">
            <a:alphaModFix/>
          </a:blip>
          <a:srcRect b="33061" l="22742" r="28149" t="10923"/>
          <a:stretch/>
        </p:blipFill>
        <p:spPr>
          <a:xfrm>
            <a:off x="9885440" y="6291673"/>
            <a:ext cx="1727432" cy="492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5"/>
          <p:cNvSpPr/>
          <p:nvPr/>
        </p:nvSpPr>
        <p:spPr>
          <a:xfrm>
            <a:off x="9265615" y="457200"/>
            <a:ext cx="2286000" cy="36600"/>
          </a:xfrm>
          <a:prstGeom prst="rect">
            <a:avLst/>
          </a:prstGeom>
          <a:solidFill>
            <a:srgbClr val="326666"/>
          </a:solidFill>
          <a:ln cap="flat" cmpd="sng" w="12700">
            <a:solidFill>
              <a:srgbClr val="32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53;p5"/>
          <p:cNvSpPr/>
          <p:nvPr/>
        </p:nvSpPr>
        <p:spPr>
          <a:xfrm>
            <a:off x="9265615" y="548640"/>
            <a:ext cx="2286000" cy="18300"/>
          </a:xfrm>
          <a:prstGeom prst="rect">
            <a:avLst/>
          </a:prstGeom>
          <a:solidFill>
            <a:srgbClr val="326666"/>
          </a:solidFill>
          <a:ln cap="flat" cmpd="sng" w="12700">
            <a:solidFill>
              <a:srgbClr val="32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54;p5"/>
          <p:cNvSpPr/>
          <p:nvPr/>
        </p:nvSpPr>
        <p:spPr>
          <a:xfrm>
            <a:off x="502920" y="384048"/>
            <a:ext cx="9144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300"/>
              <a:buFont typeface="Lato"/>
              <a:buNone/>
            </a:pPr>
            <a:r>
              <a:rPr b="1" i="0" lang="en-US" sz="1300" u="none" cap="none" strike="noStrike">
                <a:solidFill>
                  <a:srgbClr val="0D1B2A"/>
                </a:solidFill>
                <a:latin typeface="Lato"/>
                <a:ea typeface="Lato"/>
                <a:cs typeface="Lato"/>
                <a:sym typeface="Lato"/>
              </a:rPr>
              <a:t>01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5">
            <a:hlinkClick r:id="rId3"/>
          </p:cNvPr>
          <p:cNvSpPr/>
          <p:nvPr/>
        </p:nvSpPr>
        <p:spPr>
          <a:xfrm>
            <a:off x="502920" y="6446520"/>
            <a:ext cx="2743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Lato"/>
              <a:buNone/>
            </a:pPr>
            <a:r>
              <a:rPr b="0" i="0" lang="en-US" sz="1000" u="sng" cap="none" strike="noStrike">
                <a:solidFill>
                  <a:schemeClr val="hlink"/>
                </a:solidFill>
                <a:latin typeface="Lato"/>
                <a:ea typeface="Lato"/>
                <a:cs typeface="Lato"/>
                <a:sym typeface="Lato"/>
                <a:hlinkClick r:id="rId4"/>
              </a:rPr>
              <a:t>www.arsinnovate.com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5"/>
          <p:cNvSpPr/>
          <p:nvPr/>
        </p:nvSpPr>
        <p:spPr>
          <a:xfrm>
            <a:off x="11551615" y="6400800"/>
            <a:ext cx="3657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100"/>
              <a:buFont typeface="Lato"/>
              <a:buNone/>
            </a:pPr>
            <a:r>
              <a:rPr b="0" i="0" lang="en-US" sz="1100" u="none" cap="none" strike="noStrike">
                <a:solidFill>
                  <a:srgbClr val="595959"/>
                </a:solidFill>
                <a:latin typeface="Lato"/>
                <a:ea typeface="Lato"/>
                <a:cs typeface="Lato"/>
                <a:sym typeface="Lato"/>
              </a:rPr>
              <a:t>3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5"/>
          <p:cNvSpPr/>
          <p:nvPr/>
        </p:nvSpPr>
        <p:spPr>
          <a:xfrm>
            <a:off x="502920" y="960120"/>
            <a:ext cx="11185800" cy="109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4000"/>
              <a:buFont typeface="Spectral"/>
              <a:buNone/>
            </a:pPr>
            <a:r>
              <a:rPr b="1" i="0" lang="en-US" sz="4000" u="none" cap="none" strike="noStrike">
                <a:solidFill>
                  <a:srgbClr val="0D1B2A"/>
                </a:solidFill>
                <a:latin typeface="Spectral"/>
                <a:ea typeface="Spectral"/>
                <a:cs typeface="Spectral"/>
                <a:sym typeface="Spectral"/>
              </a:rPr>
              <a:t>Today fits inside a bigger practice.</a:t>
            </a:r>
            <a:endParaRPr b="0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5"/>
          <p:cNvSpPr/>
          <p:nvPr/>
        </p:nvSpPr>
        <p:spPr>
          <a:xfrm>
            <a:off x="502920" y="2286000"/>
            <a:ext cx="3657600" cy="39318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" name="Google Shape;59;p5"/>
          <p:cNvSpPr/>
          <p:nvPr/>
        </p:nvSpPr>
        <p:spPr>
          <a:xfrm>
            <a:off x="502920" y="2286000"/>
            <a:ext cx="3657600" cy="73200"/>
          </a:xfrm>
          <a:prstGeom prst="rect">
            <a:avLst/>
          </a:prstGeom>
          <a:solidFill>
            <a:srgbClr val="326666"/>
          </a:solidFill>
          <a:ln cap="flat" cmpd="sng" w="12700">
            <a:solidFill>
              <a:srgbClr val="32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60" name="Google Shape;60;p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77240" y="2606040"/>
            <a:ext cx="640080" cy="640080"/>
          </a:xfrm>
          <a:prstGeom prst="rect">
            <a:avLst/>
          </a:prstGeom>
          <a:noFill/>
          <a:ln>
            <a:noFill/>
          </a:ln>
        </p:spPr>
      </p:pic>
      <p:sp>
        <p:nvSpPr>
          <p:cNvPr id="61" name="Google Shape;61;p5"/>
          <p:cNvSpPr/>
          <p:nvPr/>
        </p:nvSpPr>
        <p:spPr>
          <a:xfrm>
            <a:off x="777240" y="3383280"/>
            <a:ext cx="31089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2600"/>
              <a:buFont typeface="Spectral"/>
              <a:buNone/>
            </a:pPr>
            <a:r>
              <a:rPr b="1" i="0" lang="en-US" sz="2600" u="none" cap="none" strike="noStrike">
                <a:solidFill>
                  <a:srgbClr val="0D1B2A"/>
                </a:solidFill>
                <a:latin typeface="Spectral"/>
                <a:ea typeface="Spectral"/>
                <a:cs typeface="Spectral"/>
                <a:sym typeface="Spectral"/>
              </a:rPr>
              <a:t xml:space="preserve">Phase 1 </a:t>
            </a:r>
            <a:endParaRPr b="1" i="0" sz="2600" u="none" cap="none" strike="noStrike">
              <a:solidFill>
                <a:srgbClr val="0D1B2A"/>
              </a:solidFill>
              <a:latin typeface="Spectral"/>
              <a:ea typeface="Spectral"/>
              <a:cs typeface="Spectral"/>
              <a:sym typeface="Spectr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2600"/>
              <a:buFont typeface="Spectral"/>
              <a:buNone/>
            </a:pPr>
            <a:r>
              <a:rPr b="1" lang="en-US" sz="2600">
                <a:solidFill>
                  <a:srgbClr val="0D1B2A"/>
                </a:solidFill>
                <a:latin typeface="Spectral"/>
                <a:ea typeface="Spectral"/>
                <a:cs typeface="Spectral"/>
                <a:sym typeface="Spectral"/>
              </a:rPr>
              <a:t>Human Evaluation</a:t>
            </a:r>
            <a:endParaRPr b="1" sz="2600">
              <a:solidFill>
                <a:srgbClr val="0D1B2A"/>
              </a:solidFill>
              <a:latin typeface="Spectral"/>
              <a:ea typeface="Spectral"/>
              <a:cs typeface="Spectral"/>
              <a:sym typeface="Spectral"/>
            </a:endParaRPr>
          </a:p>
        </p:txBody>
      </p:sp>
      <p:sp>
        <p:nvSpPr>
          <p:cNvPr id="62" name="Google Shape;62;p5"/>
          <p:cNvSpPr/>
          <p:nvPr/>
        </p:nvSpPr>
        <p:spPr>
          <a:xfrm>
            <a:off x="777240" y="4023360"/>
            <a:ext cx="3108900" cy="210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2124"/>
              </a:buClr>
              <a:buSzPts val="1300"/>
              <a:buFont typeface="Lato"/>
              <a:buNone/>
            </a:pPr>
            <a:r>
              <a:t/>
            </a:r>
            <a:endParaRPr sz="1300">
              <a:solidFill>
                <a:srgbClr val="202124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2124"/>
              </a:buClr>
              <a:buSzPts val="1300"/>
              <a:buFont typeface="Lato"/>
              <a:buNone/>
            </a:pPr>
            <a:r>
              <a:rPr b="0" i="0" lang="en-US" sz="1300" u="none" cap="none" strike="noStrike">
                <a:solidFill>
                  <a:srgbClr val="202124"/>
                </a:solidFill>
                <a:latin typeface="Lato"/>
                <a:ea typeface="Lato"/>
                <a:cs typeface="Lato"/>
                <a:sym typeface="Lato"/>
              </a:rPr>
              <a:t>Humans score model output by hand against a written rubric. This is how you build ground truth before you decide which model to use.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5"/>
          <p:cNvSpPr/>
          <p:nvPr/>
        </p:nvSpPr>
        <p:spPr>
          <a:xfrm>
            <a:off x="4325112" y="2286000"/>
            <a:ext cx="3657600" cy="39318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" name="Google Shape;64;p5"/>
          <p:cNvSpPr/>
          <p:nvPr/>
        </p:nvSpPr>
        <p:spPr>
          <a:xfrm>
            <a:off x="4325112" y="2286000"/>
            <a:ext cx="3657600" cy="73200"/>
          </a:xfrm>
          <a:prstGeom prst="rect">
            <a:avLst/>
          </a:prstGeom>
          <a:solidFill>
            <a:srgbClr val="326666"/>
          </a:solidFill>
          <a:ln cap="flat" cmpd="sng" w="12700">
            <a:solidFill>
              <a:srgbClr val="32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65" name="Google Shape;65;p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599432" y="2606040"/>
            <a:ext cx="640080" cy="640080"/>
          </a:xfrm>
          <a:prstGeom prst="rect">
            <a:avLst/>
          </a:prstGeom>
          <a:noFill/>
          <a:ln>
            <a:noFill/>
          </a:ln>
        </p:spPr>
      </p:pic>
      <p:sp>
        <p:nvSpPr>
          <p:cNvPr id="66" name="Google Shape;66;p5"/>
          <p:cNvSpPr/>
          <p:nvPr/>
        </p:nvSpPr>
        <p:spPr>
          <a:xfrm>
            <a:off x="4599432" y="3383280"/>
            <a:ext cx="31089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2600"/>
              <a:buFont typeface="Spectral"/>
              <a:buNone/>
            </a:pPr>
            <a:r>
              <a:rPr b="1" i="0" lang="en-US" sz="2600" u="none" cap="none" strike="noStrike">
                <a:solidFill>
                  <a:srgbClr val="0D1B2A"/>
                </a:solidFill>
                <a:latin typeface="Spectral"/>
                <a:ea typeface="Spectral"/>
                <a:cs typeface="Spectral"/>
                <a:sym typeface="Spectral"/>
              </a:rPr>
              <a:t xml:space="preserve">Phase 2 </a:t>
            </a:r>
            <a:endParaRPr b="1" sz="2600">
              <a:solidFill>
                <a:srgbClr val="0D1B2A"/>
              </a:solidFill>
              <a:latin typeface="Spectral"/>
              <a:ea typeface="Spectral"/>
              <a:cs typeface="Spectral"/>
              <a:sym typeface="Spectr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2600"/>
              <a:buFont typeface="Spectral"/>
              <a:buNone/>
            </a:pPr>
            <a:r>
              <a:rPr b="1" lang="en-US" sz="2600">
                <a:solidFill>
                  <a:srgbClr val="0D1B2A"/>
                </a:solidFill>
                <a:latin typeface="Spectral"/>
                <a:ea typeface="Spectral"/>
                <a:cs typeface="Spectral"/>
                <a:sym typeface="Spectral"/>
              </a:rPr>
              <a:t>LLM-as-Judge</a:t>
            </a:r>
            <a:endParaRPr b="1" sz="2600">
              <a:solidFill>
                <a:srgbClr val="0D1B2A"/>
              </a:solidFill>
              <a:latin typeface="Spectral"/>
              <a:ea typeface="Spectral"/>
              <a:cs typeface="Spectral"/>
              <a:sym typeface="Spectral"/>
            </a:endParaRPr>
          </a:p>
        </p:txBody>
      </p:sp>
      <p:sp>
        <p:nvSpPr>
          <p:cNvPr id="67" name="Google Shape;67;p5"/>
          <p:cNvSpPr/>
          <p:nvPr/>
        </p:nvSpPr>
        <p:spPr>
          <a:xfrm>
            <a:off x="4599432" y="4023360"/>
            <a:ext cx="3108900" cy="210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2124"/>
              </a:buClr>
              <a:buSzPts val="1300"/>
              <a:buFont typeface="Lato"/>
              <a:buNone/>
            </a:pPr>
            <a:r>
              <a:t/>
            </a:r>
            <a:endParaRPr sz="1300">
              <a:solidFill>
                <a:srgbClr val="202124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2124"/>
              </a:buClr>
              <a:buSzPts val="1300"/>
              <a:buFont typeface="Lato"/>
              <a:buNone/>
            </a:pPr>
            <a:r>
              <a:rPr b="0" i="0" lang="en-US" sz="1300" u="none" cap="none" strike="noStrike">
                <a:solidFill>
                  <a:srgbClr val="202124"/>
                </a:solidFill>
                <a:latin typeface="Lato"/>
                <a:ea typeface="Lato"/>
                <a:cs typeface="Lato"/>
                <a:sym typeface="Lato"/>
              </a:rPr>
              <a:t>Your Phase 1 scores become training data for an automated judge. The judge applies your rubric at scale, across thousands of queries.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5"/>
          <p:cNvSpPr/>
          <p:nvPr/>
        </p:nvSpPr>
        <p:spPr>
          <a:xfrm>
            <a:off x="8147304" y="2286000"/>
            <a:ext cx="3657600" cy="39318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" name="Google Shape;69;p5"/>
          <p:cNvSpPr/>
          <p:nvPr/>
        </p:nvSpPr>
        <p:spPr>
          <a:xfrm>
            <a:off x="8147304" y="2286000"/>
            <a:ext cx="3657600" cy="73200"/>
          </a:xfrm>
          <a:prstGeom prst="rect">
            <a:avLst/>
          </a:prstGeom>
          <a:solidFill>
            <a:srgbClr val="326666"/>
          </a:solidFill>
          <a:ln cap="flat" cmpd="sng" w="12700">
            <a:solidFill>
              <a:srgbClr val="32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70" name="Google Shape;70;p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421624" y="2606040"/>
            <a:ext cx="640080" cy="640080"/>
          </a:xfrm>
          <a:prstGeom prst="rect">
            <a:avLst/>
          </a:prstGeom>
          <a:noFill/>
          <a:ln>
            <a:noFill/>
          </a:ln>
        </p:spPr>
      </p:pic>
      <p:sp>
        <p:nvSpPr>
          <p:cNvPr id="71" name="Google Shape;71;p5"/>
          <p:cNvSpPr/>
          <p:nvPr/>
        </p:nvSpPr>
        <p:spPr>
          <a:xfrm>
            <a:off x="8421650" y="3084596"/>
            <a:ext cx="3711600" cy="126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2600"/>
              <a:buFont typeface="Spectral"/>
              <a:buNone/>
            </a:pPr>
            <a:r>
              <a:rPr b="1" i="0" lang="en-US" sz="2600" u="none" cap="none" strike="noStrike">
                <a:solidFill>
                  <a:srgbClr val="0D1B2A"/>
                </a:solidFill>
                <a:latin typeface="Spectral"/>
                <a:ea typeface="Spectral"/>
                <a:cs typeface="Spectral"/>
                <a:sym typeface="Spectral"/>
              </a:rPr>
              <a:t>Phase 3 - Today</a:t>
            </a:r>
            <a:endParaRPr b="1" sz="2600">
              <a:solidFill>
                <a:srgbClr val="0D1B2A"/>
              </a:solidFill>
              <a:latin typeface="Spectral"/>
              <a:ea typeface="Spectral"/>
              <a:cs typeface="Spectral"/>
              <a:sym typeface="Spectr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2600"/>
              <a:buFont typeface="Spectral"/>
              <a:buNone/>
            </a:pPr>
            <a:r>
              <a:rPr b="1" lang="en-US" sz="2400">
                <a:solidFill>
                  <a:srgbClr val="0D1B2A"/>
                </a:solidFill>
                <a:latin typeface="Spectral"/>
                <a:ea typeface="Spectral"/>
                <a:cs typeface="Spectral"/>
                <a:sym typeface="Spectral"/>
              </a:rPr>
              <a:t>Production Monitoring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5"/>
          <p:cNvSpPr/>
          <p:nvPr/>
        </p:nvSpPr>
        <p:spPr>
          <a:xfrm>
            <a:off x="8421624" y="4023360"/>
            <a:ext cx="3108900" cy="210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2124"/>
              </a:buClr>
              <a:buSzPts val="1300"/>
              <a:buFont typeface="Lato"/>
              <a:buNone/>
            </a:pPr>
            <a:r>
              <a:t/>
            </a:r>
            <a:endParaRPr sz="1300">
              <a:solidFill>
                <a:srgbClr val="202124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2124"/>
              </a:buClr>
              <a:buSzPts val="1300"/>
              <a:buFont typeface="Lato"/>
              <a:buNone/>
            </a:pPr>
            <a:r>
              <a:rPr b="0" i="0" lang="en-US" sz="1300" u="none" cap="none" strike="noStrike">
                <a:solidFill>
                  <a:srgbClr val="202124"/>
                </a:solidFill>
                <a:latin typeface="Lato"/>
                <a:ea typeface="Lato"/>
                <a:cs typeface="Lato"/>
                <a:sym typeface="Lato"/>
              </a:rPr>
              <a:t>C</a:t>
            </a:r>
            <a:r>
              <a:rPr b="0" i="0" lang="en-US" sz="1300" u="none" cap="none" strike="noStrike">
                <a:solidFill>
                  <a:srgbClr val="202124"/>
                </a:solidFill>
                <a:latin typeface="Lato"/>
                <a:ea typeface="Lato"/>
                <a:cs typeface="Lato"/>
                <a:sym typeface="Lato"/>
              </a:rPr>
              <a:t xml:space="preserve">ontinuous </a:t>
            </a:r>
            <a:r>
              <a:rPr b="0" i="0" lang="en-US" sz="1300" u="none" cap="none" strike="noStrike">
                <a:solidFill>
                  <a:srgbClr val="202124"/>
                </a:solidFill>
                <a:latin typeface="Lato"/>
                <a:ea typeface="Lato"/>
                <a:cs typeface="Lato"/>
                <a:sym typeface="Lato"/>
              </a:rPr>
              <a:t>observability of the live system. Traces, costs, drift. This is what we build today. The next 90 minutes lives here.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3" name="Google Shape;73;p5" title="Gemini_Generated_Image_rbdzoirbdzoirbdz.png"/>
          <p:cNvPicPr preferRelativeResize="0"/>
          <p:nvPr/>
        </p:nvPicPr>
        <p:blipFill rotWithShape="1">
          <a:blip r:embed="rId8">
            <a:alphaModFix/>
          </a:blip>
          <a:srcRect b="33061" l="22742" r="28149" t="10923"/>
          <a:stretch/>
        </p:blipFill>
        <p:spPr>
          <a:xfrm>
            <a:off x="9885440" y="6291673"/>
            <a:ext cx="1727432" cy="492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6"/>
          <p:cNvSpPr/>
          <p:nvPr/>
        </p:nvSpPr>
        <p:spPr>
          <a:xfrm>
            <a:off x="9265615" y="457200"/>
            <a:ext cx="2286000" cy="36576"/>
          </a:xfrm>
          <a:prstGeom prst="rect">
            <a:avLst/>
          </a:prstGeom>
          <a:solidFill>
            <a:srgbClr val="326666"/>
          </a:solidFill>
          <a:ln cap="flat" cmpd="sng" w="12700">
            <a:solidFill>
              <a:srgbClr val="32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" name="Google Shape;80;p6"/>
          <p:cNvSpPr/>
          <p:nvPr/>
        </p:nvSpPr>
        <p:spPr>
          <a:xfrm>
            <a:off x="9265615" y="548640"/>
            <a:ext cx="2286000" cy="18288"/>
          </a:xfrm>
          <a:prstGeom prst="rect">
            <a:avLst/>
          </a:prstGeom>
          <a:solidFill>
            <a:srgbClr val="326666"/>
          </a:solidFill>
          <a:ln cap="flat" cmpd="sng" w="12700">
            <a:solidFill>
              <a:srgbClr val="32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" name="Google Shape;81;p6"/>
          <p:cNvSpPr/>
          <p:nvPr/>
        </p:nvSpPr>
        <p:spPr>
          <a:xfrm>
            <a:off x="502920" y="384048"/>
            <a:ext cx="914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300"/>
              <a:buFont typeface="Lato"/>
              <a:buNone/>
            </a:pPr>
            <a:r>
              <a:rPr b="1" i="0" lang="en-US" sz="1300" u="none" cap="none" strike="noStrike">
                <a:solidFill>
                  <a:srgbClr val="0D1B2A"/>
                </a:solidFill>
                <a:latin typeface="Lato"/>
                <a:ea typeface="Lato"/>
                <a:cs typeface="Lato"/>
                <a:sym typeface="Lato"/>
              </a:rPr>
              <a:t>01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6">
            <a:hlinkClick r:id="rId3"/>
          </p:cNvPr>
          <p:cNvSpPr/>
          <p:nvPr/>
        </p:nvSpPr>
        <p:spPr>
          <a:xfrm>
            <a:off x="502920" y="6446520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Lato"/>
              <a:buNone/>
            </a:pPr>
            <a:r>
              <a:rPr b="0" i="0" lang="en-US" sz="1000" u="sng" cap="none" strike="noStrike">
                <a:solidFill>
                  <a:schemeClr val="hlink"/>
                </a:solidFill>
                <a:latin typeface="Lato"/>
                <a:ea typeface="Lato"/>
                <a:cs typeface="Lato"/>
                <a:sym typeface="Lato"/>
                <a:hlinkClick r:id="rId4"/>
              </a:rPr>
              <a:t>www.arsinnovate.com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6"/>
          <p:cNvSpPr/>
          <p:nvPr/>
        </p:nvSpPr>
        <p:spPr>
          <a:xfrm>
            <a:off x="11551615" y="6400800"/>
            <a:ext cx="365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100"/>
              <a:buFont typeface="Lato"/>
              <a:buNone/>
            </a:pPr>
            <a:r>
              <a:rPr b="0" i="0" lang="en-US" sz="1100" u="none" cap="none" strike="noStrike">
                <a:solidFill>
                  <a:srgbClr val="595959"/>
                </a:solidFill>
                <a:latin typeface="Lato"/>
                <a:ea typeface="Lato"/>
                <a:cs typeface="Lato"/>
                <a:sym typeface="Lato"/>
              </a:rPr>
              <a:t>3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6"/>
          <p:cNvSpPr/>
          <p:nvPr/>
        </p:nvSpPr>
        <p:spPr>
          <a:xfrm>
            <a:off x="502920" y="960120"/>
            <a:ext cx="11185855" cy="109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4000"/>
              <a:buFont typeface="Spectral"/>
              <a:buNone/>
            </a:pPr>
            <a:r>
              <a:rPr b="1" i="0" lang="en-US" sz="4000" u="none" cap="none" strike="noStrike">
                <a:solidFill>
                  <a:srgbClr val="0D1B2A"/>
                </a:solidFill>
                <a:latin typeface="Spectral"/>
                <a:ea typeface="Spectral"/>
                <a:cs typeface="Spectral"/>
                <a:sym typeface="Spectral"/>
              </a:rPr>
              <a:t>LLMs fail differently than traditional software.</a:t>
            </a:r>
            <a:endParaRPr b="0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6"/>
          <p:cNvSpPr/>
          <p:nvPr/>
        </p:nvSpPr>
        <p:spPr>
          <a:xfrm>
            <a:off x="502920" y="2286000"/>
            <a:ext cx="5257800" cy="3931920"/>
          </a:xfrm>
          <a:prstGeom prst="rect">
            <a:avLst/>
          </a:prstGeom>
          <a:solidFill>
            <a:srgbClr val="F4F2EE"/>
          </a:solidFill>
          <a:ln cap="flat" cmpd="sng" w="12700">
            <a:solidFill>
              <a:srgbClr val="F4F2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6"/>
          <p:cNvSpPr/>
          <p:nvPr/>
        </p:nvSpPr>
        <p:spPr>
          <a:xfrm>
            <a:off x="822960" y="2468880"/>
            <a:ext cx="46177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2000"/>
              <a:buFont typeface="Spectral"/>
              <a:buNone/>
            </a:pPr>
            <a:r>
              <a:rPr b="1" i="0" lang="en-US" sz="2000" u="none" cap="none" strike="noStrike">
                <a:solidFill>
                  <a:srgbClr val="0D1B2A"/>
                </a:solidFill>
                <a:latin typeface="Spectral"/>
                <a:ea typeface="Spectral"/>
                <a:cs typeface="Spectral"/>
                <a:sym typeface="Spectral"/>
              </a:rPr>
              <a:t>Traditional Service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6"/>
          <p:cNvSpPr/>
          <p:nvPr/>
        </p:nvSpPr>
        <p:spPr>
          <a:xfrm>
            <a:off x="822960" y="3017520"/>
            <a:ext cx="4617720" cy="3017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202124"/>
              </a:buClr>
              <a:buSzPts val="1400"/>
              <a:buFont typeface="Lato"/>
              <a:buChar char="•"/>
            </a:pPr>
            <a:r>
              <a:rPr b="0" i="0" lang="en-US" sz="1400" u="none" cap="none" strike="noStrike">
                <a:solidFill>
                  <a:srgbClr val="202124"/>
                </a:solidFill>
                <a:latin typeface="Lato"/>
                <a:ea typeface="Lato"/>
                <a:cs typeface="Lato"/>
                <a:sym typeface="Lato"/>
              </a:rPr>
              <a:t>Breaks with a stack trace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rgbClr val="202124"/>
              </a:buClr>
              <a:buSzPts val="1400"/>
              <a:buFont typeface="Lato"/>
              <a:buChar char="•"/>
            </a:pPr>
            <a:r>
              <a:rPr b="0" i="0" lang="en-US" sz="1400" u="none" cap="none" strike="noStrike">
                <a:solidFill>
                  <a:srgbClr val="202124"/>
                </a:solidFill>
                <a:latin typeface="Lato"/>
                <a:ea typeface="Lato"/>
                <a:cs typeface="Lato"/>
                <a:sym typeface="Lato"/>
              </a:rPr>
              <a:t>APM sees the failure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rgbClr val="202124"/>
              </a:buClr>
              <a:buSzPts val="1400"/>
              <a:buFont typeface="Lato"/>
              <a:buChar char="•"/>
            </a:pPr>
            <a:r>
              <a:rPr b="0" i="0" lang="en-US" sz="1400" u="none" cap="none" strike="noStrike">
                <a:solidFill>
                  <a:srgbClr val="202124"/>
                </a:solidFill>
                <a:latin typeface="Lato"/>
                <a:ea typeface="Lato"/>
                <a:cs typeface="Lato"/>
                <a:sym typeface="Lato"/>
              </a:rPr>
              <a:t>Deterministic: same input, same output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rgbClr val="202124"/>
              </a:buClr>
              <a:buSzPts val="1400"/>
              <a:buFont typeface="Lato"/>
              <a:buChar char="•"/>
            </a:pPr>
            <a:r>
              <a:rPr b="0" i="0" lang="en-US" sz="1400" u="none" cap="none" strike="noStrike">
                <a:solidFill>
                  <a:srgbClr val="202124"/>
                </a:solidFill>
                <a:latin typeface="Lato"/>
                <a:ea typeface="Lato"/>
                <a:cs typeface="Lato"/>
                <a:sym typeface="Lato"/>
              </a:rPr>
              <a:t>HTTP 500 means something is wrong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6"/>
          <p:cNvSpPr/>
          <p:nvPr/>
        </p:nvSpPr>
        <p:spPr>
          <a:xfrm>
            <a:off x="6355080" y="2286000"/>
            <a:ext cx="5257800" cy="3931920"/>
          </a:xfrm>
          <a:prstGeom prst="rect">
            <a:avLst/>
          </a:prstGeom>
          <a:solidFill>
            <a:srgbClr val="326666"/>
          </a:solidFill>
          <a:ln cap="flat" cmpd="sng" w="12700">
            <a:solidFill>
              <a:srgbClr val="32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6"/>
          <p:cNvSpPr/>
          <p:nvPr/>
        </p:nvSpPr>
        <p:spPr>
          <a:xfrm>
            <a:off x="6355080" y="2286000"/>
            <a:ext cx="73152" cy="3931920"/>
          </a:xfrm>
          <a:prstGeom prst="rect">
            <a:avLst/>
          </a:prstGeom>
          <a:solidFill>
            <a:srgbClr val="92BC81"/>
          </a:solidFill>
          <a:ln cap="flat" cmpd="sng" w="12700">
            <a:solidFill>
              <a:srgbClr val="92BC8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6"/>
          <p:cNvSpPr/>
          <p:nvPr/>
        </p:nvSpPr>
        <p:spPr>
          <a:xfrm>
            <a:off x="6675120" y="2468880"/>
            <a:ext cx="46177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Spectral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Spectral"/>
                <a:ea typeface="Spectral"/>
                <a:cs typeface="Spectral"/>
                <a:sym typeface="Spectral"/>
              </a:rPr>
              <a:t>LLM-Powered Service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6"/>
          <p:cNvSpPr/>
          <p:nvPr/>
        </p:nvSpPr>
        <p:spPr>
          <a:xfrm>
            <a:off x="6675120" y="3017520"/>
            <a:ext cx="4617720" cy="3017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Lato"/>
              <a:buChar char="•"/>
            </a:pPr>
            <a:r>
              <a:rPr b="0" i="0" lang="en-US" sz="1400" u="none" cap="none" strike="noStrike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Fails with plausible wrong answers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Lato"/>
              <a:buChar char="•"/>
            </a:pPr>
            <a:r>
              <a:rPr b="0" i="0" lang="en-US" sz="1400" u="none" cap="none" strike="noStrike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APM sees a 200 OK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Lato"/>
              <a:buChar char="•"/>
            </a:pPr>
            <a:r>
              <a:rPr b="0" i="0" lang="en-US" sz="1400" u="none" cap="none" strike="noStrike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Stochastic: same input, different output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Lato"/>
              <a:buChar char="•"/>
            </a:pPr>
            <a:r>
              <a:rPr b="0" i="0" lang="en-US" sz="1400" u="none" cap="none" strike="noStrike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HTTP 200 means nothing about quality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2" name="Google Shape;92;p6" title="Gemini_Generated_Image_rbdzoirbdzoirbdz.png"/>
          <p:cNvPicPr preferRelativeResize="0"/>
          <p:nvPr/>
        </p:nvPicPr>
        <p:blipFill rotWithShape="1">
          <a:blip r:embed="rId5">
            <a:alphaModFix/>
          </a:blip>
          <a:srcRect b="33061" l="22742" r="28149" t="10923"/>
          <a:stretch/>
        </p:blipFill>
        <p:spPr>
          <a:xfrm>
            <a:off x="9885440" y="6291673"/>
            <a:ext cx="1727432" cy="492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7"/>
          <p:cNvSpPr/>
          <p:nvPr/>
        </p:nvSpPr>
        <p:spPr>
          <a:xfrm>
            <a:off x="9265615" y="457200"/>
            <a:ext cx="2286000" cy="36576"/>
          </a:xfrm>
          <a:prstGeom prst="rect">
            <a:avLst/>
          </a:prstGeom>
          <a:solidFill>
            <a:srgbClr val="326666"/>
          </a:solidFill>
          <a:ln cap="flat" cmpd="sng" w="12700">
            <a:solidFill>
              <a:srgbClr val="32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7"/>
          <p:cNvSpPr/>
          <p:nvPr/>
        </p:nvSpPr>
        <p:spPr>
          <a:xfrm>
            <a:off x="9265615" y="548640"/>
            <a:ext cx="2286000" cy="18288"/>
          </a:xfrm>
          <a:prstGeom prst="rect">
            <a:avLst/>
          </a:prstGeom>
          <a:solidFill>
            <a:srgbClr val="326666"/>
          </a:solidFill>
          <a:ln cap="flat" cmpd="sng" w="12700">
            <a:solidFill>
              <a:srgbClr val="32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7"/>
          <p:cNvSpPr/>
          <p:nvPr/>
        </p:nvSpPr>
        <p:spPr>
          <a:xfrm>
            <a:off x="502920" y="384048"/>
            <a:ext cx="914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300"/>
              <a:buFont typeface="Lato"/>
              <a:buNone/>
            </a:pPr>
            <a:r>
              <a:rPr b="1" i="0" lang="en-US" sz="1300" u="none" cap="none" strike="noStrike">
                <a:solidFill>
                  <a:srgbClr val="0D1B2A"/>
                </a:solidFill>
                <a:latin typeface="Lato"/>
                <a:ea typeface="Lato"/>
                <a:cs typeface="Lato"/>
                <a:sym typeface="Lato"/>
              </a:rPr>
              <a:t>01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7">
            <a:hlinkClick r:id="rId3"/>
          </p:cNvPr>
          <p:cNvSpPr/>
          <p:nvPr/>
        </p:nvSpPr>
        <p:spPr>
          <a:xfrm>
            <a:off x="502920" y="6446520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Lato"/>
              <a:buNone/>
            </a:pPr>
            <a:r>
              <a:rPr b="0" i="0" lang="en-US" sz="1000" u="sng" cap="none" strike="noStrike">
                <a:solidFill>
                  <a:schemeClr val="hlink"/>
                </a:solidFill>
                <a:latin typeface="Lato"/>
                <a:ea typeface="Lato"/>
                <a:cs typeface="Lato"/>
                <a:sym typeface="Lato"/>
                <a:hlinkClick r:id="rId4"/>
              </a:rPr>
              <a:t>www.arsinnovate.com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7"/>
          <p:cNvSpPr/>
          <p:nvPr/>
        </p:nvSpPr>
        <p:spPr>
          <a:xfrm>
            <a:off x="11551615" y="6400800"/>
            <a:ext cx="365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100"/>
              <a:buFont typeface="Lato"/>
              <a:buNone/>
            </a:pPr>
            <a:r>
              <a:rPr b="0" i="0" lang="en-US" sz="1100" u="none" cap="none" strike="noStrike">
                <a:solidFill>
                  <a:srgbClr val="595959"/>
                </a:solidFill>
                <a:latin typeface="Lato"/>
                <a:ea typeface="Lato"/>
                <a:cs typeface="Lato"/>
                <a:sym typeface="Lato"/>
              </a:rPr>
              <a:t>4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7"/>
          <p:cNvSpPr/>
          <p:nvPr/>
        </p:nvSpPr>
        <p:spPr>
          <a:xfrm>
            <a:off x="502920" y="960120"/>
            <a:ext cx="11185855" cy="109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4000"/>
              <a:buFont typeface="Spectral"/>
              <a:buNone/>
            </a:pPr>
            <a:r>
              <a:rPr b="1" i="0" lang="en-US" sz="4000" u="none" cap="none" strike="noStrike">
                <a:solidFill>
                  <a:srgbClr val="0D1B2A"/>
                </a:solidFill>
                <a:latin typeface="Spectral"/>
                <a:ea typeface="Spectral"/>
                <a:cs typeface="Spectral"/>
                <a:sym typeface="Spectral"/>
              </a:rPr>
              <a:t>Three signals unique to LLM systems.</a:t>
            </a:r>
            <a:endParaRPr b="0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7"/>
          <p:cNvSpPr/>
          <p:nvPr/>
        </p:nvSpPr>
        <p:spPr>
          <a:xfrm>
            <a:off x="502920" y="2286000"/>
            <a:ext cx="3657600" cy="393192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7"/>
          <p:cNvSpPr/>
          <p:nvPr/>
        </p:nvSpPr>
        <p:spPr>
          <a:xfrm>
            <a:off x="502920" y="2286000"/>
            <a:ext cx="3657600" cy="73152"/>
          </a:xfrm>
          <a:prstGeom prst="rect">
            <a:avLst/>
          </a:prstGeom>
          <a:solidFill>
            <a:srgbClr val="326666"/>
          </a:solidFill>
          <a:ln cap="flat" cmpd="sng" w="12700">
            <a:solidFill>
              <a:srgbClr val="32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06" name="Google Shape;106;p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77240" y="2606040"/>
            <a:ext cx="640080" cy="640080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7"/>
          <p:cNvSpPr/>
          <p:nvPr/>
        </p:nvSpPr>
        <p:spPr>
          <a:xfrm>
            <a:off x="777240" y="3383280"/>
            <a:ext cx="31089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2600"/>
              <a:buFont typeface="Spectral"/>
              <a:buNone/>
            </a:pPr>
            <a:r>
              <a:rPr b="1" i="0" lang="en-US" sz="2600" u="none" cap="none" strike="noStrike">
                <a:solidFill>
                  <a:srgbClr val="0D1B2A"/>
                </a:solidFill>
                <a:latin typeface="Spectral"/>
                <a:ea typeface="Spectral"/>
                <a:cs typeface="Spectral"/>
                <a:sym typeface="Spectral"/>
              </a:rPr>
              <a:t>Cost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7"/>
          <p:cNvSpPr/>
          <p:nvPr/>
        </p:nvSpPr>
        <p:spPr>
          <a:xfrm>
            <a:off x="777240" y="4023360"/>
            <a:ext cx="3108960" cy="21031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02124"/>
              </a:buClr>
              <a:buSzPts val="1300"/>
              <a:buFont typeface="Lato"/>
              <a:buNone/>
            </a:pPr>
            <a:r>
              <a:rPr b="0" i="0" lang="en-US" sz="1300" u="none" cap="none" strike="noStrike">
                <a:solidFill>
                  <a:srgbClr val="202124"/>
                </a:solidFill>
                <a:latin typeface="Lato"/>
                <a:ea typeface="Lato"/>
                <a:cs typeface="Lato"/>
                <a:sym typeface="Lato"/>
              </a:rPr>
              <a:t>Every call has variable cost. Token counts per endpoint, per user cohort, per feature flag are the only honest cost model.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7"/>
          <p:cNvSpPr/>
          <p:nvPr/>
        </p:nvSpPr>
        <p:spPr>
          <a:xfrm>
            <a:off x="4325112" y="2286000"/>
            <a:ext cx="3657600" cy="393192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7"/>
          <p:cNvSpPr/>
          <p:nvPr/>
        </p:nvSpPr>
        <p:spPr>
          <a:xfrm>
            <a:off x="4325112" y="2286000"/>
            <a:ext cx="3657600" cy="73152"/>
          </a:xfrm>
          <a:prstGeom prst="rect">
            <a:avLst/>
          </a:prstGeom>
          <a:solidFill>
            <a:srgbClr val="326666"/>
          </a:solidFill>
          <a:ln cap="flat" cmpd="sng" w="12700">
            <a:solidFill>
              <a:srgbClr val="32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11" name="Google Shape;111;p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599432" y="2606040"/>
            <a:ext cx="640080" cy="640080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7"/>
          <p:cNvSpPr/>
          <p:nvPr/>
        </p:nvSpPr>
        <p:spPr>
          <a:xfrm>
            <a:off x="4599432" y="3383280"/>
            <a:ext cx="31089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2600"/>
              <a:buFont typeface="Spectral"/>
              <a:buNone/>
            </a:pPr>
            <a:r>
              <a:rPr b="1" i="0" lang="en-US" sz="2600" u="none" cap="none" strike="noStrike">
                <a:solidFill>
                  <a:srgbClr val="0D1B2A"/>
                </a:solidFill>
                <a:latin typeface="Spectral"/>
                <a:ea typeface="Spectral"/>
                <a:cs typeface="Spectral"/>
                <a:sym typeface="Spectral"/>
              </a:rPr>
              <a:t>Quality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7"/>
          <p:cNvSpPr/>
          <p:nvPr/>
        </p:nvSpPr>
        <p:spPr>
          <a:xfrm>
            <a:off x="4599432" y="4023360"/>
            <a:ext cx="3108960" cy="21031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02124"/>
              </a:buClr>
              <a:buSzPts val="1300"/>
              <a:buFont typeface="Lato"/>
              <a:buNone/>
            </a:pPr>
            <a:r>
              <a:rPr b="0" i="0" lang="en-US" sz="1300" u="none" cap="none" strike="noStrike">
                <a:solidFill>
                  <a:srgbClr val="202124"/>
                </a:solidFill>
                <a:latin typeface="Lato"/>
                <a:ea typeface="Lato"/>
                <a:cs typeface="Lato"/>
                <a:sym typeface="Lato"/>
              </a:rPr>
              <a:t>Prompt + completion content is the only way to know WHY the model answered the way it did. Without it, debugging is guessing.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7"/>
          <p:cNvSpPr/>
          <p:nvPr/>
        </p:nvSpPr>
        <p:spPr>
          <a:xfrm>
            <a:off x="8147304" y="2286000"/>
            <a:ext cx="3657600" cy="393192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7"/>
          <p:cNvSpPr/>
          <p:nvPr/>
        </p:nvSpPr>
        <p:spPr>
          <a:xfrm>
            <a:off x="8147304" y="2286000"/>
            <a:ext cx="3657600" cy="73152"/>
          </a:xfrm>
          <a:prstGeom prst="rect">
            <a:avLst/>
          </a:prstGeom>
          <a:solidFill>
            <a:srgbClr val="326666"/>
          </a:solidFill>
          <a:ln cap="flat" cmpd="sng" w="12700">
            <a:solidFill>
              <a:srgbClr val="32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16" name="Google Shape;116;p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421624" y="2606040"/>
            <a:ext cx="640080" cy="640080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7"/>
          <p:cNvSpPr/>
          <p:nvPr/>
        </p:nvSpPr>
        <p:spPr>
          <a:xfrm>
            <a:off x="8421624" y="3383280"/>
            <a:ext cx="31089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2600"/>
              <a:buFont typeface="Spectral"/>
              <a:buNone/>
            </a:pPr>
            <a:r>
              <a:rPr b="1" i="0" lang="en-US" sz="2600" u="none" cap="none" strike="noStrike">
                <a:solidFill>
                  <a:srgbClr val="0D1B2A"/>
                </a:solidFill>
                <a:latin typeface="Spectral"/>
                <a:ea typeface="Spectral"/>
                <a:cs typeface="Spectral"/>
                <a:sym typeface="Spectral"/>
              </a:rPr>
              <a:t>Grounding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7"/>
          <p:cNvSpPr/>
          <p:nvPr/>
        </p:nvSpPr>
        <p:spPr>
          <a:xfrm>
            <a:off x="8421624" y="4023360"/>
            <a:ext cx="3108960" cy="21031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02124"/>
              </a:buClr>
              <a:buSzPts val="1300"/>
              <a:buFont typeface="Lato"/>
              <a:buNone/>
            </a:pPr>
            <a:r>
              <a:rPr b="0" i="0" lang="en-US" sz="1300" u="none" cap="none" strike="noStrike">
                <a:solidFill>
                  <a:srgbClr val="202124"/>
                </a:solidFill>
                <a:latin typeface="Lato"/>
                <a:ea typeface="Lato"/>
                <a:cs typeface="Lato"/>
                <a:sym typeface="Lato"/>
              </a:rPr>
              <a:t xml:space="preserve">For RAG: the retrieved chunks ARE the ground truth. </a:t>
            </a:r>
            <a:endParaRPr b="0" i="0" sz="1300" u="none" cap="none" strike="noStrike">
              <a:solidFill>
                <a:srgbClr val="202124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02124"/>
              </a:buClr>
              <a:buSzPts val="1300"/>
              <a:buFont typeface="Lato"/>
              <a:buNone/>
            </a:pPr>
            <a:r>
              <a:rPr b="0" i="0" lang="en-US" sz="1300" u="none" cap="none" strike="noStrike">
                <a:solidFill>
                  <a:srgbClr val="202124"/>
                </a:solidFill>
                <a:latin typeface="Lato"/>
                <a:ea typeface="Lato"/>
                <a:cs typeface="Lato"/>
                <a:sym typeface="Lato"/>
              </a:rPr>
              <a:t>Wrong chunks in = "hallucinations" out. You must log retrieval.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9" name="Google Shape;119;p7" title="Gemini_Generated_Image_rbdzoirbdzoirbdz.png"/>
          <p:cNvPicPr preferRelativeResize="0"/>
          <p:nvPr/>
        </p:nvPicPr>
        <p:blipFill rotWithShape="1">
          <a:blip r:embed="rId8">
            <a:alphaModFix/>
          </a:blip>
          <a:srcRect b="33061" l="22742" r="28149" t="10923"/>
          <a:stretch/>
        </p:blipFill>
        <p:spPr>
          <a:xfrm>
            <a:off x="9885440" y="6291673"/>
            <a:ext cx="1727432" cy="492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8"/>
          <p:cNvSpPr/>
          <p:nvPr/>
        </p:nvSpPr>
        <p:spPr>
          <a:xfrm>
            <a:off x="9265615" y="457200"/>
            <a:ext cx="2286000" cy="36600"/>
          </a:xfrm>
          <a:prstGeom prst="rect">
            <a:avLst/>
          </a:prstGeom>
          <a:solidFill>
            <a:srgbClr val="326666"/>
          </a:solidFill>
          <a:ln cap="flat" cmpd="sng" w="12700">
            <a:solidFill>
              <a:srgbClr val="32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" name="Google Shape;126;p8"/>
          <p:cNvSpPr/>
          <p:nvPr/>
        </p:nvSpPr>
        <p:spPr>
          <a:xfrm>
            <a:off x="9265615" y="548640"/>
            <a:ext cx="2286000" cy="18300"/>
          </a:xfrm>
          <a:prstGeom prst="rect">
            <a:avLst/>
          </a:prstGeom>
          <a:solidFill>
            <a:srgbClr val="326666"/>
          </a:solidFill>
          <a:ln cap="flat" cmpd="sng" w="12700">
            <a:solidFill>
              <a:srgbClr val="32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7" name="Google Shape;127;p8"/>
          <p:cNvSpPr/>
          <p:nvPr/>
        </p:nvSpPr>
        <p:spPr>
          <a:xfrm>
            <a:off x="502920" y="384048"/>
            <a:ext cx="9144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300"/>
              <a:buFont typeface="Lato"/>
              <a:buNone/>
            </a:pPr>
            <a:r>
              <a:rPr b="1" i="0" lang="en-US" sz="1300" u="none" cap="none" strike="noStrike">
                <a:solidFill>
                  <a:srgbClr val="0D1B2A"/>
                </a:solidFill>
                <a:latin typeface="Lato"/>
                <a:ea typeface="Lato"/>
                <a:cs typeface="Lato"/>
                <a:sym typeface="Lato"/>
              </a:rPr>
              <a:t>01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8">
            <a:hlinkClick r:id="rId3"/>
          </p:cNvPr>
          <p:cNvSpPr/>
          <p:nvPr/>
        </p:nvSpPr>
        <p:spPr>
          <a:xfrm>
            <a:off x="502920" y="6446520"/>
            <a:ext cx="2743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Lato"/>
              <a:buNone/>
            </a:pPr>
            <a:r>
              <a:rPr b="0" i="0" lang="en-US" sz="1000" u="sng" cap="none" strike="noStrike">
                <a:solidFill>
                  <a:schemeClr val="hlink"/>
                </a:solidFill>
                <a:latin typeface="Lato"/>
                <a:ea typeface="Lato"/>
                <a:cs typeface="Lato"/>
                <a:sym typeface="Lato"/>
                <a:hlinkClick r:id="rId4"/>
              </a:rPr>
              <a:t>www.arsinnovate.com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8"/>
          <p:cNvSpPr/>
          <p:nvPr/>
        </p:nvSpPr>
        <p:spPr>
          <a:xfrm>
            <a:off x="11551615" y="6400800"/>
            <a:ext cx="3657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100"/>
              <a:buFont typeface="Lato"/>
              <a:buNone/>
            </a:pPr>
            <a:r>
              <a:rPr b="0" i="0" lang="en-US" sz="1100" u="none" cap="none" strike="noStrike">
                <a:solidFill>
                  <a:srgbClr val="595959"/>
                </a:solidFill>
                <a:latin typeface="Lato"/>
                <a:ea typeface="Lato"/>
                <a:cs typeface="Lato"/>
                <a:sym typeface="Lato"/>
              </a:rPr>
              <a:t>5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8"/>
          <p:cNvSpPr/>
          <p:nvPr/>
        </p:nvSpPr>
        <p:spPr>
          <a:xfrm>
            <a:off x="502920" y="960120"/>
            <a:ext cx="11185800" cy="109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4000"/>
              <a:buFont typeface="Spectral"/>
              <a:buNone/>
            </a:pPr>
            <a:r>
              <a:rPr b="1" i="0" lang="en-US" sz="4000" u="none" cap="none" strike="noStrike">
                <a:solidFill>
                  <a:srgbClr val="0D1B2A"/>
                </a:solidFill>
                <a:latin typeface="Spectral"/>
                <a:ea typeface="Spectral"/>
                <a:cs typeface="Spectral"/>
                <a:sym typeface="Spectral"/>
              </a:rPr>
              <a:t>A RAG system. Fully observable. On your laptop.</a:t>
            </a:r>
            <a:endParaRPr b="0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8"/>
          <p:cNvSpPr/>
          <p:nvPr/>
        </p:nvSpPr>
        <p:spPr>
          <a:xfrm>
            <a:off x="838048" y="3017520"/>
            <a:ext cx="1920300" cy="11886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32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" name="Google Shape;132;p8"/>
          <p:cNvSpPr/>
          <p:nvPr/>
        </p:nvSpPr>
        <p:spPr>
          <a:xfrm>
            <a:off x="838048" y="3017520"/>
            <a:ext cx="1920300" cy="320100"/>
          </a:xfrm>
          <a:prstGeom prst="rect">
            <a:avLst/>
          </a:prstGeom>
          <a:solidFill>
            <a:srgbClr val="326666"/>
          </a:solidFill>
          <a:ln cap="flat" cmpd="sng" w="12700">
            <a:solidFill>
              <a:srgbClr val="32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3" name="Google Shape;133;p8"/>
          <p:cNvSpPr/>
          <p:nvPr/>
        </p:nvSpPr>
        <p:spPr>
          <a:xfrm>
            <a:off x="838048" y="3017520"/>
            <a:ext cx="19203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Lato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Load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8"/>
          <p:cNvSpPr/>
          <p:nvPr/>
        </p:nvSpPr>
        <p:spPr>
          <a:xfrm>
            <a:off x="838048" y="3474720"/>
            <a:ext cx="19203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300"/>
              <a:buFont typeface="Courier New"/>
              <a:buNone/>
            </a:pPr>
            <a:r>
              <a:rPr i="0" lang="en-US" sz="1300" u="none" cap="none" strike="noStrike">
                <a:solidFill>
                  <a:srgbClr val="0D1B2A"/>
                </a:solidFill>
                <a:latin typeface="Lato"/>
                <a:ea typeface="Lato"/>
                <a:cs typeface="Lato"/>
                <a:sym typeface="Lato"/>
              </a:rPr>
              <a:t>3 docs</a:t>
            </a:r>
            <a:endParaRPr i="0" sz="1300" u="none" cap="none" strike="noStrik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descr="preencoded.png" id="135" name="Google Shape;135;p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776576" y="3520440"/>
            <a:ext cx="182880" cy="182880"/>
          </a:xfrm>
          <a:prstGeom prst="rect">
            <a:avLst/>
          </a:prstGeom>
          <a:noFill/>
          <a:ln>
            <a:noFill/>
          </a:ln>
        </p:spPr>
      </p:pic>
      <p:sp>
        <p:nvSpPr>
          <p:cNvPr id="136" name="Google Shape;136;p8"/>
          <p:cNvSpPr/>
          <p:nvPr/>
        </p:nvSpPr>
        <p:spPr>
          <a:xfrm>
            <a:off x="2986888" y="3017520"/>
            <a:ext cx="1920300" cy="11886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32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7" name="Google Shape;137;p8"/>
          <p:cNvSpPr/>
          <p:nvPr/>
        </p:nvSpPr>
        <p:spPr>
          <a:xfrm>
            <a:off x="2986888" y="3017520"/>
            <a:ext cx="1920300" cy="320100"/>
          </a:xfrm>
          <a:prstGeom prst="rect">
            <a:avLst/>
          </a:prstGeom>
          <a:solidFill>
            <a:srgbClr val="326666"/>
          </a:solidFill>
          <a:ln cap="flat" cmpd="sng" w="12700">
            <a:solidFill>
              <a:srgbClr val="32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" name="Google Shape;138;p8"/>
          <p:cNvSpPr/>
          <p:nvPr/>
        </p:nvSpPr>
        <p:spPr>
          <a:xfrm>
            <a:off x="2986888" y="3017520"/>
            <a:ext cx="19203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Lato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Chunk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8"/>
          <p:cNvSpPr/>
          <p:nvPr/>
        </p:nvSpPr>
        <p:spPr>
          <a:xfrm>
            <a:off x="2986888" y="3474720"/>
            <a:ext cx="19203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300"/>
              <a:buFont typeface="Courier New"/>
              <a:buNone/>
            </a:pPr>
            <a:r>
              <a:rPr i="0" lang="en-US" sz="1300" u="none" cap="none" strike="noStrike">
                <a:solidFill>
                  <a:srgbClr val="0D1B2A"/>
                </a:solidFill>
                <a:latin typeface="Lato"/>
                <a:ea typeface="Lato"/>
                <a:cs typeface="Lato"/>
                <a:sym typeface="Lato"/>
              </a:rPr>
              <a:t>~20 pieces</a:t>
            </a:r>
            <a:endParaRPr i="0" sz="1300" u="none" cap="none" strike="noStrik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descr="preencoded.png" id="140" name="Google Shape;140;p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925416" y="3520440"/>
            <a:ext cx="182880" cy="182880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8"/>
          <p:cNvSpPr/>
          <p:nvPr/>
        </p:nvSpPr>
        <p:spPr>
          <a:xfrm>
            <a:off x="5135728" y="3017520"/>
            <a:ext cx="1920300" cy="11886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32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" name="Google Shape;142;p8"/>
          <p:cNvSpPr/>
          <p:nvPr/>
        </p:nvSpPr>
        <p:spPr>
          <a:xfrm>
            <a:off x="5135728" y="3017520"/>
            <a:ext cx="1920300" cy="320100"/>
          </a:xfrm>
          <a:prstGeom prst="rect">
            <a:avLst/>
          </a:prstGeom>
          <a:solidFill>
            <a:srgbClr val="326666"/>
          </a:solidFill>
          <a:ln cap="flat" cmpd="sng" w="12700">
            <a:solidFill>
              <a:srgbClr val="32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3" name="Google Shape;143;p8"/>
          <p:cNvSpPr/>
          <p:nvPr/>
        </p:nvSpPr>
        <p:spPr>
          <a:xfrm>
            <a:off x="5135728" y="3017520"/>
            <a:ext cx="19203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Lato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Embed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8"/>
          <p:cNvSpPr/>
          <p:nvPr/>
        </p:nvSpPr>
        <p:spPr>
          <a:xfrm>
            <a:off x="5135728" y="3474720"/>
            <a:ext cx="19203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300"/>
              <a:buFont typeface="Courier New"/>
              <a:buNone/>
            </a:pPr>
            <a:r>
              <a:rPr i="0" lang="en-US" sz="1300" u="none" cap="none" strike="noStrike">
                <a:solidFill>
                  <a:srgbClr val="0D1B2A"/>
                </a:solidFill>
                <a:latin typeface="Lato"/>
                <a:ea typeface="Lato"/>
                <a:cs typeface="Lato"/>
                <a:sym typeface="Lato"/>
              </a:rPr>
              <a:t>all-minilm</a:t>
            </a:r>
            <a:endParaRPr i="0" sz="1300" u="none" cap="none" strike="noStrik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descr="preencoded.png" id="145" name="Google Shape;145;p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074256" y="3520440"/>
            <a:ext cx="182880" cy="182880"/>
          </a:xfrm>
          <a:prstGeom prst="rect">
            <a:avLst/>
          </a:prstGeom>
          <a:noFill/>
          <a:ln>
            <a:noFill/>
          </a:ln>
        </p:spPr>
      </p:pic>
      <p:sp>
        <p:nvSpPr>
          <p:cNvPr id="146" name="Google Shape;146;p8"/>
          <p:cNvSpPr/>
          <p:nvPr/>
        </p:nvSpPr>
        <p:spPr>
          <a:xfrm>
            <a:off x="7284568" y="3017520"/>
            <a:ext cx="1920300" cy="11886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32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7" name="Google Shape;147;p8"/>
          <p:cNvSpPr/>
          <p:nvPr/>
        </p:nvSpPr>
        <p:spPr>
          <a:xfrm>
            <a:off x="7284568" y="3017520"/>
            <a:ext cx="1920300" cy="320100"/>
          </a:xfrm>
          <a:prstGeom prst="rect">
            <a:avLst/>
          </a:prstGeom>
          <a:solidFill>
            <a:srgbClr val="326666"/>
          </a:solidFill>
          <a:ln cap="flat" cmpd="sng" w="12700">
            <a:solidFill>
              <a:srgbClr val="32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8" name="Google Shape;148;p8"/>
          <p:cNvSpPr/>
          <p:nvPr/>
        </p:nvSpPr>
        <p:spPr>
          <a:xfrm>
            <a:off x="7284568" y="3017520"/>
            <a:ext cx="19203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Lato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Retrieve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8"/>
          <p:cNvSpPr/>
          <p:nvPr/>
        </p:nvSpPr>
        <p:spPr>
          <a:xfrm>
            <a:off x="7284568" y="3474720"/>
            <a:ext cx="19203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300"/>
              <a:buFont typeface="Courier New"/>
              <a:buNone/>
            </a:pPr>
            <a:r>
              <a:rPr i="0" lang="en-US" sz="1300" u="none" cap="none" strike="noStrike">
                <a:solidFill>
                  <a:srgbClr val="0D1B2A"/>
                </a:solidFill>
                <a:latin typeface="Lato"/>
                <a:ea typeface="Lato"/>
                <a:cs typeface="Lato"/>
                <a:sym typeface="Lato"/>
              </a:rPr>
              <a:t>top-k</a:t>
            </a:r>
            <a:endParaRPr i="0" sz="1300" u="none" cap="none" strike="noStrik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descr="preencoded.png" id="150" name="Google Shape;150;p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223096" y="3520440"/>
            <a:ext cx="182880" cy="182880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p8"/>
          <p:cNvSpPr/>
          <p:nvPr/>
        </p:nvSpPr>
        <p:spPr>
          <a:xfrm>
            <a:off x="9433408" y="3017520"/>
            <a:ext cx="1920300" cy="11886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32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2" name="Google Shape;152;p8"/>
          <p:cNvSpPr/>
          <p:nvPr/>
        </p:nvSpPr>
        <p:spPr>
          <a:xfrm>
            <a:off x="9433408" y="3017520"/>
            <a:ext cx="1920300" cy="320100"/>
          </a:xfrm>
          <a:prstGeom prst="rect">
            <a:avLst/>
          </a:prstGeom>
          <a:solidFill>
            <a:srgbClr val="326666"/>
          </a:solidFill>
          <a:ln cap="flat" cmpd="sng" w="12700">
            <a:solidFill>
              <a:srgbClr val="32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3" name="Google Shape;153;p8"/>
          <p:cNvSpPr/>
          <p:nvPr/>
        </p:nvSpPr>
        <p:spPr>
          <a:xfrm>
            <a:off x="9433408" y="3017520"/>
            <a:ext cx="19203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Lato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Generate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8"/>
          <p:cNvSpPr/>
          <p:nvPr/>
        </p:nvSpPr>
        <p:spPr>
          <a:xfrm>
            <a:off x="9433408" y="3474720"/>
            <a:ext cx="19203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300"/>
              <a:buFont typeface="Courier New"/>
              <a:buNone/>
            </a:pPr>
            <a:r>
              <a:rPr i="0" lang="en-US" sz="1300" u="none" cap="none" strike="noStrike">
                <a:solidFill>
                  <a:srgbClr val="0D1B2A"/>
                </a:solidFill>
                <a:latin typeface="Lato"/>
                <a:ea typeface="Lato"/>
                <a:cs typeface="Lato"/>
                <a:sym typeface="Lato"/>
              </a:rPr>
              <a:t>llama3.2:1b</a:t>
            </a:r>
            <a:endParaRPr i="0" sz="1300" u="none" cap="none" strike="noStrik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55" name="Google Shape;155;p8"/>
          <p:cNvSpPr/>
          <p:nvPr/>
        </p:nvSpPr>
        <p:spPr>
          <a:xfrm>
            <a:off x="838048" y="4663440"/>
            <a:ext cx="10515600" cy="685800"/>
          </a:xfrm>
          <a:prstGeom prst="rect">
            <a:avLst/>
          </a:prstGeom>
          <a:solidFill>
            <a:srgbClr val="F4F2EE"/>
          </a:solidFill>
          <a:ln cap="flat" cmpd="sng" w="12700">
            <a:solidFill>
              <a:srgbClr val="32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6" name="Google Shape;156;p8"/>
          <p:cNvSpPr/>
          <p:nvPr/>
        </p:nvSpPr>
        <p:spPr>
          <a:xfrm>
            <a:off x="838048" y="4663440"/>
            <a:ext cx="105156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400"/>
              <a:buFont typeface="Lato"/>
              <a:buNone/>
            </a:pPr>
            <a:r>
              <a:rPr b="1" i="0" lang="en-US" sz="1400" u="none" cap="none" strike="noStrike">
                <a:solidFill>
                  <a:srgbClr val="0D1B2A"/>
                </a:solidFill>
                <a:latin typeface="Lato"/>
                <a:ea typeface="Lato"/>
                <a:cs typeface="Lato"/>
                <a:sym typeface="Lato"/>
              </a:rPr>
              <a:t>+ Langfuse traces  ·  + OpenTelemetry spans  ·  + token, latency, cost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8"/>
          <p:cNvSpPr/>
          <p:nvPr/>
        </p:nvSpPr>
        <p:spPr>
          <a:xfrm>
            <a:off x="502920" y="5760720"/>
            <a:ext cx="11185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A5759"/>
              </a:buClr>
              <a:buSzPts val="1500"/>
              <a:buFont typeface="Spectral"/>
              <a:buNone/>
            </a:pPr>
            <a:r>
              <a:rPr b="0" i="1" lang="en-US" sz="1500" u="none" cap="none" strike="noStrike">
                <a:solidFill>
                  <a:srgbClr val="4A5759"/>
                </a:solidFill>
                <a:latin typeface="Spectral"/>
                <a:ea typeface="Spectral"/>
                <a:cs typeface="Spectral"/>
                <a:sym typeface="Spectral"/>
              </a:rPr>
              <a:t>Everything local. Every line yours. No API keys, no cloud, no vendor lock-in.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58" name="Google Shape;158;p8" title="Gemini_Generated_Image_rbdzoirbdzoirbdz.png"/>
          <p:cNvPicPr preferRelativeResize="0"/>
          <p:nvPr/>
        </p:nvPicPr>
        <p:blipFill rotWithShape="1">
          <a:blip r:embed="rId6">
            <a:alphaModFix/>
          </a:blip>
          <a:srcRect b="33061" l="22742" r="28149" t="10923"/>
          <a:stretch/>
        </p:blipFill>
        <p:spPr>
          <a:xfrm>
            <a:off x="9885440" y="6291673"/>
            <a:ext cx="1727432" cy="492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9"/>
          <p:cNvSpPr/>
          <p:nvPr/>
        </p:nvSpPr>
        <p:spPr>
          <a:xfrm>
            <a:off x="9265615" y="457200"/>
            <a:ext cx="2286000" cy="36600"/>
          </a:xfrm>
          <a:prstGeom prst="rect">
            <a:avLst/>
          </a:prstGeom>
          <a:solidFill>
            <a:srgbClr val="326666"/>
          </a:solidFill>
          <a:ln cap="flat" cmpd="sng" w="12700">
            <a:solidFill>
              <a:srgbClr val="32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5" name="Google Shape;165;p9"/>
          <p:cNvSpPr/>
          <p:nvPr/>
        </p:nvSpPr>
        <p:spPr>
          <a:xfrm>
            <a:off x="9265615" y="548640"/>
            <a:ext cx="2286000" cy="18300"/>
          </a:xfrm>
          <a:prstGeom prst="rect">
            <a:avLst/>
          </a:prstGeom>
          <a:solidFill>
            <a:srgbClr val="326666"/>
          </a:solidFill>
          <a:ln cap="flat" cmpd="sng" w="12700">
            <a:solidFill>
              <a:srgbClr val="32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6" name="Google Shape;166;p9"/>
          <p:cNvSpPr/>
          <p:nvPr/>
        </p:nvSpPr>
        <p:spPr>
          <a:xfrm>
            <a:off x="502920" y="384048"/>
            <a:ext cx="9144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300"/>
              <a:buFont typeface="Lato"/>
              <a:buNone/>
            </a:pPr>
            <a:r>
              <a:rPr b="1" i="0" lang="en-US" sz="1300" u="none" cap="none" strike="noStrike">
                <a:solidFill>
                  <a:srgbClr val="0D1B2A"/>
                </a:solidFill>
                <a:latin typeface="Lato"/>
                <a:ea typeface="Lato"/>
                <a:cs typeface="Lato"/>
                <a:sym typeface="Lato"/>
              </a:rPr>
              <a:t>01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9">
            <a:hlinkClick r:id="rId3"/>
          </p:cNvPr>
          <p:cNvSpPr/>
          <p:nvPr/>
        </p:nvSpPr>
        <p:spPr>
          <a:xfrm>
            <a:off x="502920" y="6446520"/>
            <a:ext cx="2743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Lato"/>
              <a:buNone/>
            </a:pPr>
            <a:r>
              <a:rPr b="0" i="0" lang="en-US" sz="1000" u="sng" cap="none" strike="noStrike">
                <a:solidFill>
                  <a:schemeClr val="hlink"/>
                </a:solidFill>
                <a:latin typeface="Lato"/>
                <a:ea typeface="Lato"/>
                <a:cs typeface="Lato"/>
                <a:sym typeface="Lato"/>
                <a:hlinkClick r:id="rId4"/>
              </a:rPr>
              <a:t>www.arsinnovate.com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9"/>
          <p:cNvSpPr/>
          <p:nvPr/>
        </p:nvSpPr>
        <p:spPr>
          <a:xfrm>
            <a:off x="11551615" y="6400800"/>
            <a:ext cx="3657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100"/>
              <a:buFont typeface="Lato"/>
              <a:buNone/>
            </a:pPr>
            <a:r>
              <a:rPr b="0" i="0" lang="en-US" sz="1100" u="none" cap="none" strike="noStrike">
                <a:solidFill>
                  <a:srgbClr val="595959"/>
                </a:solidFill>
                <a:latin typeface="Lato"/>
                <a:ea typeface="Lato"/>
                <a:cs typeface="Lato"/>
                <a:sym typeface="Lato"/>
              </a:rPr>
              <a:t>6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9"/>
          <p:cNvSpPr/>
          <p:nvPr/>
        </p:nvSpPr>
        <p:spPr>
          <a:xfrm>
            <a:off x="502920" y="960120"/>
            <a:ext cx="11185800" cy="109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4000"/>
              <a:buFont typeface="Spectral"/>
              <a:buNone/>
            </a:pPr>
            <a:r>
              <a:rPr b="1" i="0" lang="en-US" sz="4000" u="none" cap="none" strike="noStrike">
                <a:solidFill>
                  <a:srgbClr val="0D1B2A"/>
                </a:solidFill>
                <a:latin typeface="Spectral"/>
                <a:ea typeface="Spectral"/>
                <a:cs typeface="Spectral"/>
                <a:sym typeface="Spectral"/>
              </a:rPr>
              <a:t>Four tools. Each does one thing well.</a:t>
            </a:r>
            <a:endParaRPr b="0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9"/>
          <p:cNvSpPr/>
          <p:nvPr/>
        </p:nvSpPr>
        <p:spPr>
          <a:xfrm>
            <a:off x="502920" y="2286000"/>
            <a:ext cx="5486400" cy="17832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1" name="Google Shape;171;p9"/>
          <p:cNvSpPr/>
          <p:nvPr/>
        </p:nvSpPr>
        <p:spPr>
          <a:xfrm>
            <a:off x="502920" y="2286000"/>
            <a:ext cx="73200" cy="1783200"/>
          </a:xfrm>
          <a:prstGeom prst="rect">
            <a:avLst/>
          </a:prstGeom>
          <a:solidFill>
            <a:srgbClr val="326666"/>
          </a:solidFill>
          <a:ln cap="flat" cmpd="sng" w="12700">
            <a:solidFill>
              <a:srgbClr val="32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172" name="Google Shape;172;p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77240" y="2560320"/>
            <a:ext cx="594360" cy="594360"/>
          </a:xfrm>
          <a:prstGeom prst="rect">
            <a:avLst/>
          </a:prstGeom>
          <a:noFill/>
          <a:ln>
            <a:noFill/>
          </a:ln>
        </p:spPr>
      </p:pic>
      <p:sp>
        <p:nvSpPr>
          <p:cNvPr id="173" name="Google Shape;173;p9"/>
          <p:cNvSpPr/>
          <p:nvPr/>
        </p:nvSpPr>
        <p:spPr>
          <a:xfrm>
            <a:off x="1554480" y="2514600"/>
            <a:ext cx="4297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2200"/>
              <a:buFont typeface="Spectral"/>
              <a:buNone/>
            </a:pPr>
            <a:r>
              <a:rPr b="1" i="0" lang="en-US" sz="2200" u="none" cap="none" strike="noStrike">
                <a:solidFill>
                  <a:srgbClr val="0D1B2A"/>
                </a:solidFill>
                <a:latin typeface="Spectral"/>
                <a:ea typeface="Spectral"/>
                <a:cs typeface="Spectral"/>
                <a:sym typeface="Spectral"/>
              </a:rPr>
              <a:t>Ollama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9"/>
          <p:cNvSpPr/>
          <p:nvPr/>
        </p:nvSpPr>
        <p:spPr>
          <a:xfrm>
            <a:off x="1554480" y="3017520"/>
            <a:ext cx="42978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2124"/>
              </a:buClr>
              <a:buSzPts val="1300"/>
              <a:buFont typeface="Lato"/>
              <a:buNone/>
            </a:pPr>
            <a:r>
              <a:rPr b="0" i="0" lang="en-US" sz="1300" u="none" cap="none" strike="noStrike">
                <a:solidFill>
                  <a:srgbClr val="202124"/>
                </a:solidFill>
                <a:latin typeface="Lato"/>
                <a:ea typeface="Lato"/>
                <a:cs typeface="Lato"/>
                <a:sym typeface="Lato"/>
              </a:rPr>
              <a:t>Runs the LLM + embeddings locally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9"/>
          <p:cNvSpPr/>
          <p:nvPr/>
        </p:nvSpPr>
        <p:spPr>
          <a:xfrm>
            <a:off x="777240" y="3474720"/>
            <a:ext cx="51207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A5759"/>
              </a:buClr>
              <a:buSzPts val="1050"/>
              <a:buFont typeface="Courier New"/>
              <a:buNone/>
            </a:pPr>
            <a:r>
              <a:rPr i="1" lang="en-US" sz="1050" u="none" cap="none" strike="noStrike">
                <a:solidFill>
                  <a:srgbClr val="4A5759"/>
                </a:solidFill>
                <a:latin typeface="Lato"/>
                <a:ea typeface="Lato"/>
                <a:cs typeface="Lato"/>
                <a:sym typeface="Lato"/>
              </a:rPr>
              <a:t xml:space="preserve">llama3.2:1b (~1.3GB) </a:t>
            </a:r>
            <a:r>
              <a:rPr i="1" lang="en-US" sz="1050">
                <a:solidFill>
                  <a:srgbClr val="4A5759"/>
                </a:solidFill>
                <a:latin typeface="Lato"/>
                <a:ea typeface="Lato"/>
                <a:cs typeface="Lato"/>
                <a:sym typeface="Lato"/>
              </a:rPr>
              <a:t xml:space="preserve"> </a:t>
            </a:r>
            <a:r>
              <a:rPr i="1" lang="en-US" sz="1050" u="none" cap="none" strike="noStrike">
                <a:solidFill>
                  <a:srgbClr val="4A5759"/>
                </a:solidFill>
                <a:latin typeface="Lato"/>
                <a:ea typeface="Lato"/>
                <a:cs typeface="Lato"/>
                <a:sym typeface="Lato"/>
              </a:rPr>
              <a:t xml:space="preserve">          ·            all-minilm (~46MB)</a:t>
            </a:r>
            <a:endParaRPr i="0" sz="1050" u="none" cap="none" strike="noStrik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76" name="Google Shape;176;p9"/>
          <p:cNvSpPr/>
          <p:nvPr/>
        </p:nvSpPr>
        <p:spPr>
          <a:xfrm>
            <a:off x="6217920" y="2286000"/>
            <a:ext cx="5486400" cy="17832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7" name="Google Shape;177;p9"/>
          <p:cNvSpPr/>
          <p:nvPr/>
        </p:nvSpPr>
        <p:spPr>
          <a:xfrm>
            <a:off x="6217920" y="2286000"/>
            <a:ext cx="73200" cy="1783200"/>
          </a:xfrm>
          <a:prstGeom prst="rect">
            <a:avLst/>
          </a:prstGeom>
          <a:solidFill>
            <a:srgbClr val="326666"/>
          </a:solidFill>
          <a:ln cap="flat" cmpd="sng" w="12700">
            <a:solidFill>
              <a:srgbClr val="32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178" name="Google Shape;178;p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492240" y="2560320"/>
            <a:ext cx="594360" cy="594360"/>
          </a:xfrm>
          <a:prstGeom prst="rect">
            <a:avLst/>
          </a:prstGeom>
          <a:noFill/>
          <a:ln>
            <a:noFill/>
          </a:ln>
        </p:spPr>
      </p:pic>
      <p:sp>
        <p:nvSpPr>
          <p:cNvPr id="179" name="Google Shape;179;p9"/>
          <p:cNvSpPr/>
          <p:nvPr/>
        </p:nvSpPr>
        <p:spPr>
          <a:xfrm>
            <a:off x="7269480" y="2514600"/>
            <a:ext cx="4297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2200"/>
              <a:buFont typeface="Spectral"/>
              <a:buNone/>
            </a:pPr>
            <a:r>
              <a:rPr b="1" i="0" lang="en-US" sz="2200" u="none" cap="none" strike="noStrike">
                <a:solidFill>
                  <a:srgbClr val="0D1B2A"/>
                </a:solidFill>
                <a:latin typeface="Spectral"/>
                <a:ea typeface="Spectral"/>
                <a:cs typeface="Spectral"/>
                <a:sym typeface="Spectral"/>
              </a:rPr>
              <a:t>ChromaDB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9"/>
          <p:cNvSpPr/>
          <p:nvPr/>
        </p:nvSpPr>
        <p:spPr>
          <a:xfrm>
            <a:off x="7269480" y="3017520"/>
            <a:ext cx="42978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2124"/>
              </a:buClr>
              <a:buSzPts val="1300"/>
              <a:buFont typeface="Lato"/>
              <a:buNone/>
            </a:pPr>
            <a:r>
              <a:rPr b="0" i="0" lang="en-US" sz="1300" u="none" cap="none" strike="noStrike">
                <a:solidFill>
                  <a:srgbClr val="202124"/>
                </a:solidFill>
                <a:latin typeface="Lato"/>
                <a:ea typeface="Lato"/>
                <a:cs typeface="Lato"/>
                <a:sym typeface="Lato"/>
              </a:rPr>
              <a:t>Vector store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9"/>
          <p:cNvSpPr/>
          <p:nvPr/>
        </p:nvSpPr>
        <p:spPr>
          <a:xfrm>
            <a:off x="6492240" y="3474720"/>
            <a:ext cx="51207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A5759"/>
              </a:buClr>
              <a:buSzPts val="1050"/>
              <a:buFont typeface="Courier New"/>
              <a:buNone/>
            </a:pPr>
            <a:r>
              <a:rPr i="1" lang="en-US" sz="1050" u="none" cap="none" strike="noStrike">
                <a:solidFill>
                  <a:srgbClr val="4A5759"/>
                </a:solidFill>
                <a:latin typeface="Lato"/>
                <a:ea typeface="Lato"/>
                <a:cs typeface="Lato"/>
                <a:sym typeface="Lato"/>
              </a:rPr>
              <a:t>In-process, no daemon, no config</a:t>
            </a:r>
            <a:endParaRPr i="0" sz="1050" u="none" cap="none" strike="noStrik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82" name="Google Shape;182;p9"/>
          <p:cNvSpPr/>
          <p:nvPr/>
        </p:nvSpPr>
        <p:spPr>
          <a:xfrm>
            <a:off x="502920" y="4297680"/>
            <a:ext cx="5486400" cy="17832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3" name="Google Shape;183;p9"/>
          <p:cNvSpPr/>
          <p:nvPr/>
        </p:nvSpPr>
        <p:spPr>
          <a:xfrm>
            <a:off x="502920" y="4297680"/>
            <a:ext cx="73200" cy="1783200"/>
          </a:xfrm>
          <a:prstGeom prst="rect">
            <a:avLst/>
          </a:prstGeom>
          <a:solidFill>
            <a:srgbClr val="326666"/>
          </a:solidFill>
          <a:ln cap="flat" cmpd="sng" w="12700">
            <a:solidFill>
              <a:srgbClr val="32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184" name="Google Shape;184;p9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77240" y="4572000"/>
            <a:ext cx="594360" cy="594360"/>
          </a:xfrm>
          <a:prstGeom prst="rect">
            <a:avLst/>
          </a:prstGeom>
          <a:noFill/>
          <a:ln>
            <a:noFill/>
          </a:ln>
        </p:spPr>
      </p:pic>
      <p:sp>
        <p:nvSpPr>
          <p:cNvPr id="185" name="Google Shape;185;p9"/>
          <p:cNvSpPr/>
          <p:nvPr/>
        </p:nvSpPr>
        <p:spPr>
          <a:xfrm>
            <a:off x="1554480" y="4526280"/>
            <a:ext cx="4297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2200"/>
              <a:buFont typeface="Spectral"/>
              <a:buNone/>
            </a:pPr>
            <a:r>
              <a:rPr b="1" i="0" lang="en-US" sz="2200" u="none" cap="none" strike="noStrike">
                <a:solidFill>
                  <a:srgbClr val="0D1B2A"/>
                </a:solidFill>
                <a:latin typeface="Spectral"/>
                <a:ea typeface="Spectral"/>
                <a:cs typeface="Spectral"/>
                <a:sym typeface="Spectral"/>
              </a:rPr>
              <a:t>Langfuse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9"/>
          <p:cNvSpPr/>
          <p:nvPr/>
        </p:nvSpPr>
        <p:spPr>
          <a:xfrm>
            <a:off x="1554480" y="5029200"/>
            <a:ext cx="42978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2124"/>
              </a:buClr>
              <a:buSzPts val="1300"/>
              <a:buFont typeface="Lato"/>
              <a:buNone/>
            </a:pPr>
            <a:r>
              <a:rPr b="0" i="0" lang="en-US" sz="1300" u="none" cap="none" strike="noStrike">
                <a:solidFill>
                  <a:srgbClr val="202124"/>
                </a:solidFill>
                <a:latin typeface="Lato"/>
                <a:ea typeface="Lato"/>
                <a:cs typeface="Lato"/>
                <a:sym typeface="Lato"/>
              </a:rPr>
              <a:t>LLM-native observability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9"/>
          <p:cNvSpPr/>
          <p:nvPr/>
        </p:nvSpPr>
        <p:spPr>
          <a:xfrm>
            <a:off x="777240" y="5486400"/>
            <a:ext cx="51207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A5759"/>
              </a:buClr>
              <a:buSzPts val="1050"/>
              <a:buFont typeface="Courier New"/>
              <a:buNone/>
            </a:pPr>
            <a:r>
              <a:rPr i="1" lang="en-US" sz="1050" u="none" cap="none" strike="noStrike">
                <a:solidFill>
                  <a:srgbClr val="4A5759"/>
                </a:solidFill>
                <a:latin typeface="Lato"/>
                <a:ea typeface="Lato"/>
                <a:cs typeface="Lato"/>
                <a:sym typeface="Lato"/>
              </a:rPr>
              <a:t>Self-hosted, OSS, understands prompts + tokens</a:t>
            </a:r>
            <a:endParaRPr i="0" sz="1050" u="none" cap="none" strike="noStrik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88" name="Google Shape;188;p9"/>
          <p:cNvSpPr/>
          <p:nvPr/>
        </p:nvSpPr>
        <p:spPr>
          <a:xfrm>
            <a:off x="6217920" y="4297680"/>
            <a:ext cx="5486400" cy="17832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9" name="Google Shape;189;p9"/>
          <p:cNvSpPr/>
          <p:nvPr/>
        </p:nvSpPr>
        <p:spPr>
          <a:xfrm>
            <a:off x="6217920" y="4297680"/>
            <a:ext cx="73200" cy="1783200"/>
          </a:xfrm>
          <a:prstGeom prst="rect">
            <a:avLst/>
          </a:prstGeom>
          <a:solidFill>
            <a:srgbClr val="326666"/>
          </a:solidFill>
          <a:ln cap="flat" cmpd="sng" w="12700">
            <a:solidFill>
              <a:srgbClr val="32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190" name="Google Shape;190;p9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492240" y="4572000"/>
            <a:ext cx="594360" cy="594360"/>
          </a:xfrm>
          <a:prstGeom prst="rect">
            <a:avLst/>
          </a:prstGeom>
          <a:noFill/>
          <a:ln>
            <a:noFill/>
          </a:ln>
        </p:spPr>
      </p:pic>
      <p:sp>
        <p:nvSpPr>
          <p:cNvPr id="191" name="Google Shape;191;p9"/>
          <p:cNvSpPr/>
          <p:nvPr/>
        </p:nvSpPr>
        <p:spPr>
          <a:xfrm>
            <a:off x="7269480" y="4526280"/>
            <a:ext cx="4297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2200"/>
              <a:buFont typeface="Spectral"/>
              <a:buNone/>
            </a:pPr>
            <a:r>
              <a:rPr b="1" i="0" lang="en-US" sz="2200" u="none" cap="none" strike="noStrike">
                <a:solidFill>
                  <a:srgbClr val="0D1B2A"/>
                </a:solidFill>
                <a:latin typeface="Spectral"/>
                <a:ea typeface="Spectral"/>
                <a:cs typeface="Spectral"/>
                <a:sym typeface="Spectral"/>
              </a:rPr>
              <a:t>OpenTelemetry + Jaeger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9"/>
          <p:cNvSpPr/>
          <p:nvPr/>
        </p:nvSpPr>
        <p:spPr>
          <a:xfrm>
            <a:off x="7269480" y="5029200"/>
            <a:ext cx="42978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2124"/>
              </a:buClr>
              <a:buSzPts val="1300"/>
              <a:buFont typeface="Lato"/>
              <a:buNone/>
            </a:pPr>
            <a:r>
              <a:rPr b="0" i="0" lang="en-US" sz="1300" u="none" cap="none" strike="noStrike">
                <a:solidFill>
                  <a:srgbClr val="202124"/>
                </a:solidFill>
                <a:latin typeface="Lato"/>
                <a:ea typeface="Lato"/>
                <a:cs typeface="Lato"/>
                <a:sym typeface="Lato"/>
              </a:rPr>
              <a:t>Cross-service tracing · clickable trace UI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9"/>
          <p:cNvSpPr/>
          <p:nvPr/>
        </p:nvSpPr>
        <p:spPr>
          <a:xfrm>
            <a:off x="6492240" y="5486400"/>
            <a:ext cx="51207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A5759"/>
              </a:buClr>
              <a:buSzPts val="1050"/>
              <a:buFont typeface="Courier New"/>
              <a:buNone/>
            </a:pPr>
            <a:r>
              <a:rPr i="1" lang="en-US" sz="1050" u="none" cap="none" strike="noStrike">
                <a:solidFill>
                  <a:srgbClr val="4A5759"/>
                </a:solidFill>
                <a:latin typeface="Lato"/>
                <a:ea typeface="Lato"/>
                <a:cs typeface="Lato"/>
                <a:sym typeface="Lato"/>
              </a:rPr>
              <a:t>Today: Jaeger UI at localhost:16686 · tomorrow: any APM</a:t>
            </a:r>
            <a:endParaRPr i="0" sz="1050" u="none" cap="none" strike="noStrik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194" name="Google Shape;194;p9" title="Gemini_Generated_Image_rbdzoirbdzoirbdz.png"/>
          <p:cNvPicPr preferRelativeResize="0"/>
          <p:nvPr/>
        </p:nvPicPr>
        <p:blipFill rotWithShape="1">
          <a:blip r:embed="rId9">
            <a:alphaModFix/>
          </a:blip>
          <a:srcRect b="33061" l="22742" r="28149" t="10923"/>
          <a:stretch/>
        </p:blipFill>
        <p:spPr>
          <a:xfrm>
            <a:off x="9885440" y="6291673"/>
            <a:ext cx="1727432" cy="492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10"/>
          <p:cNvSpPr/>
          <p:nvPr/>
        </p:nvSpPr>
        <p:spPr>
          <a:xfrm>
            <a:off x="9265615" y="457200"/>
            <a:ext cx="2286000" cy="36576"/>
          </a:xfrm>
          <a:prstGeom prst="rect">
            <a:avLst/>
          </a:prstGeom>
          <a:solidFill>
            <a:srgbClr val="326666"/>
          </a:solidFill>
          <a:ln cap="flat" cmpd="sng" w="12700">
            <a:solidFill>
              <a:srgbClr val="32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" name="Google Shape;201;p10"/>
          <p:cNvSpPr/>
          <p:nvPr/>
        </p:nvSpPr>
        <p:spPr>
          <a:xfrm>
            <a:off x="9265615" y="548640"/>
            <a:ext cx="2286000" cy="18288"/>
          </a:xfrm>
          <a:prstGeom prst="rect">
            <a:avLst/>
          </a:prstGeom>
          <a:solidFill>
            <a:srgbClr val="326666"/>
          </a:solidFill>
          <a:ln cap="flat" cmpd="sng" w="12700">
            <a:solidFill>
              <a:srgbClr val="32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" name="Google Shape;202;p10"/>
          <p:cNvSpPr/>
          <p:nvPr/>
        </p:nvSpPr>
        <p:spPr>
          <a:xfrm>
            <a:off x="502920" y="384048"/>
            <a:ext cx="914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300"/>
              <a:buFont typeface="Lato"/>
              <a:buNone/>
            </a:pPr>
            <a:r>
              <a:rPr b="1" i="0" lang="en-US" sz="1300" u="none" cap="none" strike="noStrike">
                <a:solidFill>
                  <a:srgbClr val="0D1B2A"/>
                </a:solidFill>
                <a:latin typeface="Lato"/>
                <a:ea typeface="Lato"/>
                <a:cs typeface="Lato"/>
                <a:sym typeface="Lato"/>
              </a:rPr>
              <a:t>01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10">
            <a:hlinkClick r:id="rId3"/>
          </p:cNvPr>
          <p:cNvSpPr/>
          <p:nvPr/>
        </p:nvSpPr>
        <p:spPr>
          <a:xfrm>
            <a:off x="502920" y="6446520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Lato"/>
              <a:buNone/>
            </a:pPr>
            <a:r>
              <a:rPr b="0" i="0" lang="en-US" sz="1000" u="sng" cap="none" strike="noStrike">
                <a:solidFill>
                  <a:schemeClr val="hlink"/>
                </a:solidFill>
                <a:latin typeface="Lato"/>
                <a:ea typeface="Lato"/>
                <a:cs typeface="Lato"/>
                <a:sym typeface="Lato"/>
                <a:hlinkClick r:id="rId4"/>
              </a:rPr>
              <a:t>www.arsinnovate.com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10"/>
          <p:cNvSpPr/>
          <p:nvPr/>
        </p:nvSpPr>
        <p:spPr>
          <a:xfrm>
            <a:off x="11551615" y="6400800"/>
            <a:ext cx="365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100"/>
              <a:buFont typeface="Lato"/>
              <a:buNone/>
            </a:pPr>
            <a:r>
              <a:rPr b="0" i="0" lang="en-US" sz="1100" u="none" cap="none" strike="noStrike">
                <a:solidFill>
                  <a:srgbClr val="595959"/>
                </a:solidFill>
                <a:latin typeface="Lato"/>
                <a:ea typeface="Lato"/>
                <a:cs typeface="Lato"/>
                <a:sym typeface="Lato"/>
              </a:rPr>
              <a:t>7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10"/>
          <p:cNvSpPr/>
          <p:nvPr/>
        </p:nvSpPr>
        <p:spPr>
          <a:xfrm>
            <a:off x="502920" y="960120"/>
            <a:ext cx="11185855" cy="109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4000"/>
              <a:buFont typeface="Spectral"/>
              <a:buNone/>
            </a:pPr>
            <a:r>
              <a:rPr b="1" i="0" lang="en-US" sz="4000" u="none" cap="none" strike="noStrike">
                <a:solidFill>
                  <a:srgbClr val="0D1B2A"/>
                </a:solidFill>
                <a:latin typeface="Spectral"/>
                <a:ea typeface="Spectral"/>
                <a:cs typeface="Spectral"/>
                <a:sym typeface="Spectral"/>
              </a:rPr>
              <a:t>Five steps. Checkpoints. No one left behind.</a:t>
            </a:r>
            <a:endParaRPr b="0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10"/>
          <p:cNvSpPr/>
          <p:nvPr/>
        </p:nvSpPr>
        <p:spPr>
          <a:xfrm>
            <a:off x="640080" y="2331720"/>
            <a:ext cx="1051560" cy="457200"/>
          </a:xfrm>
          <a:prstGeom prst="rect">
            <a:avLst/>
          </a:prstGeom>
          <a:solidFill>
            <a:srgbClr val="326666"/>
          </a:solidFill>
          <a:ln cap="flat" cmpd="sng" w="12700">
            <a:solidFill>
              <a:srgbClr val="32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" name="Google Shape;207;p10"/>
          <p:cNvSpPr/>
          <p:nvPr/>
        </p:nvSpPr>
        <p:spPr>
          <a:xfrm>
            <a:off x="640080" y="2331720"/>
            <a:ext cx="10515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ourier New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0:00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10"/>
          <p:cNvSpPr/>
          <p:nvPr/>
        </p:nvSpPr>
        <p:spPr>
          <a:xfrm>
            <a:off x="1874520" y="2331720"/>
            <a:ext cx="96012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600"/>
              <a:buFont typeface="Spectral"/>
              <a:buNone/>
            </a:pPr>
            <a:r>
              <a:rPr b="1" i="0" lang="en-US" sz="1600" u="none" cap="none" strike="noStrike">
                <a:solidFill>
                  <a:srgbClr val="0D1B2A"/>
                </a:solidFill>
                <a:latin typeface="Spectral"/>
                <a:ea typeface="Spectral"/>
                <a:cs typeface="Spectral"/>
                <a:sym typeface="Spectral"/>
              </a:rPr>
              <a:t>Intro · verify prework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10"/>
          <p:cNvSpPr/>
          <p:nvPr/>
        </p:nvSpPr>
        <p:spPr>
          <a:xfrm>
            <a:off x="1874520" y="2578608"/>
            <a:ext cx="96012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759"/>
              </a:buClr>
              <a:buSzPts val="1200"/>
              <a:buFont typeface="Lato"/>
              <a:buNone/>
            </a:pPr>
            <a:r>
              <a:rPr b="0" i="1" lang="en-US" sz="1200" u="none" cap="none" strike="noStrike">
                <a:solidFill>
                  <a:srgbClr val="4A5759"/>
                </a:solidFill>
                <a:latin typeface="Lato"/>
                <a:ea typeface="Lato"/>
                <a:cs typeface="Lato"/>
                <a:sym typeface="Lato"/>
              </a:rPr>
              <a:t>Short. If your check_env.py is red, raise a hand now.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10"/>
          <p:cNvSpPr/>
          <p:nvPr/>
        </p:nvSpPr>
        <p:spPr>
          <a:xfrm>
            <a:off x="640080" y="2971800"/>
            <a:ext cx="1051560" cy="457200"/>
          </a:xfrm>
          <a:prstGeom prst="rect">
            <a:avLst/>
          </a:prstGeom>
          <a:solidFill>
            <a:srgbClr val="326666"/>
          </a:solidFill>
          <a:ln cap="flat" cmpd="sng" w="12700">
            <a:solidFill>
              <a:srgbClr val="32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p10"/>
          <p:cNvSpPr/>
          <p:nvPr/>
        </p:nvSpPr>
        <p:spPr>
          <a:xfrm>
            <a:off x="640080" y="2971800"/>
            <a:ext cx="10515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ourier New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0:08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10"/>
          <p:cNvSpPr/>
          <p:nvPr/>
        </p:nvSpPr>
        <p:spPr>
          <a:xfrm>
            <a:off x="1874520" y="2971800"/>
            <a:ext cx="96012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600"/>
              <a:buFont typeface="Spectral"/>
              <a:buNone/>
            </a:pPr>
            <a:r>
              <a:rPr b="1" i="0" lang="en-US" sz="1600" u="none" cap="none" strike="noStrike">
                <a:solidFill>
                  <a:srgbClr val="0D1B2A"/>
                </a:solidFill>
                <a:latin typeface="Spectral"/>
                <a:ea typeface="Spectral"/>
                <a:cs typeface="Spectral"/>
                <a:sym typeface="Spectral"/>
              </a:rPr>
              <a:t>Step 1 — minimal RAG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10"/>
          <p:cNvSpPr/>
          <p:nvPr/>
        </p:nvSpPr>
        <p:spPr>
          <a:xfrm>
            <a:off x="1874520" y="3218688"/>
            <a:ext cx="96012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759"/>
              </a:buClr>
              <a:buSzPts val="1200"/>
              <a:buFont typeface="Lato"/>
              <a:buNone/>
            </a:pPr>
            <a:r>
              <a:rPr b="0" i="1" lang="en-US" sz="1200" u="none" cap="none" strike="noStrike">
                <a:solidFill>
                  <a:srgbClr val="4A5759"/>
                </a:solidFill>
                <a:latin typeface="Lato"/>
                <a:ea typeface="Lato"/>
                <a:cs typeface="Lato"/>
                <a:sym typeface="Lato"/>
              </a:rPr>
              <a:t>Works. Black box. No observability.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10"/>
          <p:cNvSpPr/>
          <p:nvPr/>
        </p:nvSpPr>
        <p:spPr>
          <a:xfrm>
            <a:off x="640080" y="3611880"/>
            <a:ext cx="1051560" cy="457200"/>
          </a:xfrm>
          <a:prstGeom prst="rect">
            <a:avLst/>
          </a:prstGeom>
          <a:solidFill>
            <a:srgbClr val="326666"/>
          </a:solidFill>
          <a:ln cap="flat" cmpd="sng" w="12700">
            <a:solidFill>
              <a:srgbClr val="32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" name="Google Shape;215;p10"/>
          <p:cNvSpPr/>
          <p:nvPr/>
        </p:nvSpPr>
        <p:spPr>
          <a:xfrm>
            <a:off x="640080" y="3611880"/>
            <a:ext cx="10515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ourier New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0:23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10"/>
          <p:cNvSpPr/>
          <p:nvPr/>
        </p:nvSpPr>
        <p:spPr>
          <a:xfrm>
            <a:off x="1874520" y="3611880"/>
            <a:ext cx="96012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600"/>
              <a:buFont typeface="Spectral"/>
              <a:buNone/>
            </a:pPr>
            <a:r>
              <a:rPr b="1" i="0" lang="en-US" sz="1600" u="none" cap="none" strike="noStrike">
                <a:solidFill>
                  <a:srgbClr val="0D1B2A"/>
                </a:solidFill>
                <a:latin typeface="Spectral"/>
                <a:ea typeface="Spectral"/>
                <a:cs typeface="Spectral"/>
                <a:sym typeface="Spectral"/>
              </a:rPr>
              <a:t>Step 2 — Langfuse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10"/>
          <p:cNvSpPr/>
          <p:nvPr/>
        </p:nvSpPr>
        <p:spPr>
          <a:xfrm>
            <a:off x="1874520" y="3858768"/>
            <a:ext cx="96012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759"/>
              </a:buClr>
              <a:buSzPts val="1200"/>
              <a:buFont typeface="Lato"/>
              <a:buNone/>
            </a:pPr>
            <a:r>
              <a:rPr b="0" i="1" lang="en-US" sz="1200" u="none" cap="none" strike="noStrike">
                <a:solidFill>
                  <a:srgbClr val="4A5759"/>
                </a:solidFill>
                <a:latin typeface="Lato"/>
                <a:ea typeface="Lato"/>
                <a:cs typeface="Lato"/>
                <a:sym typeface="Lato"/>
              </a:rPr>
              <a:t>Every call traced. Prompts + tokens visible.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10"/>
          <p:cNvSpPr/>
          <p:nvPr/>
        </p:nvSpPr>
        <p:spPr>
          <a:xfrm>
            <a:off x="640080" y="4251960"/>
            <a:ext cx="1051560" cy="457200"/>
          </a:xfrm>
          <a:prstGeom prst="rect">
            <a:avLst/>
          </a:prstGeom>
          <a:solidFill>
            <a:srgbClr val="326666"/>
          </a:solidFill>
          <a:ln cap="flat" cmpd="sng" w="12700">
            <a:solidFill>
              <a:srgbClr val="32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9" name="Google Shape;219;p10"/>
          <p:cNvSpPr/>
          <p:nvPr/>
        </p:nvSpPr>
        <p:spPr>
          <a:xfrm>
            <a:off x="640080" y="4251960"/>
            <a:ext cx="10515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ourier New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0:43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10"/>
          <p:cNvSpPr/>
          <p:nvPr/>
        </p:nvSpPr>
        <p:spPr>
          <a:xfrm>
            <a:off x="1874520" y="4251960"/>
            <a:ext cx="96012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600"/>
              <a:buFont typeface="Spectral"/>
              <a:buNone/>
            </a:pPr>
            <a:r>
              <a:rPr b="1" i="0" lang="en-US" sz="1600" u="none" cap="none" strike="noStrike">
                <a:solidFill>
                  <a:srgbClr val="0D1B2A"/>
                </a:solidFill>
                <a:latin typeface="Spectral"/>
                <a:ea typeface="Spectral"/>
                <a:cs typeface="Spectral"/>
                <a:sym typeface="Spectral"/>
              </a:rPr>
              <a:t>Step 3 — OpenTelemetry + Jaeger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10"/>
          <p:cNvSpPr/>
          <p:nvPr/>
        </p:nvSpPr>
        <p:spPr>
          <a:xfrm>
            <a:off x="1874520" y="4498848"/>
            <a:ext cx="96012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759"/>
              </a:buClr>
              <a:buSzPts val="1200"/>
              <a:buFont typeface="Lato"/>
              <a:buNone/>
            </a:pPr>
            <a:r>
              <a:rPr b="0" i="1" lang="en-US" sz="1200" u="none" cap="none" strike="noStrike">
                <a:solidFill>
                  <a:srgbClr val="4A5759"/>
                </a:solidFill>
                <a:latin typeface="Lato"/>
                <a:ea typeface="Lato"/>
                <a:cs typeface="Lato"/>
                <a:sym typeface="Lato"/>
              </a:rPr>
              <a:t>Same pattern, spans you can click on at localhost:16686.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10"/>
          <p:cNvSpPr/>
          <p:nvPr/>
        </p:nvSpPr>
        <p:spPr>
          <a:xfrm>
            <a:off x="640080" y="4892040"/>
            <a:ext cx="1051560" cy="457200"/>
          </a:xfrm>
          <a:prstGeom prst="rect">
            <a:avLst/>
          </a:prstGeom>
          <a:solidFill>
            <a:srgbClr val="326666"/>
          </a:solidFill>
          <a:ln cap="flat" cmpd="sng" w="12700">
            <a:solidFill>
              <a:srgbClr val="32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" name="Google Shape;223;p10"/>
          <p:cNvSpPr/>
          <p:nvPr/>
        </p:nvSpPr>
        <p:spPr>
          <a:xfrm>
            <a:off x="640080" y="4892040"/>
            <a:ext cx="10515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ourier New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0:58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10"/>
          <p:cNvSpPr/>
          <p:nvPr/>
        </p:nvSpPr>
        <p:spPr>
          <a:xfrm>
            <a:off x="1874520" y="4892040"/>
            <a:ext cx="96012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600"/>
              <a:buFont typeface="Spectral"/>
              <a:buNone/>
            </a:pPr>
            <a:r>
              <a:rPr b="1" i="0" lang="en-US" sz="1600" u="none" cap="none" strike="noStrike">
                <a:solidFill>
                  <a:srgbClr val="0D1B2A"/>
                </a:solidFill>
                <a:latin typeface="Spectral"/>
                <a:ea typeface="Spectral"/>
                <a:cs typeface="Spectral"/>
                <a:sym typeface="Spectral"/>
              </a:rPr>
              <a:t>Step 4 — break + debug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10"/>
          <p:cNvSpPr/>
          <p:nvPr/>
        </p:nvSpPr>
        <p:spPr>
          <a:xfrm>
            <a:off x="1874520" y="5138928"/>
            <a:ext cx="96012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759"/>
              </a:buClr>
              <a:buSzPts val="1200"/>
              <a:buFont typeface="Lato"/>
              <a:buNone/>
            </a:pPr>
            <a:r>
              <a:rPr b="0" i="1" lang="en-US" sz="1200" u="none" cap="none" strike="noStrike">
                <a:solidFill>
                  <a:srgbClr val="4A5759"/>
                </a:solidFill>
                <a:latin typeface="Lato"/>
                <a:ea typeface="Lato"/>
                <a:cs typeface="Lato"/>
                <a:sym typeface="Lato"/>
              </a:rPr>
              <a:t>Wrong answers. You find the bug in traces.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10"/>
          <p:cNvSpPr/>
          <p:nvPr/>
        </p:nvSpPr>
        <p:spPr>
          <a:xfrm>
            <a:off x="640080" y="5532120"/>
            <a:ext cx="1051560" cy="457200"/>
          </a:xfrm>
          <a:prstGeom prst="rect">
            <a:avLst/>
          </a:prstGeom>
          <a:solidFill>
            <a:srgbClr val="326666"/>
          </a:solidFill>
          <a:ln cap="flat" cmpd="sng" w="12700">
            <a:solidFill>
              <a:srgbClr val="32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" name="Google Shape;227;p10"/>
          <p:cNvSpPr/>
          <p:nvPr/>
        </p:nvSpPr>
        <p:spPr>
          <a:xfrm>
            <a:off x="640080" y="5532120"/>
            <a:ext cx="10515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ourier New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1:18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10"/>
          <p:cNvSpPr/>
          <p:nvPr/>
        </p:nvSpPr>
        <p:spPr>
          <a:xfrm>
            <a:off x="1874520" y="5532120"/>
            <a:ext cx="96012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600"/>
              <a:buFont typeface="Spectral"/>
              <a:buNone/>
            </a:pPr>
            <a:r>
              <a:rPr b="1" i="0" lang="en-US" sz="1600" u="none" cap="none" strike="noStrike">
                <a:solidFill>
                  <a:srgbClr val="0D1B2A"/>
                </a:solidFill>
                <a:latin typeface="Spectral"/>
                <a:ea typeface="Spectral"/>
                <a:cs typeface="Spectral"/>
                <a:sym typeface="Spectral"/>
              </a:rPr>
              <a:t>Production patterns + Q&amp;A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10"/>
          <p:cNvSpPr/>
          <p:nvPr/>
        </p:nvSpPr>
        <p:spPr>
          <a:xfrm>
            <a:off x="1874520" y="5779008"/>
            <a:ext cx="96012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759"/>
              </a:buClr>
              <a:buSzPts val="1200"/>
              <a:buFont typeface="Lato"/>
              <a:buNone/>
            </a:pPr>
            <a:r>
              <a:rPr b="0" i="1" lang="en-US" sz="1200" u="none" cap="none" strike="noStrike">
                <a:solidFill>
                  <a:srgbClr val="4A5759"/>
                </a:solidFill>
                <a:latin typeface="Lato"/>
                <a:ea typeface="Lato"/>
                <a:cs typeface="Lato"/>
                <a:sym typeface="Lato"/>
              </a:rPr>
              <a:t>What to do at work Monday.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30" name="Google Shape;230;p10" title="Gemini_Generated_Image_rbdzoirbdzoirbdz.png"/>
          <p:cNvPicPr preferRelativeResize="0"/>
          <p:nvPr/>
        </p:nvPicPr>
        <p:blipFill rotWithShape="1">
          <a:blip r:embed="rId5">
            <a:alphaModFix/>
          </a:blip>
          <a:srcRect b="33061" l="22742" r="28149" t="10923"/>
          <a:stretch/>
        </p:blipFill>
        <p:spPr>
          <a:xfrm>
            <a:off x="9885440" y="6291673"/>
            <a:ext cx="1727432" cy="492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11"/>
          <p:cNvSpPr/>
          <p:nvPr/>
        </p:nvSpPr>
        <p:spPr>
          <a:xfrm>
            <a:off x="9265615" y="457200"/>
            <a:ext cx="2286000" cy="36576"/>
          </a:xfrm>
          <a:prstGeom prst="rect">
            <a:avLst/>
          </a:prstGeom>
          <a:solidFill>
            <a:srgbClr val="326666"/>
          </a:solidFill>
          <a:ln cap="flat" cmpd="sng" w="12700">
            <a:solidFill>
              <a:srgbClr val="32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7" name="Google Shape;237;p11"/>
          <p:cNvSpPr/>
          <p:nvPr/>
        </p:nvSpPr>
        <p:spPr>
          <a:xfrm>
            <a:off x="9265615" y="548640"/>
            <a:ext cx="2286000" cy="18288"/>
          </a:xfrm>
          <a:prstGeom prst="rect">
            <a:avLst/>
          </a:prstGeom>
          <a:solidFill>
            <a:srgbClr val="326666"/>
          </a:solidFill>
          <a:ln cap="flat" cmpd="sng" w="12700">
            <a:solidFill>
              <a:srgbClr val="32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8" name="Google Shape;238;p11"/>
          <p:cNvSpPr/>
          <p:nvPr/>
        </p:nvSpPr>
        <p:spPr>
          <a:xfrm>
            <a:off x="502920" y="384048"/>
            <a:ext cx="914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300"/>
              <a:buFont typeface="Lato"/>
              <a:buNone/>
            </a:pPr>
            <a:r>
              <a:rPr b="1" i="0" lang="en-US" sz="1300" u="none" cap="none" strike="noStrike">
                <a:solidFill>
                  <a:srgbClr val="0D1B2A"/>
                </a:solidFill>
                <a:latin typeface="Lato"/>
                <a:ea typeface="Lato"/>
                <a:cs typeface="Lato"/>
                <a:sym typeface="Lato"/>
              </a:rPr>
              <a:t>01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11">
            <a:hlinkClick r:id="rId3"/>
          </p:cNvPr>
          <p:cNvSpPr/>
          <p:nvPr/>
        </p:nvSpPr>
        <p:spPr>
          <a:xfrm>
            <a:off x="502920" y="6446520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Lato"/>
              <a:buNone/>
            </a:pPr>
            <a:r>
              <a:rPr b="0" i="0" lang="en-US" sz="1000" u="sng" cap="none" strike="noStrike">
                <a:solidFill>
                  <a:schemeClr val="hlink"/>
                </a:solidFill>
                <a:latin typeface="Lato"/>
                <a:ea typeface="Lato"/>
                <a:cs typeface="Lato"/>
                <a:sym typeface="Lato"/>
                <a:hlinkClick r:id="rId4"/>
              </a:rPr>
              <a:t>www.arsinnovate.com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11"/>
          <p:cNvSpPr/>
          <p:nvPr/>
        </p:nvSpPr>
        <p:spPr>
          <a:xfrm>
            <a:off x="11551615" y="6400800"/>
            <a:ext cx="365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100"/>
              <a:buFont typeface="Lato"/>
              <a:buNone/>
            </a:pPr>
            <a:r>
              <a:rPr b="0" i="0" lang="en-US" sz="1100" u="none" cap="none" strike="noStrike">
                <a:solidFill>
                  <a:srgbClr val="595959"/>
                </a:solidFill>
                <a:latin typeface="Lato"/>
                <a:ea typeface="Lato"/>
                <a:cs typeface="Lato"/>
                <a:sym typeface="Lato"/>
              </a:rPr>
              <a:t>8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11"/>
          <p:cNvSpPr/>
          <p:nvPr/>
        </p:nvSpPr>
        <p:spPr>
          <a:xfrm>
            <a:off x="502920" y="960120"/>
            <a:ext cx="11185855" cy="109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4000"/>
              <a:buFont typeface="Spectral"/>
              <a:buNone/>
            </a:pPr>
            <a:r>
              <a:rPr b="1" i="0" lang="en-US" sz="4000" u="none" cap="none" strike="noStrike">
                <a:solidFill>
                  <a:srgbClr val="0D1B2A"/>
                </a:solidFill>
                <a:latin typeface="Spectral"/>
                <a:ea typeface="Spectral"/>
                <a:cs typeface="Spectral"/>
                <a:sym typeface="Spectral"/>
              </a:rPr>
              <a:t>How to survive a 90-minute live build.</a:t>
            </a:r>
            <a:endParaRPr b="0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42" name="Google Shape;242;p1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02920" y="2377440"/>
            <a:ext cx="548640" cy="548640"/>
          </a:xfrm>
          <a:prstGeom prst="rect">
            <a:avLst/>
          </a:prstGeom>
          <a:noFill/>
          <a:ln>
            <a:noFill/>
          </a:ln>
        </p:spPr>
      </p:pic>
      <p:sp>
        <p:nvSpPr>
          <p:cNvPr id="243" name="Google Shape;243;p11"/>
          <p:cNvSpPr/>
          <p:nvPr/>
        </p:nvSpPr>
        <p:spPr>
          <a:xfrm>
            <a:off x="1234440" y="2331720"/>
            <a:ext cx="49377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800"/>
              <a:buFont typeface="Spectral"/>
              <a:buNone/>
            </a:pPr>
            <a:r>
              <a:rPr b="1" i="0" lang="en-US" sz="1800" u="none" cap="none" strike="noStrike">
                <a:solidFill>
                  <a:srgbClr val="0D1B2A"/>
                </a:solidFill>
                <a:latin typeface="Spectral"/>
                <a:ea typeface="Spectral"/>
                <a:cs typeface="Spectral"/>
                <a:sym typeface="Spectral"/>
              </a:rPr>
              <a:t>Checkpoints save you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11"/>
          <p:cNvSpPr/>
          <p:nvPr/>
        </p:nvSpPr>
        <p:spPr>
          <a:xfrm>
            <a:off x="1234440" y="2788920"/>
            <a:ext cx="4937760" cy="1280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02124"/>
              </a:buClr>
              <a:buSzPts val="1200"/>
              <a:buFont typeface="Lato"/>
              <a:buNone/>
            </a:pPr>
            <a:r>
              <a:rPr b="0" i="0" lang="en-US" sz="1200" u="none" cap="none" strike="noStrike">
                <a:solidFill>
                  <a:srgbClr val="202124"/>
                </a:solidFill>
                <a:latin typeface="Lato"/>
                <a:ea typeface="Lato"/>
                <a:cs typeface="Lato"/>
                <a:sym typeface="Lato"/>
              </a:rPr>
              <a:t xml:space="preserve">Fall behind? </a:t>
            </a:r>
            <a:endParaRPr b="0" i="0" sz="1200" u="none" cap="none" strike="noStrike">
              <a:solidFill>
                <a:srgbClr val="202124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02124"/>
              </a:buClr>
              <a:buSzPts val="1200"/>
              <a:buFont typeface="Lato"/>
              <a:buNone/>
            </a:pPr>
            <a:r>
              <a:rPr b="0" i="0" lang="en-US" sz="1200" u="none" cap="none" strike="noStrike">
                <a:solidFill>
                  <a:srgbClr val="202124"/>
                </a:solidFill>
                <a:latin typeface="Lato"/>
                <a:ea typeface="Lato"/>
                <a:cs typeface="Lato"/>
                <a:sym typeface="Lato"/>
              </a:rPr>
              <a:t xml:space="preserve">Type: git checkout step-N — clean working tree, no shame. </a:t>
            </a:r>
            <a:endParaRPr b="0" i="0" sz="1200" u="none" cap="none" strike="noStrike">
              <a:solidFill>
                <a:srgbClr val="202124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02124"/>
              </a:buClr>
              <a:buSzPts val="1200"/>
              <a:buFont typeface="Lato"/>
              <a:buNone/>
            </a:pPr>
            <a:r>
              <a:rPr b="0" i="0" lang="en-US" sz="1200" u="none" cap="none" strike="noStrike">
                <a:solidFill>
                  <a:srgbClr val="202124"/>
                </a:solidFill>
                <a:latin typeface="Lato"/>
                <a:ea typeface="Lato"/>
                <a:cs typeface="Lato"/>
                <a:sym typeface="Lato"/>
              </a:rPr>
              <a:t>The goal is learning, not typing.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45" name="Google Shape;245;p1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217920" y="2377440"/>
            <a:ext cx="548640" cy="548640"/>
          </a:xfrm>
          <a:prstGeom prst="rect">
            <a:avLst/>
          </a:prstGeom>
          <a:noFill/>
          <a:ln>
            <a:noFill/>
          </a:ln>
        </p:spPr>
      </p:pic>
      <p:sp>
        <p:nvSpPr>
          <p:cNvPr id="246" name="Google Shape;246;p11"/>
          <p:cNvSpPr/>
          <p:nvPr/>
        </p:nvSpPr>
        <p:spPr>
          <a:xfrm>
            <a:off x="6949440" y="2331720"/>
            <a:ext cx="49377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800"/>
              <a:buFont typeface="Spectral"/>
              <a:buNone/>
            </a:pPr>
            <a:r>
              <a:rPr b="1" i="0" lang="en-US" sz="1800" u="none" cap="none" strike="noStrike">
                <a:solidFill>
                  <a:srgbClr val="0D1B2A"/>
                </a:solidFill>
                <a:latin typeface="Spectral"/>
                <a:ea typeface="Spectral"/>
                <a:cs typeface="Spectral"/>
                <a:sym typeface="Spectral"/>
              </a:rPr>
              <a:t>Pair up — on purpose at Steps 1 + 4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11"/>
          <p:cNvSpPr/>
          <p:nvPr/>
        </p:nvSpPr>
        <p:spPr>
          <a:xfrm>
            <a:off x="6949440" y="2788920"/>
            <a:ext cx="4937760" cy="1280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02124"/>
              </a:buClr>
              <a:buSzPts val="1200"/>
              <a:buFont typeface="Lato"/>
              <a:buNone/>
            </a:pPr>
            <a:r>
              <a:rPr b="0" i="0" lang="en-US" sz="1200" u="none" cap="none" strike="noStrike">
                <a:solidFill>
                  <a:srgbClr val="202124"/>
                </a:solidFill>
                <a:latin typeface="Lato"/>
                <a:ea typeface="Lato"/>
                <a:cs typeface="Lato"/>
                <a:sym typeface="Lato"/>
              </a:rPr>
              <a:t xml:space="preserve">Steps 1 + 4 are designed for pair/group discussion. Find a neighbor now — demo-watchers and laptop-runners both contribute. </a:t>
            </a:r>
            <a:endParaRPr b="0" i="0" sz="1200" u="none" cap="none" strike="noStrike">
              <a:solidFill>
                <a:srgbClr val="202124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02124"/>
              </a:buClr>
              <a:buSzPts val="1200"/>
              <a:buFont typeface="Lato"/>
              <a:buNone/>
            </a:pPr>
            <a:r>
              <a:rPr b="0" i="0" lang="en-US" sz="1200" u="none" cap="none" strike="noStrike">
                <a:solidFill>
                  <a:srgbClr val="202124"/>
                </a:solidFill>
                <a:latin typeface="Lato"/>
                <a:ea typeface="Lato"/>
                <a:cs typeface="Lato"/>
                <a:sym typeface="Lato"/>
              </a:rPr>
              <a:t>If your setup didn’t finish, you’re a demo-watcher today. Your packet keeps you in the game.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48" name="Google Shape;248;p11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02920" y="4206240"/>
            <a:ext cx="548640" cy="548640"/>
          </a:xfrm>
          <a:prstGeom prst="rect">
            <a:avLst/>
          </a:prstGeom>
          <a:noFill/>
          <a:ln>
            <a:noFill/>
          </a:ln>
        </p:spPr>
      </p:pic>
      <p:sp>
        <p:nvSpPr>
          <p:cNvPr id="249" name="Google Shape;249;p11"/>
          <p:cNvSpPr/>
          <p:nvPr/>
        </p:nvSpPr>
        <p:spPr>
          <a:xfrm>
            <a:off x="1234440" y="4160520"/>
            <a:ext cx="49377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800"/>
              <a:buFont typeface="Spectral"/>
              <a:buNone/>
            </a:pPr>
            <a:r>
              <a:rPr b="1" i="0" lang="en-US" sz="1800" u="none" cap="none" strike="noStrike">
                <a:solidFill>
                  <a:srgbClr val="0D1B2A"/>
                </a:solidFill>
                <a:latin typeface="Spectral"/>
                <a:ea typeface="Spectral"/>
                <a:cs typeface="Spectral"/>
                <a:sym typeface="Spectral"/>
              </a:rPr>
              <a:t>Stop me when you're lost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11"/>
          <p:cNvSpPr/>
          <p:nvPr/>
        </p:nvSpPr>
        <p:spPr>
          <a:xfrm>
            <a:off x="1234440" y="4617720"/>
            <a:ext cx="4937760" cy="1280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02124"/>
              </a:buClr>
              <a:buSzPts val="1200"/>
              <a:buFont typeface="Lato"/>
              <a:buNone/>
            </a:pPr>
            <a:r>
              <a:rPr b="0" i="0" lang="en-US" sz="1200" u="none" cap="none" strike="noStrike">
                <a:solidFill>
                  <a:srgbClr val="202124"/>
                </a:solidFill>
                <a:latin typeface="Lato"/>
                <a:ea typeface="Lato"/>
                <a:cs typeface="Lato"/>
                <a:sym typeface="Lato"/>
              </a:rPr>
              <a:t>I'd rather lose a minute than lose a concept. Raise a hand.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51" name="Google Shape;251;p11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217920" y="4206240"/>
            <a:ext cx="548640" cy="548640"/>
          </a:xfrm>
          <a:prstGeom prst="rect">
            <a:avLst/>
          </a:prstGeom>
          <a:noFill/>
          <a:ln>
            <a:noFill/>
          </a:ln>
        </p:spPr>
      </p:pic>
      <p:sp>
        <p:nvSpPr>
          <p:cNvPr id="252" name="Google Shape;252;p11"/>
          <p:cNvSpPr/>
          <p:nvPr/>
        </p:nvSpPr>
        <p:spPr>
          <a:xfrm>
            <a:off x="6949440" y="4160520"/>
            <a:ext cx="49377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800"/>
              <a:buFont typeface="Spectral"/>
              <a:buNone/>
            </a:pPr>
            <a:r>
              <a:rPr b="1" i="0" lang="en-US" sz="1800" u="none" cap="none" strike="noStrike">
                <a:solidFill>
                  <a:srgbClr val="0D1B2A"/>
                </a:solidFill>
                <a:latin typeface="Spectral"/>
                <a:ea typeface="Spectral"/>
                <a:cs typeface="Spectral"/>
                <a:sym typeface="Spectral"/>
              </a:rPr>
              <a:t>The bug in step 4 is the point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11"/>
          <p:cNvSpPr/>
          <p:nvPr/>
        </p:nvSpPr>
        <p:spPr>
          <a:xfrm>
            <a:off x="6949440" y="4617720"/>
            <a:ext cx="4937760" cy="1280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02124"/>
              </a:buClr>
              <a:buSzPts val="1200"/>
              <a:buFont typeface="Lato"/>
              <a:buNone/>
            </a:pPr>
            <a:r>
              <a:rPr b="0" i="0" lang="en-US" sz="1200" u="none" cap="none" strike="noStrike">
                <a:solidFill>
                  <a:srgbClr val="202124"/>
                </a:solidFill>
                <a:latin typeface="Lato"/>
                <a:ea typeface="Lato"/>
                <a:cs typeface="Lato"/>
                <a:sym typeface="Lato"/>
              </a:rPr>
              <a:t>Don't peek at SOLUTION.md. The debugging IS the workshop.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54" name="Google Shape;254;p11" title="Gemini_Generated_Image_rbdzoirbdzoirbdz.png"/>
          <p:cNvPicPr preferRelativeResize="0"/>
          <p:nvPr/>
        </p:nvPicPr>
        <p:blipFill rotWithShape="1">
          <a:blip r:embed="rId9">
            <a:alphaModFix/>
          </a:blip>
          <a:srcRect b="33061" l="22742" r="28149" t="10923"/>
          <a:stretch/>
        </p:blipFill>
        <p:spPr>
          <a:xfrm>
            <a:off x="9885440" y="6291673"/>
            <a:ext cx="1727432" cy="492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12"/>
          <p:cNvSpPr/>
          <p:nvPr/>
        </p:nvSpPr>
        <p:spPr>
          <a:xfrm>
            <a:off x="9265615" y="457200"/>
            <a:ext cx="2286000" cy="36576"/>
          </a:xfrm>
          <a:prstGeom prst="rect">
            <a:avLst/>
          </a:prstGeom>
          <a:solidFill>
            <a:srgbClr val="326666"/>
          </a:solidFill>
          <a:ln cap="flat" cmpd="sng" w="12700">
            <a:solidFill>
              <a:srgbClr val="32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1" name="Google Shape;261;p12"/>
          <p:cNvSpPr/>
          <p:nvPr/>
        </p:nvSpPr>
        <p:spPr>
          <a:xfrm>
            <a:off x="9265615" y="548640"/>
            <a:ext cx="2286000" cy="18288"/>
          </a:xfrm>
          <a:prstGeom prst="rect">
            <a:avLst/>
          </a:prstGeom>
          <a:solidFill>
            <a:srgbClr val="326666"/>
          </a:solidFill>
          <a:ln cap="flat" cmpd="sng" w="12700">
            <a:solidFill>
              <a:srgbClr val="32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2" name="Google Shape;262;p12"/>
          <p:cNvSpPr/>
          <p:nvPr/>
        </p:nvSpPr>
        <p:spPr>
          <a:xfrm>
            <a:off x="502920" y="384048"/>
            <a:ext cx="914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300"/>
              <a:buFont typeface="Lato"/>
              <a:buNone/>
            </a:pPr>
            <a:r>
              <a:rPr b="1" i="0" lang="en-US" sz="1300" u="none" cap="none" strike="noStrike">
                <a:solidFill>
                  <a:srgbClr val="0D1B2A"/>
                </a:solidFill>
                <a:latin typeface="Lato"/>
                <a:ea typeface="Lato"/>
                <a:cs typeface="Lato"/>
                <a:sym typeface="Lato"/>
              </a:rPr>
              <a:t>02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12">
            <a:hlinkClick r:id="rId3"/>
          </p:cNvPr>
          <p:cNvSpPr/>
          <p:nvPr/>
        </p:nvSpPr>
        <p:spPr>
          <a:xfrm>
            <a:off x="502920" y="6446520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Lato"/>
              <a:buNone/>
            </a:pPr>
            <a:r>
              <a:rPr b="0" i="0" lang="en-US" sz="1000" u="sng" cap="none" strike="noStrike">
                <a:solidFill>
                  <a:schemeClr val="hlink"/>
                </a:solidFill>
                <a:latin typeface="Lato"/>
                <a:ea typeface="Lato"/>
                <a:cs typeface="Lato"/>
                <a:sym typeface="Lato"/>
                <a:hlinkClick r:id="rId4"/>
              </a:rPr>
              <a:t>www.arsinnovate.com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12"/>
          <p:cNvSpPr/>
          <p:nvPr/>
        </p:nvSpPr>
        <p:spPr>
          <a:xfrm>
            <a:off x="11551615" y="6400800"/>
            <a:ext cx="365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100"/>
              <a:buFont typeface="Lato"/>
              <a:buNone/>
            </a:pPr>
            <a:r>
              <a:rPr b="0" i="0" lang="en-US" sz="1100" u="none" cap="none" strike="noStrike">
                <a:solidFill>
                  <a:srgbClr val="595959"/>
                </a:solidFill>
                <a:latin typeface="Lato"/>
                <a:ea typeface="Lato"/>
                <a:cs typeface="Lato"/>
                <a:sym typeface="Lato"/>
              </a:rPr>
              <a:t>9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12"/>
          <p:cNvSpPr/>
          <p:nvPr/>
        </p:nvSpPr>
        <p:spPr>
          <a:xfrm>
            <a:off x="502920" y="2103120"/>
            <a:ext cx="4572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26666"/>
              </a:buClr>
              <a:buSzPts val="1600"/>
              <a:buFont typeface="Lato"/>
              <a:buNone/>
            </a:pPr>
            <a:r>
              <a:rPr b="1" i="0" lang="en-US" sz="1600" u="none" cap="none" strike="noStrike">
                <a:solidFill>
                  <a:srgbClr val="326666"/>
                </a:solidFill>
                <a:latin typeface="Lato"/>
                <a:ea typeface="Lato"/>
                <a:cs typeface="Lato"/>
                <a:sym typeface="Lato"/>
              </a:rPr>
              <a:t>STEP 1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12"/>
          <p:cNvSpPr/>
          <p:nvPr/>
        </p:nvSpPr>
        <p:spPr>
          <a:xfrm>
            <a:off x="502920" y="2606040"/>
            <a:ext cx="1097280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6400"/>
              <a:buFont typeface="Spectral"/>
              <a:buNone/>
            </a:pPr>
            <a:r>
              <a:rPr b="1" i="0" lang="en-US" sz="6400" u="none" cap="none" strike="noStrike">
                <a:solidFill>
                  <a:srgbClr val="0D1B2A"/>
                </a:solidFill>
                <a:latin typeface="Spectral"/>
                <a:ea typeface="Spectral"/>
                <a:cs typeface="Spectral"/>
                <a:sym typeface="Spectral"/>
              </a:rPr>
              <a:t>Minimal RAG</a:t>
            </a:r>
            <a:endParaRPr b="0" i="0" sz="6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12"/>
          <p:cNvSpPr/>
          <p:nvPr/>
        </p:nvSpPr>
        <p:spPr>
          <a:xfrm>
            <a:off x="502920" y="3931920"/>
            <a:ext cx="109728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759"/>
              </a:buClr>
              <a:buSzPts val="2000"/>
              <a:buFont typeface="Spectral"/>
              <a:buNone/>
            </a:pPr>
            <a:r>
              <a:rPr b="0" i="1" lang="en-US" sz="2000" u="none" cap="none" strike="noStrike">
                <a:solidFill>
                  <a:srgbClr val="4A5759"/>
                </a:solidFill>
                <a:latin typeface="Spectral"/>
                <a:ea typeface="Spectral"/>
                <a:cs typeface="Spectral"/>
                <a:sym typeface="Spectral"/>
              </a:rPr>
              <a:t>80 lines. Load → chunk → embed → retrieve → generate. Works. Also, a black box.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p12"/>
          <p:cNvSpPr/>
          <p:nvPr/>
        </p:nvSpPr>
        <p:spPr>
          <a:xfrm>
            <a:off x="502920" y="4846320"/>
            <a:ext cx="3675888" cy="594360"/>
          </a:xfrm>
          <a:prstGeom prst="rect">
            <a:avLst/>
          </a:prstGeom>
          <a:solidFill>
            <a:srgbClr val="F4F2EE"/>
          </a:solidFill>
          <a:ln cap="flat" cmpd="sng" w="12700">
            <a:solidFill>
              <a:srgbClr val="32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9" name="Google Shape;269;p12"/>
          <p:cNvSpPr/>
          <p:nvPr/>
        </p:nvSpPr>
        <p:spPr>
          <a:xfrm>
            <a:off x="502920" y="4846320"/>
            <a:ext cx="3675888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26666"/>
              </a:buClr>
              <a:buSzPts val="1600"/>
              <a:buFont typeface="Courier New"/>
              <a:buNone/>
            </a:pPr>
            <a:r>
              <a:rPr b="1" i="0" lang="en-US" sz="1600" u="none" cap="none" strike="noStrike">
                <a:solidFill>
                  <a:srgbClr val="326666"/>
                </a:solidFill>
                <a:latin typeface="Courier New"/>
                <a:ea typeface="Courier New"/>
                <a:cs typeface="Courier New"/>
                <a:sym typeface="Courier New"/>
              </a:rPr>
              <a:t>python step1_rag/rag.py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12"/>
          <p:cNvSpPr/>
          <p:nvPr/>
        </p:nvSpPr>
        <p:spPr>
          <a:xfrm>
            <a:off x="502920" y="5623560"/>
            <a:ext cx="10972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300"/>
              <a:buFont typeface="Lato"/>
              <a:buNone/>
            </a:pPr>
            <a:r>
              <a:rPr b="0" i="1" lang="en-US" sz="1300" u="none" cap="none" strike="noStrike">
                <a:solidFill>
                  <a:srgbClr val="595959"/>
                </a:solidFill>
                <a:latin typeface="Lato"/>
                <a:ea typeface="Lato"/>
                <a:cs typeface="Lato"/>
                <a:sym typeface="Lato"/>
              </a:rPr>
              <a:t>15 min · talk through it, type together, run it, discuss the answers.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71" name="Google Shape;271;p12" title="Gemini_Generated_Image_rbdzoirbdzoirbdz.png"/>
          <p:cNvPicPr preferRelativeResize="0"/>
          <p:nvPr/>
        </p:nvPicPr>
        <p:blipFill rotWithShape="1">
          <a:blip r:embed="rId5">
            <a:alphaModFix/>
          </a:blip>
          <a:srcRect b="33061" l="22742" r="28149" t="10923"/>
          <a:stretch/>
        </p:blipFill>
        <p:spPr>
          <a:xfrm>
            <a:off x="9885440" y="6291673"/>
            <a:ext cx="1727432" cy="492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13"/>
          <p:cNvSpPr/>
          <p:nvPr/>
        </p:nvSpPr>
        <p:spPr>
          <a:xfrm>
            <a:off x="9265615" y="457200"/>
            <a:ext cx="2286000" cy="36576"/>
          </a:xfrm>
          <a:prstGeom prst="rect">
            <a:avLst/>
          </a:prstGeom>
          <a:solidFill>
            <a:srgbClr val="326666"/>
          </a:solidFill>
          <a:ln cap="flat" cmpd="sng" w="12700">
            <a:solidFill>
              <a:srgbClr val="32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8" name="Google Shape;278;p13"/>
          <p:cNvSpPr/>
          <p:nvPr/>
        </p:nvSpPr>
        <p:spPr>
          <a:xfrm>
            <a:off x="9265615" y="548640"/>
            <a:ext cx="2286000" cy="18288"/>
          </a:xfrm>
          <a:prstGeom prst="rect">
            <a:avLst/>
          </a:prstGeom>
          <a:solidFill>
            <a:srgbClr val="326666"/>
          </a:solidFill>
          <a:ln cap="flat" cmpd="sng" w="12700">
            <a:solidFill>
              <a:srgbClr val="32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9" name="Google Shape;279;p13"/>
          <p:cNvSpPr/>
          <p:nvPr/>
        </p:nvSpPr>
        <p:spPr>
          <a:xfrm>
            <a:off x="502920" y="384048"/>
            <a:ext cx="914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300"/>
              <a:buFont typeface="Lato"/>
              <a:buNone/>
            </a:pPr>
            <a:r>
              <a:rPr b="1" i="0" lang="en-US" sz="1300" u="none" cap="none" strike="noStrike">
                <a:solidFill>
                  <a:srgbClr val="0D1B2A"/>
                </a:solidFill>
                <a:latin typeface="Lato"/>
                <a:ea typeface="Lato"/>
                <a:cs typeface="Lato"/>
                <a:sym typeface="Lato"/>
              </a:rPr>
              <a:t>02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p13">
            <a:hlinkClick r:id="rId3"/>
          </p:cNvPr>
          <p:cNvSpPr/>
          <p:nvPr/>
        </p:nvSpPr>
        <p:spPr>
          <a:xfrm>
            <a:off x="502920" y="6446520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Lato"/>
              <a:buNone/>
            </a:pPr>
            <a:r>
              <a:rPr b="0" i="0" lang="en-US" sz="1000" u="sng" cap="none" strike="noStrike">
                <a:solidFill>
                  <a:schemeClr val="hlink"/>
                </a:solidFill>
                <a:latin typeface="Lato"/>
                <a:ea typeface="Lato"/>
                <a:cs typeface="Lato"/>
                <a:sym typeface="Lato"/>
                <a:hlinkClick r:id="rId4"/>
              </a:rPr>
              <a:t>www.arsinnovate.com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p13"/>
          <p:cNvSpPr/>
          <p:nvPr/>
        </p:nvSpPr>
        <p:spPr>
          <a:xfrm>
            <a:off x="11551615" y="6400800"/>
            <a:ext cx="365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100"/>
              <a:buFont typeface="Lato"/>
              <a:buNone/>
            </a:pPr>
            <a:r>
              <a:rPr b="0" i="0" lang="en-US" sz="1100" u="none" cap="none" strike="noStrike">
                <a:solidFill>
                  <a:srgbClr val="595959"/>
                </a:solidFill>
                <a:latin typeface="Lato"/>
                <a:ea typeface="Lato"/>
                <a:cs typeface="Lato"/>
                <a:sym typeface="Lato"/>
              </a:rPr>
              <a:t>10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p13"/>
          <p:cNvSpPr/>
          <p:nvPr/>
        </p:nvSpPr>
        <p:spPr>
          <a:xfrm>
            <a:off x="502920" y="868680"/>
            <a:ext cx="11185855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26666"/>
              </a:buClr>
              <a:buSzPts val="1100"/>
              <a:buFont typeface="Lato"/>
              <a:buNone/>
            </a:pPr>
            <a:r>
              <a:rPr b="1" i="0" lang="en-US" sz="1100" u="none" cap="none" strike="noStrike">
                <a:solidFill>
                  <a:srgbClr val="326666"/>
                </a:solidFill>
                <a:latin typeface="Lato"/>
                <a:ea typeface="Lato"/>
                <a:cs typeface="Lato"/>
                <a:sym typeface="Lato"/>
              </a:rPr>
              <a:t>STEP 1 · WHAT TO NOTICE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p13"/>
          <p:cNvSpPr/>
          <p:nvPr/>
        </p:nvSpPr>
        <p:spPr>
          <a:xfrm>
            <a:off x="502920" y="1234440"/>
            <a:ext cx="11185855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4000"/>
              <a:buFont typeface="Spectral"/>
              <a:buNone/>
            </a:pPr>
            <a:r>
              <a:rPr b="1" i="0" lang="en-US" sz="4000" u="none" cap="none" strike="noStrike">
                <a:solidFill>
                  <a:srgbClr val="0D1B2A"/>
                </a:solidFill>
                <a:latin typeface="Spectral"/>
                <a:ea typeface="Spectral"/>
                <a:cs typeface="Spectral"/>
                <a:sym typeface="Spectral"/>
              </a:rPr>
              <a:t>It works. Now ask: what can't you answer?</a:t>
            </a:r>
            <a:endParaRPr b="0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p13"/>
          <p:cNvSpPr/>
          <p:nvPr/>
        </p:nvSpPr>
        <p:spPr>
          <a:xfrm>
            <a:off x="502920" y="2331720"/>
            <a:ext cx="5760720" cy="3840480"/>
          </a:xfrm>
          <a:prstGeom prst="rect">
            <a:avLst/>
          </a:prstGeom>
          <a:solidFill>
            <a:srgbClr val="F4F2EE"/>
          </a:solidFill>
          <a:ln cap="flat" cmpd="sng" w="12700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5" name="Google Shape;285;p13"/>
          <p:cNvSpPr/>
          <p:nvPr/>
        </p:nvSpPr>
        <p:spPr>
          <a:xfrm>
            <a:off x="685800" y="2423160"/>
            <a:ext cx="5486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26666"/>
              </a:buClr>
              <a:buSzPts val="1200"/>
              <a:buFont typeface="Lato"/>
              <a:buNone/>
            </a:pPr>
            <a:r>
              <a:rPr b="1" i="1" lang="en-US" sz="1200" u="none" cap="none" strike="noStrike">
                <a:solidFill>
                  <a:srgbClr val="326666"/>
                </a:solidFill>
                <a:latin typeface="Lato"/>
                <a:ea typeface="Lato"/>
                <a:cs typeface="Lato"/>
                <a:sym typeface="Lato"/>
              </a:rPr>
              <a:t>rag.py · the five stages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" name="Google Shape;286;p13"/>
          <p:cNvSpPr/>
          <p:nvPr/>
        </p:nvSpPr>
        <p:spPr>
          <a:xfrm>
            <a:off x="685800" y="2788920"/>
            <a:ext cx="5486400" cy="3383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200"/>
              <a:buFont typeface="Courier New"/>
              <a:buNone/>
            </a:pPr>
            <a:r>
              <a:rPr b="1" i="0" lang="en-US" sz="1200" u="none" cap="none" strike="noStrike">
                <a:solidFill>
                  <a:srgbClr val="0D1B2A"/>
                </a:solidFill>
                <a:latin typeface="Courier New"/>
                <a:ea typeface="Courier New"/>
                <a:cs typeface="Courier New"/>
                <a:sym typeface="Courier New"/>
              </a:rPr>
              <a:t>load_documents()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759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4A5759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 read *.md from sample_docs/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Courier New"/>
              <a:buNone/>
            </a:pPr>
            <a:r>
              <a:rPr b="0" i="0" lang="en-US" sz="6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200"/>
              <a:buFont typeface="Courier New"/>
              <a:buNone/>
            </a:pPr>
            <a:r>
              <a:rPr b="1" i="0" lang="en-US" sz="1200" u="none" cap="none" strike="noStrike">
                <a:solidFill>
                  <a:srgbClr val="0D1B2A"/>
                </a:solidFill>
                <a:latin typeface="Courier New"/>
                <a:ea typeface="Courier New"/>
                <a:cs typeface="Courier New"/>
                <a:sym typeface="Courier New"/>
              </a:rPr>
              <a:t>chunk_documents()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759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4A5759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 500-char chunks, 50 overlap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Courier New"/>
              <a:buNone/>
            </a:pPr>
            <a:r>
              <a:rPr b="0" i="0" lang="en-US" sz="6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200"/>
              <a:buFont typeface="Courier New"/>
              <a:buNone/>
            </a:pPr>
            <a:r>
              <a:rPr b="1" i="0" lang="en-US" sz="1200" u="none" cap="none" strike="noStrike">
                <a:solidFill>
                  <a:srgbClr val="0D1B2A"/>
                </a:solidFill>
                <a:latin typeface="Courier New"/>
                <a:ea typeface="Courier New"/>
                <a:cs typeface="Courier New"/>
                <a:sym typeface="Courier New"/>
              </a:rPr>
              <a:t>embed_text(text)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759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4A5759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 ollama.embeddings(all-minilm, ...)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Courier New"/>
              <a:buNone/>
            </a:pPr>
            <a:r>
              <a:rPr b="0" i="0" lang="en-US" sz="6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200"/>
              <a:buFont typeface="Courier New"/>
              <a:buNone/>
            </a:pPr>
            <a:r>
              <a:rPr b="1" i="0" lang="en-US" sz="1200" u="none" cap="none" strike="noStrike">
                <a:solidFill>
                  <a:srgbClr val="0D1B2A"/>
                </a:solidFill>
                <a:latin typeface="Courier New"/>
                <a:ea typeface="Courier New"/>
                <a:cs typeface="Courier New"/>
                <a:sym typeface="Courier New"/>
              </a:rPr>
              <a:t>retrieve(coll, query, k=3)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759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4A5759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 chroma top-k nearest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Courier New"/>
              <a:buNone/>
            </a:pPr>
            <a:r>
              <a:rPr b="0" i="0" lang="en-US" sz="6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200"/>
              <a:buFont typeface="Courier New"/>
              <a:buNone/>
            </a:pPr>
            <a:r>
              <a:rPr b="1" i="0" lang="en-US" sz="1200" u="none" cap="none" strike="noStrike">
                <a:solidFill>
                  <a:srgbClr val="0D1B2A"/>
                </a:solidFill>
                <a:latin typeface="Courier New"/>
                <a:ea typeface="Courier New"/>
                <a:cs typeface="Courier New"/>
                <a:sym typeface="Courier New"/>
              </a:rPr>
              <a:t>generate_answer(query, chunks)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759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4A5759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 ollama.generate(llama3.2:1b, ...)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" name="Google Shape;287;p13"/>
          <p:cNvSpPr/>
          <p:nvPr/>
        </p:nvSpPr>
        <p:spPr>
          <a:xfrm>
            <a:off x="6675120" y="2377440"/>
            <a:ext cx="51206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26666"/>
              </a:buClr>
              <a:buSzPts val="1400"/>
              <a:buFont typeface="Lato"/>
              <a:buNone/>
            </a:pPr>
            <a:r>
              <a:rPr b="1" i="0" lang="en-US" sz="1400" u="none" cap="none" strike="noStrike">
                <a:solidFill>
                  <a:srgbClr val="326666"/>
                </a:solidFill>
                <a:latin typeface="Lato"/>
                <a:ea typeface="Lato"/>
                <a:cs typeface="Lato"/>
                <a:sym typeface="Lato"/>
              </a:rPr>
              <a:t>Right now you cannot answer: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88" name="Google Shape;288;p1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675120" y="2926080"/>
            <a:ext cx="320040" cy="320040"/>
          </a:xfrm>
          <a:prstGeom prst="rect">
            <a:avLst/>
          </a:prstGeom>
          <a:noFill/>
          <a:ln>
            <a:noFill/>
          </a:ln>
        </p:spPr>
      </p:pic>
      <p:sp>
        <p:nvSpPr>
          <p:cNvPr id="289" name="Google Shape;289;p13"/>
          <p:cNvSpPr/>
          <p:nvPr/>
        </p:nvSpPr>
        <p:spPr>
          <a:xfrm>
            <a:off x="7132320" y="2880360"/>
            <a:ext cx="46634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500"/>
              <a:buFont typeface="Spectral"/>
              <a:buNone/>
            </a:pPr>
            <a:r>
              <a:rPr b="0" i="0" lang="en-US" sz="1500" u="none" cap="none" strike="noStrike">
                <a:solidFill>
                  <a:srgbClr val="0D1B2A"/>
                </a:solidFill>
                <a:latin typeface="Spectral"/>
                <a:ea typeface="Spectral"/>
                <a:cs typeface="Spectral"/>
                <a:sym typeface="Spectral"/>
              </a:rPr>
              <a:t>Which chunks were retrieved?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90" name="Google Shape;290;p1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675120" y="3657600"/>
            <a:ext cx="320040" cy="320040"/>
          </a:xfrm>
          <a:prstGeom prst="rect">
            <a:avLst/>
          </a:prstGeom>
          <a:noFill/>
          <a:ln>
            <a:noFill/>
          </a:ln>
        </p:spPr>
      </p:pic>
      <p:sp>
        <p:nvSpPr>
          <p:cNvPr id="291" name="Google Shape;291;p13"/>
          <p:cNvSpPr/>
          <p:nvPr/>
        </p:nvSpPr>
        <p:spPr>
          <a:xfrm>
            <a:off x="7132320" y="3611880"/>
            <a:ext cx="46634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500"/>
              <a:buFont typeface="Spectral"/>
              <a:buNone/>
            </a:pPr>
            <a:r>
              <a:rPr b="0" i="0" lang="en-US" sz="1500" u="none" cap="none" strike="noStrike">
                <a:solidFill>
                  <a:srgbClr val="0D1B2A"/>
                </a:solidFill>
                <a:latin typeface="Spectral"/>
                <a:ea typeface="Spectral"/>
                <a:cs typeface="Spectral"/>
                <a:sym typeface="Spectral"/>
              </a:rPr>
              <a:t>How many tokens did that answer cost?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92" name="Google Shape;292;p1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675120" y="4389120"/>
            <a:ext cx="320040" cy="320040"/>
          </a:xfrm>
          <a:prstGeom prst="rect">
            <a:avLst/>
          </a:prstGeom>
          <a:noFill/>
          <a:ln>
            <a:noFill/>
          </a:ln>
        </p:spPr>
      </p:pic>
      <p:sp>
        <p:nvSpPr>
          <p:cNvPr id="293" name="Google Shape;293;p13"/>
          <p:cNvSpPr/>
          <p:nvPr/>
        </p:nvSpPr>
        <p:spPr>
          <a:xfrm>
            <a:off x="7132320" y="4343400"/>
            <a:ext cx="46634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500"/>
              <a:buFont typeface="Spectral"/>
              <a:buNone/>
            </a:pPr>
            <a:r>
              <a:rPr b="0" i="0" lang="en-US" sz="1500" u="none" cap="none" strike="noStrike">
                <a:solidFill>
                  <a:srgbClr val="0D1B2A"/>
                </a:solidFill>
                <a:latin typeface="Spectral"/>
                <a:ea typeface="Spectral"/>
                <a:cs typeface="Spectral"/>
                <a:sym typeface="Spectral"/>
              </a:rPr>
              <a:t>How long did each stage take?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94" name="Google Shape;294;p1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675120" y="5120640"/>
            <a:ext cx="320040" cy="320040"/>
          </a:xfrm>
          <a:prstGeom prst="rect">
            <a:avLst/>
          </a:prstGeom>
          <a:noFill/>
          <a:ln>
            <a:noFill/>
          </a:ln>
        </p:spPr>
      </p:pic>
      <p:sp>
        <p:nvSpPr>
          <p:cNvPr id="295" name="Google Shape;295;p13"/>
          <p:cNvSpPr/>
          <p:nvPr/>
        </p:nvSpPr>
        <p:spPr>
          <a:xfrm>
            <a:off x="7132320" y="5074920"/>
            <a:ext cx="46634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500"/>
              <a:buFont typeface="Spectral"/>
              <a:buNone/>
            </a:pPr>
            <a:r>
              <a:rPr b="0" i="0" lang="en-US" sz="1500" u="none" cap="none" strike="noStrike">
                <a:solidFill>
                  <a:srgbClr val="0D1B2A"/>
                </a:solidFill>
                <a:latin typeface="Spectral"/>
                <a:ea typeface="Spectral"/>
                <a:cs typeface="Spectral"/>
                <a:sym typeface="Spectral"/>
              </a:rPr>
              <a:t>Did the LLM actually follow the prompt?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6" name="Google Shape;296;p13"/>
          <p:cNvSpPr/>
          <p:nvPr/>
        </p:nvSpPr>
        <p:spPr>
          <a:xfrm>
            <a:off x="6675120" y="5943600"/>
            <a:ext cx="51206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26666"/>
              </a:buClr>
              <a:buSzPts val="1300"/>
              <a:buFont typeface="Spectral"/>
              <a:buNone/>
            </a:pPr>
            <a:r>
              <a:rPr b="1" i="1" lang="en-US" sz="1300" u="none" cap="none" strike="noStrike">
                <a:solidFill>
                  <a:srgbClr val="326666"/>
                </a:solidFill>
                <a:latin typeface="Spectral"/>
                <a:ea typeface="Spectral"/>
                <a:cs typeface="Spectral"/>
                <a:sym typeface="Spectral"/>
              </a:rPr>
              <a:t>That's what step 2 fixes.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97" name="Google Shape;297;p13" title="Gemini_Generated_Image_rbdzoirbdzoirbdz.png"/>
          <p:cNvPicPr preferRelativeResize="0"/>
          <p:nvPr/>
        </p:nvPicPr>
        <p:blipFill rotWithShape="1">
          <a:blip r:embed="rId6">
            <a:alphaModFix/>
          </a:blip>
          <a:srcRect b="33061" l="22742" r="28149" t="10923"/>
          <a:stretch/>
        </p:blipFill>
        <p:spPr>
          <a:xfrm>
            <a:off x="9885440" y="6291673"/>
            <a:ext cx="1727432" cy="492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14"/>
          <p:cNvSpPr/>
          <p:nvPr/>
        </p:nvSpPr>
        <p:spPr>
          <a:xfrm>
            <a:off x="9265615" y="457200"/>
            <a:ext cx="2286000" cy="36576"/>
          </a:xfrm>
          <a:prstGeom prst="rect">
            <a:avLst/>
          </a:prstGeom>
          <a:solidFill>
            <a:srgbClr val="326666"/>
          </a:solidFill>
          <a:ln cap="flat" cmpd="sng" w="12700">
            <a:solidFill>
              <a:srgbClr val="32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4" name="Google Shape;304;p14"/>
          <p:cNvSpPr/>
          <p:nvPr/>
        </p:nvSpPr>
        <p:spPr>
          <a:xfrm>
            <a:off x="9265615" y="548640"/>
            <a:ext cx="2286000" cy="18288"/>
          </a:xfrm>
          <a:prstGeom prst="rect">
            <a:avLst/>
          </a:prstGeom>
          <a:solidFill>
            <a:srgbClr val="326666"/>
          </a:solidFill>
          <a:ln cap="flat" cmpd="sng" w="12700">
            <a:solidFill>
              <a:srgbClr val="32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5" name="Google Shape;305;p14"/>
          <p:cNvSpPr/>
          <p:nvPr/>
        </p:nvSpPr>
        <p:spPr>
          <a:xfrm>
            <a:off x="502920" y="384048"/>
            <a:ext cx="914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300"/>
              <a:buFont typeface="Lato"/>
              <a:buNone/>
            </a:pPr>
            <a:r>
              <a:rPr b="1" i="0" lang="en-US" sz="1300" u="none" cap="none" strike="noStrike">
                <a:solidFill>
                  <a:srgbClr val="0D1B2A"/>
                </a:solidFill>
                <a:latin typeface="Lato"/>
                <a:ea typeface="Lato"/>
                <a:cs typeface="Lato"/>
                <a:sym typeface="Lato"/>
              </a:rPr>
              <a:t>03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6" name="Google Shape;306;p14">
            <a:hlinkClick r:id="rId3"/>
          </p:cNvPr>
          <p:cNvSpPr/>
          <p:nvPr/>
        </p:nvSpPr>
        <p:spPr>
          <a:xfrm>
            <a:off x="502920" y="6446520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Lato"/>
              <a:buNone/>
            </a:pPr>
            <a:r>
              <a:rPr b="0" i="0" lang="en-US" sz="1000" u="sng" cap="none" strike="noStrike">
                <a:solidFill>
                  <a:schemeClr val="hlink"/>
                </a:solidFill>
                <a:latin typeface="Lato"/>
                <a:ea typeface="Lato"/>
                <a:cs typeface="Lato"/>
                <a:sym typeface="Lato"/>
                <a:hlinkClick r:id="rId4"/>
              </a:rPr>
              <a:t>www.arsinnovate.com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7" name="Google Shape;307;p14"/>
          <p:cNvSpPr/>
          <p:nvPr/>
        </p:nvSpPr>
        <p:spPr>
          <a:xfrm>
            <a:off x="11551615" y="6400800"/>
            <a:ext cx="365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100"/>
              <a:buFont typeface="Lato"/>
              <a:buNone/>
            </a:pPr>
            <a:r>
              <a:rPr b="0" i="0" lang="en-US" sz="1100" u="none" cap="none" strike="noStrike">
                <a:solidFill>
                  <a:srgbClr val="595959"/>
                </a:solidFill>
                <a:latin typeface="Lato"/>
                <a:ea typeface="Lato"/>
                <a:cs typeface="Lato"/>
                <a:sym typeface="Lato"/>
              </a:rPr>
              <a:t>11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8" name="Google Shape;308;p14"/>
          <p:cNvSpPr/>
          <p:nvPr/>
        </p:nvSpPr>
        <p:spPr>
          <a:xfrm>
            <a:off x="502920" y="2103120"/>
            <a:ext cx="4572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26666"/>
              </a:buClr>
              <a:buSzPts val="1600"/>
              <a:buFont typeface="Lato"/>
              <a:buNone/>
            </a:pPr>
            <a:r>
              <a:rPr b="1" i="0" lang="en-US" sz="1600" u="none" cap="none" strike="noStrike">
                <a:solidFill>
                  <a:srgbClr val="326666"/>
                </a:solidFill>
                <a:latin typeface="Lato"/>
                <a:ea typeface="Lato"/>
                <a:cs typeface="Lato"/>
                <a:sym typeface="Lato"/>
              </a:rPr>
              <a:t>STEP 2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9" name="Google Shape;309;p14"/>
          <p:cNvSpPr/>
          <p:nvPr/>
        </p:nvSpPr>
        <p:spPr>
          <a:xfrm>
            <a:off x="502920" y="2606040"/>
            <a:ext cx="1097280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6400"/>
              <a:buFont typeface="Spectral"/>
              <a:buNone/>
            </a:pPr>
            <a:r>
              <a:rPr b="1" i="0" lang="en-US" sz="6400" u="none" cap="none" strike="noStrike">
                <a:solidFill>
                  <a:srgbClr val="0D1B2A"/>
                </a:solidFill>
                <a:latin typeface="Spectral"/>
                <a:ea typeface="Spectral"/>
                <a:cs typeface="Spectral"/>
                <a:sym typeface="Spectral"/>
              </a:rPr>
              <a:t>Add Langfuse</a:t>
            </a:r>
            <a:endParaRPr b="0" i="0" sz="6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0" name="Google Shape;310;p14"/>
          <p:cNvSpPr/>
          <p:nvPr/>
        </p:nvSpPr>
        <p:spPr>
          <a:xfrm>
            <a:off x="502920" y="3931920"/>
            <a:ext cx="109728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759"/>
              </a:buClr>
              <a:buSzPts val="2000"/>
              <a:buFont typeface="Spectral"/>
              <a:buNone/>
            </a:pPr>
            <a:r>
              <a:rPr b="0" i="1" lang="en-US" sz="2000" u="none" cap="none" strike="noStrike">
                <a:solidFill>
                  <a:srgbClr val="4A5759"/>
                </a:solidFill>
                <a:latin typeface="Spectral"/>
                <a:ea typeface="Spectral"/>
                <a:cs typeface="Spectral"/>
                <a:sym typeface="Spectral"/>
              </a:rPr>
              <a:t>One import, one decorator per stage. Every trace visible at localhost:3000.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1" name="Google Shape;311;p14"/>
          <p:cNvSpPr/>
          <p:nvPr/>
        </p:nvSpPr>
        <p:spPr>
          <a:xfrm>
            <a:off x="502920" y="4846320"/>
            <a:ext cx="2011680" cy="594360"/>
          </a:xfrm>
          <a:prstGeom prst="rect">
            <a:avLst/>
          </a:prstGeom>
          <a:solidFill>
            <a:srgbClr val="F4F2EE"/>
          </a:solidFill>
          <a:ln cap="flat" cmpd="sng" w="12700">
            <a:solidFill>
              <a:srgbClr val="32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2" name="Google Shape;312;p14"/>
          <p:cNvSpPr/>
          <p:nvPr/>
        </p:nvSpPr>
        <p:spPr>
          <a:xfrm>
            <a:off x="502920" y="4846320"/>
            <a:ext cx="201168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26666"/>
              </a:buClr>
              <a:buSzPts val="1600"/>
              <a:buFont typeface="Courier New"/>
              <a:buNone/>
            </a:pPr>
            <a:r>
              <a:rPr b="1" i="0" lang="en-US" sz="1600" u="none" cap="none" strike="noStrike">
                <a:solidFill>
                  <a:srgbClr val="326666"/>
                </a:solidFill>
                <a:latin typeface="Courier New"/>
                <a:ea typeface="Courier New"/>
                <a:cs typeface="Courier New"/>
                <a:sym typeface="Courier New"/>
              </a:rPr>
              <a:t>@observe()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3" name="Google Shape;313;p14"/>
          <p:cNvSpPr/>
          <p:nvPr/>
        </p:nvSpPr>
        <p:spPr>
          <a:xfrm>
            <a:off x="2697480" y="4846320"/>
            <a:ext cx="4572000" cy="594360"/>
          </a:xfrm>
          <a:prstGeom prst="rect">
            <a:avLst/>
          </a:prstGeom>
          <a:solidFill>
            <a:srgbClr val="F4F2EE"/>
          </a:solidFill>
          <a:ln cap="flat" cmpd="sng" w="12700">
            <a:solidFill>
              <a:srgbClr val="32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4" name="Google Shape;314;p14"/>
          <p:cNvSpPr/>
          <p:nvPr/>
        </p:nvSpPr>
        <p:spPr>
          <a:xfrm>
            <a:off x="2697480" y="4846320"/>
            <a:ext cx="45720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26666"/>
              </a:buClr>
              <a:buSzPts val="1600"/>
              <a:buFont typeface="Courier New"/>
              <a:buNone/>
            </a:pPr>
            <a:r>
              <a:rPr b="1" i="0" lang="en-US" sz="1600" u="none" cap="none" strike="noStrike">
                <a:solidFill>
                  <a:srgbClr val="326666"/>
                </a:solidFill>
                <a:latin typeface="Courier New"/>
                <a:ea typeface="Courier New"/>
                <a:cs typeface="Courier New"/>
                <a:sym typeface="Courier New"/>
              </a:rPr>
              <a:t>@observe(as_type="generation")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5" name="Google Shape;315;p14"/>
          <p:cNvSpPr/>
          <p:nvPr/>
        </p:nvSpPr>
        <p:spPr>
          <a:xfrm>
            <a:off x="502920" y="5623560"/>
            <a:ext cx="10972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300"/>
              <a:buFont typeface="Lato"/>
              <a:buNone/>
            </a:pPr>
            <a:r>
              <a:rPr b="0" i="1" lang="en-US" sz="1300" u="none" cap="none" strike="noStrike">
                <a:solidFill>
                  <a:srgbClr val="595959"/>
                </a:solidFill>
                <a:latin typeface="Lato"/>
                <a:ea typeface="Lato"/>
                <a:cs typeface="Lato"/>
                <a:sym typeface="Lato"/>
              </a:rPr>
              <a:t>20 min · the wow moment. Tour the UI together.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16" name="Google Shape;316;p14" title="Gemini_Generated_Image_rbdzoirbdzoirbdz.png"/>
          <p:cNvPicPr preferRelativeResize="0"/>
          <p:nvPr/>
        </p:nvPicPr>
        <p:blipFill rotWithShape="1">
          <a:blip r:embed="rId5">
            <a:alphaModFix/>
          </a:blip>
          <a:srcRect b="33061" l="22742" r="28149" t="10923"/>
          <a:stretch/>
        </p:blipFill>
        <p:spPr>
          <a:xfrm>
            <a:off x="9885440" y="6291673"/>
            <a:ext cx="1727432" cy="492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2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p15"/>
          <p:cNvSpPr/>
          <p:nvPr/>
        </p:nvSpPr>
        <p:spPr>
          <a:xfrm>
            <a:off x="9265615" y="457200"/>
            <a:ext cx="2286000" cy="36576"/>
          </a:xfrm>
          <a:prstGeom prst="rect">
            <a:avLst/>
          </a:prstGeom>
          <a:solidFill>
            <a:srgbClr val="326666"/>
          </a:solidFill>
          <a:ln cap="flat" cmpd="sng" w="12700">
            <a:solidFill>
              <a:srgbClr val="32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3" name="Google Shape;323;p15"/>
          <p:cNvSpPr/>
          <p:nvPr/>
        </p:nvSpPr>
        <p:spPr>
          <a:xfrm>
            <a:off x="9265615" y="548640"/>
            <a:ext cx="2286000" cy="18288"/>
          </a:xfrm>
          <a:prstGeom prst="rect">
            <a:avLst/>
          </a:prstGeom>
          <a:solidFill>
            <a:srgbClr val="326666"/>
          </a:solidFill>
          <a:ln cap="flat" cmpd="sng" w="12700">
            <a:solidFill>
              <a:srgbClr val="32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4" name="Google Shape;324;p15"/>
          <p:cNvSpPr/>
          <p:nvPr/>
        </p:nvSpPr>
        <p:spPr>
          <a:xfrm>
            <a:off x="502920" y="384048"/>
            <a:ext cx="914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300"/>
              <a:buFont typeface="Lato"/>
              <a:buNone/>
            </a:pPr>
            <a:r>
              <a:rPr b="1" i="0" lang="en-US" sz="1300" u="none" cap="none" strike="noStrike">
                <a:solidFill>
                  <a:srgbClr val="0D1B2A"/>
                </a:solidFill>
                <a:latin typeface="Lato"/>
                <a:ea typeface="Lato"/>
                <a:cs typeface="Lato"/>
                <a:sym typeface="Lato"/>
              </a:rPr>
              <a:t>02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5" name="Google Shape;325;p15">
            <a:hlinkClick r:id="rId3"/>
          </p:cNvPr>
          <p:cNvSpPr/>
          <p:nvPr/>
        </p:nvSpPr>
        <p:spPr>
          <a:xfrm>
            <a:off x="502920" y="6446520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Lato"/>
              <a:buNone/>
            </a:pPr>
            <a:r>
              <a:rPr b="0" i="0" lang="en-US" sz="1000" u="sng" cap="none" strike="noStrike">
                <a:solidFill>
                  <a:schemeClr val="hlink"/>
                </a:solidFill>
                <a:latin typeface="Lato"/>
                <a:ea typeface="Lato"/>
                <a:cs typeface="Lato"/>
                <a:sym typeface="Lato"/>
                <a:hlinkClick r:id="rId4"/>
              </a:rPr>
              <a:t>www.arsinnovate.com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6" name="Google Shape;326;p15"/>
          <p:cNvSpPr/>
          <p:nvPr/>
        </p:nvSpPr>
        <p:spPr>
          <a:xfrm>
            <a:off x="11551615" y="6400800"/>
            <a:ext cx="365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100"/>
              <a:buFont typeface="Lato"/>
              <a:buNone/>
            </a:pPr>
            <a:r>
              <a:rPr b="0" i="0" lang="en-US" sz="1100" u="none" cap="none" strike="noStrike">
                <a:solidFill>
                  <a:srgbClr val="595959"/>
                </a:solidFill>
                <a:latin typeface="Lato"/>
                <a:ea typeface="Lato"/>
                <a:cs typeface="Lato"/>
                <a:sym typeface="Lato"/>
              </a:rPr>
              <a:t>12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7" name="Google Shape;327;p15"/>
          <p:cNvSpPr/>
          <p:nvPr/>
        </p:nvSpPr>
        <p:spPr>
          <a:xfrm>
            <a:off x="502920" y="868680"/>
            <a:ext cx="11185855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26666"/>
              </a:buClr>
              <a:buSzPts val="1100"/>
              <a:buFont typeface="Lato"/>
              <a:buNone/>
            </a:pPr>
            <a:r>
              <a:rPr b="1" i="0" lang="en-US" sz="1100" u="none" cap="none" strike="noStrike">
                <a:solidFill>
                  <a:srgbClr val="326666"/>
                </a:solidFill>
                <a:latin typeface="Lato"/>
                <a:ea typeface="Lato"/>
                <a:cs typeface="Lato"/>
                <a:sym typeface="Lato"/>
              </a:rPr>
              <a:t>STEP 2 · WHAT YOU SEE AT LOCALHOST:3000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8" name="Google Shape;328;p15"/>
          <p:cNvSpPr/>
          <p:nvPr/>
        </p:nvSpPr>
        <p:spPr>
          <a:xfrm>
            <a:off x="502920" y="1234440"/>
            <a:ext cx="11185855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4000"/>
              <a:buFont typeface="Spectral"/>
              <a:buNone/>
            </a:pPr>
            <a:r>
              <a:rPr b="1" i="0" lang="en-US" sz="4000" u="none" cap="none" strike="noStrike">
                <a:solidFill>
                  <a:srgbClr val="0D1B2A"/>
                </a:solidFill>
                <a:latin typeface="Spectral"/>
                <a:ea typeface="Spectral"/>
                <a:cs typeface="Spectral"/>
                <a:sym typeface="Spectral"/>
              </a:rPr>
              <a:t>Every question becomes a nested trace.</a:t>
            </a:r>
            <a:endParaRPr b="0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9" name="Google Shape;329;p15"/>
          <p:cNvSpPr/>
          <p:nvPr/>
        </p:nvSpPr>
        <p:spPr>
          <a:xfrm>
            <a:off x="640080" y="2468880"/>
            <a:ext cx="6858000" cy="502920"/>
          </a:xfrm>
          <a:prstGeom prst="rect">
            <a:avLst/>
          </a:prstGeom>
          <a:solidFill>
            <a:srgbClr val="326666"/>
          </a:solidFill>
          <a:ln cap="flat" cmpd="sng" w="12700">
            <a:solidFill>
              <a:srgbClr val="32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0" name="Google Shape;330;p15"/>
          <p:cNvSpPr/>
          <p:nvPr/>
        </p:nvSpPr>
        <p:spPr>
          <a:xfrm>
            <a:off x="822960" y="2468880"/>
            <a:ext cx="41148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ourier New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ask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1" name="Google Shape;331;p15"/>
          <p:cNvSpPr/>
          <p:nvPr/>
        </p:nvSpPr>
        <p:spPr>
          <a:xfrm>
            <a:off x="5212080" y="2468880"/>
            <a:ext cx="21031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ourier New"/>
              <a:buNone/>
            </a:pPr>
            <a:r>
              <a:rPr b="0" i="0" lang="en-US" sz="100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2.1s  ·  trace-id 4f2e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2" name="Google Shape;332;p15"/>
          <p:cNvSpPr/>
          <p:nvPr/>
        </p:nvSpPr>
        <p:spPr>
          <a:xfrm>
            <a:off x="1005840" y="3108960"/>
            <a:ext cx="6400800" cy="457200"/>
          </a:xfrm>
          <a:prstGeom prst="rect">
            <a:avLst/>
          </a:prstGeom>
          <a:solidFill>
            <a:srgbClr val="4C9289"/>
          </a:solidFill>
          <a:ln cap="flat" cmpd="sng" w="12700">
            <a:solidFill>
              <a:srgbClr val="4C928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3" name="Google Shape;333;p15"/>
          <p:cNvSpPr/>
          <p:nvPr/>
        </p:nvSpPr>
        <p:spPr>
          <a:xfrm>
            <a:off x="1188720" y="3108960"/>
            <a:ext cx="3657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ourier New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retrieve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4" name="Google Shape;334;p15"/>
          <p:cNvSpPr/>
          <p:nvPr/>
        </p:nvSpPr>
        <p:spPr>
          <a:xfrm>
            <a:off x="5486400" y="3108960"/>
            <a:ext cx="1828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ourier New"/>
              <a:buNone/>
            </a:pPr>
            <a:r>
              <a:rPr b="0" i="0" lang="en-US" sz="100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0.1s  ·  3 chunks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5" name="Google Shape;335;p15"/>
          <p:cNvSpPr/>
          <p:nvPr/>
        </p:nvSpPr>
        <p:spPr>
          <a:xfrm>
            <a:off x="1371600" y="3657600"/>
            <a:ext cx="6035040" cy="411480"/>
          </a:xfrm>
          <a:prstGeom prst="rect">
            <a:avLst/>
          </a:prstGeom>
          <a:solidFill>
            <a:srgbClr val="92BC81"/>
          </a:solidFill>
          <a:ln cap="flat" cmpd="sng" w="12700">
            <a:solidFill>
              <a:srgbClr val="92BC8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6" name="Google Shape;336;p15"/>
          <p:cNvSpPr/>
          <p:nvPr/>
        </p:nvSpPr>
        <p:spPr>
          <a:xfrm>
            <a:off x="1554480" y="3657600"/>
            <a:ext cx="41148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100"/>
              <a:buFont typeface="Courier New"/>
              <a:buNone/>
            </a:pPr>
            <a:r>
              <a:rPr b="0" i="0" lang="en-US" sz="1100" u="none" cap="none" strike="noStrike">
                <a:solidFill>
                  <a:srgbClr val="0D1B2A"/>
                </a:solidFill>
                <a:latin typeface="Courier New"/>
                <a:ea typeface="Courier New"/>
                <a:cs typeface="Courier New"/>
                <a:sym typeface="Courier New"/>
              </a:rPr>
              <a:t>embed  ·  model=all-minilm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7" name="Google Shape;337;p15"/>
          <p:cNvSpPr/>
          <p:nvPr/>
        </p:nvSpPr>
        <p:spPr>
          <a:xfrm>
            <a:off x="6492240" y="3657600"/>
            <a:ext cx="8229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000"/>
              <a:buFont typeface="Courier New"/>
              <a:buNone/>
            </a:pPr>
            <a:r>
              <a:rPr b="0" i="0" lang="en-US" sz="1000" u="none" cap="none" strike="noStrike">
                <a:solidFill>
                  <a:srgbClr val="0D1B2A"/>
                </a:solidFill>
                <a:latin typeface="Courier New"/>
                <a:ea typeface="Courier New"/>
                <a:cs typeface="Courier New"/>
                <a:sym typeface="Courier New"/>
              </a:rPr>
              <a:t>30ms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8" name="Google Shape;338;p15"/>
          <p:cNvSpPr/>
          <p:nvPr/>
        </p:nvSpPr>
        <p:spPr>
          <a:xfrm>
            <a:off x="1005840" y="4206240"/>
            <a:ext cx="6400800" cy="457200"/>
          </a:xfrm>
          <a:prstGeom prst="rect">
            <a:avLst/>
          </a:prstGeom>
          <a:solidFill>
            <a:srgbClr val="1B786F"/>
          </a:solidFill>
          <a:ln cap="flat" cmpd="sng" w="12700">
            <a:solidFill>
              <a:srgbClr val="1B786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9" name="Google Shape;339;p15"/>
          <p:cNvSpPr/>
          <p:nvPr/>
        </p:nvSpPr>
        <p:spPr>
          <a:xfrm>
            <a:off x="1188720" y="4206240"/>
            <a:ext cx="42062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ourier New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generate_answer  ·  GENERATION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0" name="Google Shape;340;p15"/>
          <p:cNvSpPr/>
          <p:nvPr/>
        </p:nvSpPr>
        <p:spPr>
          <a:xfrm>
            <a:off x="5394960" y="4206240"/>
            <a:ext cx="19202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ourier New"/>
              <a:buNone/>
            </a:pPr>
            <a:r>
              <a:rPr b="0" i="0" lang="en-US" sz="100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2.0s  ·  416→42 tok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1" name="Google Shape;341;p15"/>
          <p:cNvSpPr/>
          <p:nvPr/>
        </p:nvSpPr>
        <p:spPr>
          <a:xfrm>
            <a:off x="640080" y="4937760"/>
            <a:ext cx="6858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759"/>
              </a:buClr>
              <a:buSzPts val="1200"/>
              <a:buFont typeface="Spectral"/>
              <a:buNone/>
            </a:pPr>
            <a:r>
              <a:rPr b="0" i="1" lang="en-US" sz="1200" u="none" cap="none" strike="noStrike">
                <a:solidFill>
                  <a:srgbClr val="4A5759"/>
                </a:solidFill>
                <a:latin typeface="Spectral"/>
                <a:ea typeface="Spectral"/>
                <a:cs typeface="Spectral"/>
                <a:sym typeface="Spectral"/>
              </a:rPr>
              <a:t>Click any span → see input, output, latency, token usage.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2" name="Google Shape;342;p15"/>
          <p:cNvSpPr/>
          <p:nvPr/>
        </p:nvSpPr>
        <p:spPr>
          <a:xfrm>
            <a:off x="8229600" y="2423160"/>
            <a:ext cx="34747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26666"/>
              </a:buClr>
              <a:buSzPts val="1400"/>
              <a:buFont typeface="Lato"/>
              <a:buNone/>
            </a:pPr>
            <a:r>
              <a:rPr b="1" i="0" lang="en-US" sz="1400" u="none" cap="none" strike="noStrike">
                <a:solidFill>
                  <a:srgbClr val="326666"/>
                </a:solidFill>
                <a:latin typeface="Lato"/>
                <a:ea typeface="Lato"/>
                <a:cs typeface="Lato"/>
                <a:sym typeface="Lato"/>
              </a:rPr>
              <a:t>Each span gives you: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43" name="Google Shape;343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229600" y="2971800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344" name="Google Shape;344;p15"/>
          <p:cNvSpPr/>
          <p:nvPr/>
        </p:nvSpPr>
        <p:spPr>
          <a:xfrm>
            <a:off x="8595360" y="2926080"/>
            <a:ext cx="32918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02124"/>
              </a:buClr>
              <a:buSzPts val="1300"/>
              <a:buFont typeface="Lato"/>
              <a:buNone/>
            </a:pPr>
            <a:r>
              <a:rPr b="0" i="0" lang="en-US" sz="1300" u="none" cap="none" strike="noStrike">
                <a:solidFill>
                  <a:srgbClr val="202124"/>
                </a:solidFill>
                <a:latin typeface="Lato"/>
                <a:ea typeface="Lato"/>
                <a:cs typeface="Lato"/>
                <a:sym typeface="Lato"/>
              </a:rPr>
              <a:t>the exact prompt sent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45" name="Google Shape;345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229600" y="3429000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346" name="Google Shape;346;p15"/>
          <p:cNvSpPr/>
          <p:nvPr/>
        </p:nvSpPr>
        <p:spPr>
          <a:xfrm>
            <a:off x="8595360" y="3383280"/>
            <a:ext cx="32918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02124"/>
              </a:buClr>
              <a:buSzPts val="1300"/>
              <a:buFont typeface="Lato"/>
              <a:buNone/>
            </a:pPr>
            <a:r>
              <a:rPr b="0" i="0" lang="en-US" sz="1300" u="none" cap="none" strike="noStrike">
                <a:solidFill>
                  <a:srgbClr val="202124"/>
                </a:solidFill>
                <a:latin typeface="Lato"/>
                <a:ea typeface="Lato"/>
                <a:cs typeface="Lato"/>
                <a:sym typeface="Lato"/>
              </a:rPr>
              <a:t>the exact completion received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47" name="Google Shape;347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229600" y="3886200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348" name="Google Shape;348;p15"/>
          <p:cNvSpPr/>
          <p:nvPr/>
        </p:nvSpPr>
        <p:spPr>
          <a:xfrm>
            <a:off x="8595360" y="3840480"/>
            <a:ext cx="32918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02124"/>
              </a:buClr>
              <a:buSzPts val="1300"/>
              <a:buFont typeface="Lato"/>
              <a:buNone/>
            </a:pPr>
            <a:r>
              <a:rPr b="0" i="0" lang="en-US" sz="1300" u="none" cap="none" strike="noStrike">
                <a:solidFill>
                  <a:srgbClr val="202124"/>
                </a:solidFill>
                <a:latin typeface="Lato"/>
                <a:ea typeface="Lato"/>
                <a:cs typeface="Lato"/>
                <a:sym typeface="Lato"/>
              </a:rPr>
              <a:t>token counts in + out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49" name="Google Shape;349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229600" y="4343400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350" name="Google Shape;350;p15"/>
          <p:cNvSpPr/>
          <p:nvPr/>
        </p:nvSpPr>
        <p:spPr>
          <a:xfrm>
            <a:off x="8595360" y="4297680"/>
            <a:ext cx="32918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02124"/>
              </a:buClr>
              <a:buSzPts val="1300"/>
              <a:buFont typeface="Lato"/>
              <a:buNone/>
            </a:pPr>
            <a:r>
              <a:rPr b="0" i="0" lang="en-US" sz="1300" u="none" cap="none" strike="noStrike">
                <a:solidFill>
                  <a:srgbClr val="202124"/>
                </a:solidFill>
                <a:latin typeface="Lato"/>
                <a:ea typeface="Lato"/>
                <a:cs typeface="Lato"/>
                <a:sym typeface="Lato"/>
              </a:rPr>
              <a:t>latency per stage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51" name="Google Shape;351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229600" y="4800600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352" name="Google Shape;352;p15"/>
          <p:cNvSpPr/>
          <p:nvPr/>
        </p:nvSpPr>
        <p:spPr>
          <a:xfrm>
            <a:off x="8595360" y="4754880"/>
            <a:ext cx="32918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02124"/>
              </a:buClr>
              <a:buSzPts val="1300"/>
              <a:buFont typeface="Lato"/>
              <a:buNone/>
            </a:pPr>
            <a:r>
              <a:rPr b="0" i="0" lang="en-US" sz="1300" u="none" cap="none" strike="noStrike">
                <a:solidFill>
                  <a:srgbClr val="202124"/>
                </a:solidFill>
                <a:latin typeface="Lato"/>
                <a:ea typeface="Lato"/>
                <a:cs typeface="Lato"/>
                <a:sym typeface="Lato"/>
              </a:rPr>
              <a:t>model version used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53" name="Google Shape;353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229600" y="5257800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354" name="Google Shape;354;p15"/>
          <p:cNvSpPr/>
          <p:nvPr/>
        </p:nvSpPr>
        <p:spPr>
          <a:xfrm>
            <a:off x="8595360" y="5212080"/>
            <a:ext cx="32918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02124"/>
              </a:buClr>
              <a:buSzPts val="1300"/>
              <a:buFont typeface="Lato"/>
              <a:buNone/>
            </a:pPr>
            <a:r>
              <a:rPr b="0" i="0" lang="en-US" sz="1300" u="none" cap="none" strike="noStrike">
                <a:solidFill>
                  <a:srgbClr val="202124"/>
                </a:solidFill>
                <a:latin typeface="Lato"/>
                <a:ea typeface="Lato"/>
                <a:cs typeface="Lato"/>
                <a:sym typeface="Lato"/>
              </a:rPr>
              <a:t>any metadata you attach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55" name="Google Shape;355;p15" title="Gemini_Generated_Image_rbdzoirbdzoirbdz.png"/>
          <p:cNvPicPr preferRelativeResize="0"/>
          <p:nvPr/>
        </p:nvPicPr>
        <p:blipFill rotWithShape="1">
          <a:blip r:embed="rId6">
            <a:alphaModFix/>
          </a:blip>
          <a:srcRect b="33061" l="22742" r="28149" t="10923"/>
          <a:stretch/>
        </p:blipFill>
        <p:spPr>
          <a:xfrm>
            <a:off x="9885440" y="6291673"/>
            <a:ext cx="1727432" cy="492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60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p16"/>
          <p:cNvSpPr/>
          <p:nvPr/>
        </p:nvSpPr>
        <p:spPr>
          <a:xfrm>
            <a:off x="9265615" y="457200"/>
            <a:ext cx="2286000" cy="36576"/>
          </a:xfrm>
          <a:prstGeom prst="rect">
            <a:avLst/>
          </a:prstGeom>
          <a:solidFill>
            <a:srgbClr val="326666"/>
          </a:solidFill>
          <a:ln cap="flat" cmpd="sng" w="12700">
            <a:solidFill>
              <a:srgbClr val="32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2" name="Google Shape;362;p16"/>
          <p:cNvSpPr/>
          <p:nvPr/>
        </p:nvSpPr>
        <p:spPr>
          <a:xfrm>
            <a:off x="9265615" y="548640"/>
            <a:ext cx="2286000" cy="18288"/>
          </a:xfrm>
          <a:prstGeom prst="rect">
            <a:avLst/>
          </a:prstGeom>
          <a:solidFill>
            <a:srgbClr val="326666"/>
          </a:solidFill>
          <a:ln cap="flat" cmpd="sng" w="12700">
            <a:solidFill>
              <a:srgbClr val="32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3" name="Google Shape;363;p16"/>
          <p:cNvSpPr/>
          <p:nvPr/>
        </p:nvSpPr>
        <p:spPr>
          <a:xfrm>
            <a:off x="502920" y="384048"/>
            <a:ext cx="914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300"/>
              <a:buFont typeface="Lato"/>
              <a:buNone/>
            </a:pPr>
            <a:r>
              <a:rPr b="1" i="0" lang="en-US" sz="1300" u="none" cap="none" strike="noStrike">
                <a:solidFill>
                  <a:srgbClr val="0D1B2A"/>
                </a:solidFill>
                <a:latin typeface="Lato"/>
                <a:ea typeface="Lato"/>
                <a:cs typeface="Lato"/>
                <a:sym typeface="Lato"/>
              </a:rPr>
              <a:t>04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4" name="Google Shape;364;p16">
            <a:hlinkClick r:id="rId3"/>
          </p:cNvPr>
          <p:cNvSpPr/>
          <p:nvPr/>
        </p:nvSpPr>
        <p:spPr>
          <a:xfrm>
            <a:off x="502920" y="6446520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Lato"/>
              <a:buNone/>
            </a:pPr>
            <a:r>
              <a:rPr b="0" i="0" lang="en-US" sz="1000" u="sng" cap="none" strike="noStrike">
                <a:solidFill>
                  <a:schemeClr val="hlink"/>
                </a:solidFill>
                <a:latin typeface="Lato"/>
                <a:ea typeface="Lato"/>
                <a:cs typeface="Lato"/>
                <a:sym typeface="Lato"/>
                <a:hlinkClick r:id="rId4"/>
              </a:rPr>
              <a:t>www.arsinnovate.com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5" name="Google Shape;365;p16"/>
          <p:cNvSpPr/>
          <p:nvPr/>
        </p:nvSpPr>
        <p:spPr>
          <a:xfrm>
            <a:off x="11551615" y="6400800"/>
            <a:ext cx="365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100"/>
              <a:buFont typeface="Lato"/>
              <a:buNone/>
            </a:pPr>
            <a:r>
              <a:rPr b="0" i="0" lang="en-US" sz="1100" u="none" cap="none" strike="noStrike">
                <a:solidFill>
                  <a:srgbClr val="595959"/>
                </a:solidFill>
                <a:latin typeface="Lato"/>
                <a:ea typeface="Lato"/>
                <a:cs typeface="Lato"/>
                <a:sym typeface="Lato"/>
              </a:rPr>
              <a:t>13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6" name="Google Shape;366;p16"/>
          <p:cNvSpPr/>
          <p:nvPr/>
        </p:nvSpPr>
        <p:spPr>
          <a:xfrm>
            <a:off x="502920" y="2103120"/>
            <a:ext cx="4572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26666"/>
              </a:buClr>
              <a:buSzPts val="1600"/>
              <a:buFont typeface="Lato"/>
              <a:buNone/>
            </a:pPr>
            <a:r>
              <a:rPr b="1" i="0" lang="en-US" sz="1600" u="none" cap="none" strike="noStrike">
                <a:solidFill>
                  <a:srgbClr val="326666"/>
                </a:solidFill>
                <a:latin typeface="Lato"/>
                <a:ea typeface="Lato"/>
                <a:cs typeface="Lato"/>
                <a:sym typeface="Lato"/>
              </a:rPr>
              <a:t>STEP 3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7" name="Google Shape;367;p16"/>
          <p:cNvSpPr/>
          <p:nvPr/>
        </p:nvSpPr>
        <p:spPr>
          <a:xfrm>
            <a:off x="502920" y="2606040"/>
            <a:ext cx="1097280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6400"/>
              <a:buFont typeface="Spectral"/>
              <a:buNone/>
            </a:pPr>
            <a:r>
              <a:rPr b="1" i="0" lang="en-US" sz="6400" u="none" cap="none" strike="noStrike">
                <a:solidFill>
                  <a:srgbClr val="0D1B2A"/>
                </a:solidFill>
                <a:latin typeface="Spectral"/>
                <a:ea typeface="Spectral"/>
                <a:cs typeface="Spectral"/>
                <a:sym typeface="Spectral"/>
              </a:rPr>
              <a:t>Add OpenTelemetry + Jaeger</a:t>
            </a:r>
            <a:endParaRPr b="0" i="0" sz="6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8" name="Google Shape;368;p16"/>
          <p:cNvSpPr/>
          <p:nvPr/>
        </p:nvSpPr>
        <p:spPr>
          <a:xfrm>
            <a:off x="502920" y="3931920"/>
            <a:ext cx="109728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759"/>
              </a:buClr>
              <a:buSzPts val="2000"/>
              <a:buFont typeface="Spectral"/>
              <a:buNone/>
            </a:pPr>
            <a:r>
              <a:rPr b="0" i="1" lang="en-US" sz="2000" u="none" cap="none" strike="noStrike">
                <a:solidFill>
                  <a:srgbClr val="4A5759"/>
                </a:solidFill>
                <a:latin typeface="Spectral"/>
                <a:ea typeface="Spectral"/>
                <a:cs typeface="Spectral"/>
                <a:sym typeface="Spectral"/>
              </a:rPr>
              <a:t>Langfuse + OTel coexist. Langfuse: LLM-native view. OTel: cross-service view.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9" name="Google Shape;369;p16"/>
          <p:cNvSpPr/>
          <p:nvPr/>
        </p:nvSpPr>
        <p:spPr>
          <a:xfrm>
            <a:off x="502920" y="4846320"/>
            <a:ext cx="6364224" cy="594360"/>
          </a:xfrm>
          <a:prstGeom prst="rect">
            <a:avLst/>
          </a:prstGeom>
          <a:solidFill>
            <a:srgbClr val="F4F2EE"/>
          </a:solidFill>
          <a:ln cap="flat" cmpd="sng" w="12700">
            <a:solidFill>
              <a:srgbClr val="32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0" name="Google Shape;370;p16"/>
          <p:cNvSpPr/>
          <p:nvPr/>
        </p:nvSpPr>
        <p:spPr>
          <a:xfrm>
            <a:off x="502920" y="4846320"/>
            <a:ext cx="6364224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26666"/>
              </a:buClr>
              <a:buSzPts val="1600"/>
              <a:buFont typeface="Courier New"/>
              <a:buNone/>
            </a:pPr>
            <a:r>
              <a:rPr b="1" i="0" lang="en-US" sz="1600" u="none" cap="none" strike="noStrike">
                <a:solidFill>
                  <a:srgbClr val="326666"/>
                </a:solidFill>
                <a:latin typeface="Courier New"/>
                <a:ea typeface="Courier New"/>
                <a:cs typeface="Courier New"/>
                <a:sym typeface="Courier New"/>
              </a:rPr>
              <a:t>tracer.start_as_current_span("llm.generate")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1" name="Google Shape;371;p16"/>
          <p:cNvSpPr/>
          <p:nvPr/>
        </p:nvSpPr>
        <p:spPr>
          <a:xfrm>
            <a:off x="502920" y="5623560"/>
            <a:ext cx="10972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300"/>
              <a:buFont typeface="Lato"/>
              <a:buNone/>
            </a:pPr>
            <a:r>
              <a:rPr b="0" i="1" lang="en-US" sz="1300" u="none" cap="none" strike="noStrike">
                <a:solidFill>
                  <a:srgbClr val="595959"/>
                </a:solidFill>
                <a:latin typeface="Lato"/>
                <a:ea typeface="Lato"/>
                <a:cs typeface="Lato"/>
                <a:sym typeface="Lato"/>
              </a:rPr>
              <a:t>15 min · same pattern, different backend. Today exports to Jaeger at localhost:16686.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72" name="Google Shape;372;p16" title="Gemini_Generated_Image_rbdzoirbdzoirbdz.png"/>
          <p:cNvPicPr preferRelativeResize="0"/>
          <p:nvPr/>
        </p:nvPicPr>
        <p:blipFill rotWithShape="1">
          <a:blip r:embed="rId5">
            <a:alphaModFix/>
          </a:blip>
          <a:srcRect b="33061" l="22742" r="28149" t="10923"/>
          <a:stretch/>
        </p:blipFill>
        <p:spPr>
          <a:xfrm>
            <a:off x="9885440" y="6291673"/>
            <a:ext cx="1727432" cy="492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77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Google Shape;378;p17"/>
          <p:cNvSpPr/>
          <p:nvPr/>
        </p:nvSpPr>
        <p:spPr>
          <a:xfrm>
            <a:off x="9265615" y="457200"/>
            <a:ext cx="2286000" cy="36576"/>
          </a:xfrm>
          <a:prstGeom prst="rect">
            <a:avLst/>
          </a:prstGeom>
          <a:solidFill>
            <a:srgbClr val="326666"/>
          </a:solidFill>
          <a:ln cap="flat" cmpd="sng" w="12700">
            <a:solidFill>
              <a:srgbClr val="32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9" name="Google Shape;379;p17"/>
          <p:cNvSpPr/>
          <p:nvPr/>
        </p:nvSpPr>
        <p:spPr>
          <a:xfrm>
            <a:off x="9265615" y="548640"/>
            <a:ext cx="2286000" cy="18288"/>
          </a:xfrm>
          <a:prstGeom prst="rect">
            <a:avLst/>
          </a:prstGeom>
          <a:solidFill>
            <a:srgbClr val="326666"/>
          </a:solidFill>
          <a:ln cap="flat" cmpd="sng" w="12700">
            <a:solidFill>
              <a:srgbClr val="32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0" name="Google Shape;380;p17"/>
          <p:cNvSpPr/>
          <p:nvPr/>
        </p:nvSpPr>
        <p:spPr>
          <a:xfrm>
            <a:off x="502920" y="384048"/>
            <a:ext cx="914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300"/>
              <a:buFont typeface="Lato"/>
              <a:buNone/>
            </a:pPr>
            <a:r>
              <a:rPr b="1" i="0" lang="en-US" sz="1300" u="none" cap="none" strike="noStrike">
                <a:solidFill>
                  <a:srgbClr val="0D1B2A"/>
                </a:solidFill>
                <a:latin typeface="Lato"/>
                <a:ea typeface="Lato"/>
                <a:cs typeface="Lato"/>
                <a:sym typeface="Lato"/>
              </a:rPr>
              <a:t>03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1" name="Google Shape;381;p17">
            <a:hlinkClick r:id="rId3"/>
          </p:cNvPr>
          <p:cNvSpPr/>
          <p:nvPr/>
        </p:nvSpPr>
        <p:spPr>
          <a:xfrm>
            <a:off x="502920" y="6446520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Lato"/>
              <a:buNone/>
            </a:pPr>
            <a:r>
              <a:rPr b="0" i="0" lang="en-US" sz="1000" u="sng" cap="none" strike="noStrike">
                <a:solidFill>
                  <a:schemeClr val="hlink"/>
                </a:solidFill>
                <a:latin typeface="Lato"/>
                <a:ea typeface="Lato"/>
                <a:cs typeface="Lato"/>
                <a:sym typeface="Lato"/>
                <a:hlinkClick r:id="rId4"/>
              </a:rPr>
              <a:t>www.arsinnovate.com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2" name="Google Shape;382;p17"/>
          <p:cNvSpPr/>
          <p:nvPr/>
        </p:nvSpPr>
        <p:spPr>
          <a:xfrm>
            <a:off x="11551615" y="6400800"/>
            <a:ext cx="365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100"/>
              <a:buFont typeface="Lato"/>
              <a:buNone/>
            </a:pPr>
            <a:r>
              <a:rPr b="0" i="0" lang="en-US" sz="1100" u="none" cap="none" strike="noStrike">
                <a:solidFill>
                  <a:srgbClr val="595959"/>
                </a:solidFill>
                <a:latin typeface="Lato"/>
                <a:ea typeface="Lato"/>
                <a:cs typeface="Lato"/>
                <a:sym typeface="Lato"/>
              </a:rPr>
              <a:t>14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3" name="Google Shape;383;p17"/>
          <p:cNvSpPr/>
          <p:nvPr/>
        </p:nvSpPr>
        <p:spPr>
          <a:xfrm>
            <a:off x="502920" y="868680"/>
            <a:ext cx="11185855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26666"/>
              </a:buClr>
              <a:buSzPts val="1100"/>
              <a:buFont typeface="Lato"/>
              <a:buNone/>
            </a:pPr>
            <a:r>
              <a:rPr b="1" i="0" lang="en-US" sz="1100" u="none" cap="none" strike="noStrike">
                <a:solidFill>
                  <a:srgbClr val="326666"/>
                </a:solidFill>
                <a:latin typeface="Lato"/>
                <a:ea typeface="Lato"/>
                <a:cs typeface="Lato"/>
                <a:sym typeface="Lato"/>
              </a:rPr>
              <a:t>STEP 3 · WHY BOTH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4" name="Google Shape;384;p17"/>
          <p:cNvSpPr/>
          <p:nvPr/>
        </p:nvSpPr>
        <p:spPr>
          <a:xfrm>
            <a:off x="502920" y="1234440"/>
            <a:ext cx="11185855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4000"/>
              <a:buFont typeface="Spectral"/>
              <a:buNone/>
            </a:pPr>
            <a:r>
              <a:rPr b="1" i="0" lang="en-US" sz="4000" u="none" cap="none" strike="noStrike">
                <a:solidFill>
                  <a:srgbClr val="0D1B2A"/>
                </a:solidFill>
                <a:latin typeface="Spectral"/>
                <a:ea typeface="Spectral"/>
                <a:cs typeface="Spectral"/>
                <a:sym typeface="Spectral"/>
              </a:rPr>
              <a:t>They answer different questions.</a:t>
            </a:r>
            <a:endParaRPr b="0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5" name="Google Shape;385;p17"/>
          <p:cNvSpPr/>
          <p:nvPr/>
        </p:nvSpPr>
        <p:spPr>
          <a:xfrm>
            <a:off x="502920" y="2286000"/>
            <a:ext cx="5257800" cy="3931920"/>
          </a:xfrm>
          <a:prstGeom prst="rect">
            <a:avLst/>
          </a:prstGeom>
          <a:solidFill>
            <a:srgbClr val="F4F2EE"/>
          </a:solidFill>
          <a:ln cap="flat" cmpd="sng" w="12700">
            <a:solidFill>
              <a:srgbClr val="F4F2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6" name="Google Shape;386;p17"/>
          <p:cNvSpPr/>
          <p:nvPr/>
        </p:nvSpPr>
        <p:spPr>
          <a:xfrm>
            <a:off x="502920" y="2286000"/>
            <a:ext cx="73152" cy="3931920"/>
          </a:xfrm>
          <a:prstGeom prst="rect">
            <a:avLst/>
          </a:prstGeom>
          <a:solidFill>
            <a:srgbClr val="326666"/>
          </a:solidFill>
          <a:ln cap="flat" cmpd="sng" w="12700">
            <a:solidFill>
              <a:srgbClr val="32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7" name="Google Shape;387;p17"/>
          <p:cNvSpPr/>
          <p:nvPr/>
        </p:nvSpPr>
        <p:spPr>
          <a:xfrm>
            <a:off x="777240" y="2468880"/>
            <a:ext cx="47091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2400"/>
              <a:buFont typeface="Spectral"/>
              <a:buNone/>
            </a:pPr>
            <a:r>
              <a:rPr b="1" i="0" lang="en-US" sz="2400" u="none" cap="none" strike="noStrike">
                <a:solidFill>
                  <a:srgbClr val="0D1B2A"/>
                </a:solidFill>
                <a:latin typeface="Spectral"/>
                <a:ea typeface="Spectral"/>
                <a:cs typeface="Spectral"/>
                <a:sym typeface="Spectral"/>
              </a:rPr>
              <a:t>Langfuse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8" name="Google Shape;388;p17"/>
          <p:cNvSpPr/>
          <p:nvPr/>
        </p:nvSpPr>
        <p:spPr>
          <a:xfrm>
            <a:off x="777240" y="2971800"/>
            <a:ext cx="47091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26666"/>
              </a:buClr>
              <a:buSzPts val="1300"/>
              <a:buFont typeface="Spectral"/>
              <a:buNone/>
            </a:pPr>
            <a:r>
              <a:rPr b="0" i="1" lang="en-US" sz="1300" u="none" cap="none" strike="noStrike">
                <a:solidFill>
                  <a:srgbClr val="326666"/>
                </a:solidFill>
                <a:latin typeface="Spectral"/>
                <a:ea typeface="Spectral"/>
                <a:cs typeface="Spectral"/>
                <a:sym typeface="Spectral"/>
              </a:rPr>
              <a:t>Answers: "Why did the model say THAT?"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9" name="Google Shape;389;p17"/>
          <p:cNvSpPr/>
          <p:nvPr/>
        </p:nvSpPr>
        <p:spPr>
          <a:xfrm>
            <a:off x="777240" y="3474720"/>
            <a:ext cx="4709160" cy="2560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202124"/>
              </a:buClr>
              <a:buSzPts val="1400"/>
              <a:buFont typeface="Lato"/>
              <a:buChar char="•"/>
            </a:pPr>
            <a:r>
              <a:rPr b="0" i="0" lang="en-US" sz="1400" u="none" cap="none" strike="noStrike">
                <a:solidFill>
                  <a:srgbClr val="202124"/>
                </a:solidFill>
                <a:latin typeface="Lato"/>
                <a:ea typeface="Lato"/>
                <a:cs typeface="Lato"/>
                <a:sym typeface="Lato"/>
              </a:rPr>
              <a:t>Prompt + completion inspection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400"/>
              </a:spcBef>
              <a:spcAft>
                <a:spcPts val="0"/>
              </a:spcAft>
              <a:buClr>
                <a:srgbClr val="202124"/>
              </a:buClr>
              <a:buSzPts val="1400"/>
              <a:buFont typeface="Lato"/>
              <a:buChar char="•"/>
            </a:pPr>
            <a:r>
              <a:rPr b="0" i="0" lang="en-US" sz="1400" u="none" cap="none" strike="noStrike">
                <a:solidFill>
                  <a:srgbClr val="202124"/>
                </a:solidFill>
                <a:latin typeface="Lato"/>
                <a:ea typeface="Lato"/>
                <a:cs typeface="Lato"/>
                <a:sym typeface="Lato"/>
              </a:rPr>
              <a:t>Token + cost rollups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400"/>
              </a:spcBef>
              <a:spcAft>
                <a:spcPts val="0"/>
              </a:spcAft>
              <a:buClr>
                <a:srgbClr val="202124"/>
              </a:buClr>
              <a:buSzPts val="1400"/>
              <a:buFont typeface="Lato"/>
              <a:buChar char="•"/>
            </a:pPr>
            <a:r>
              <a:rPr b="0" i="0" lang="en-US" sz="1400" u="none" cap="none" strike="noStrike">
                <a:solidFill>
                  <a:srgbClr val="202124"/>
                </a:solidFill>
                <a:latin typeface="Lato"/>
                <a:ea typeface="Lato"/>
                <a:cs typeface="Lato"/>
                <a:sym typeface="Lato"/>
              </a:rPr>
              <a:t>Prompt versioning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400"/>
              </a:spcBef>
              <a:spcAft>
                <a:spcPts val="0"/>
              </a:spcAft>
              <a:buClr>
                <a:srgbClr val="202124"/>
              </a:buClr>
              <a:buSzPts val="1400"/>
              <a:buFont typeface="Lato"/>
              <a:buChar char="•"/>
            </a:pPr>
            <a:r>
              <a:rPr b="0" i="0" lang="en-US" sz="1400" u="none" cap="none" strike="noStrike">
                <a:solidFill>
                  <a:srgbClr val="202124"/>
                </a:solidFill>
                <a:latin typeface="Lato"/>
                <a:ea typeface="Lato"/>
                <a:cs typeface="Lato"/>
                <a:sym typeface="Lato"/>
              </a:rPr>
              <a:t>LLM-as-judge scoring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400"/>
              </a:spcBef>
              <a:spcAft>
                <a:spcPts val="0"/>
              </a:spcAft>
              <a:buClr>
                <a:srgbClr val="202124"/>
              </a:buClr>
              <a:buSzPts val="1400"/>
              <a:buFont typeface="Lato"/>
              <a:buChar char="•"/>
            </a:pPr>
            <a:r>
              <a:rPr b="0" i="0" lang="en-US" sz="1400" u="none" cap="none" strike="noStrike">
                <a:solidFill>
                  <a:srgbClr val="202124"/>
                </a:solidFill>
                <a:latin typeface="Lato"/>
                <a:ea typeface="Lato"/>
                <a:cs typeface="Lato"/>
                <a:sym typeface="Lato"/>
              </a:rPr>
              <a:t>User session grouping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0" name="Google Shape;390;p17"/>
          <p:cNvSpPr/>
          <p:nvPr/>
        </p:nvSpPr>
        <p:spPr>
          <a:xfrm>
            <a:off x="6355080" y="2286000"/>
            <a:ext cx="5257800" cy="3931920"/>
          </a:xfrm>
          <a:prstGeom prst="rect">
            <a:avLst/>
          </a:prstGeom>
          <a:solidFill>
            <a:srgbClr val="F4F2EE"/>
          </a:solidFill>
          <a:ln cap="flat" cmpd="sng" w="12700">
            <a:solidFill>
              <a:srgbClr val="F4F2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1" name="Google Shape;391;p17"/>
          <p:cNvSpPr/>
          <p:nvPr/>
        </p:nvSpPr>
        <p:spPr>
          <a:xfrm>
            <a:off x="6355080" y="2286000"/>
            <a:ext cx="73152" cy="3931920"/>
          </a:xfrm>
          <a:prstGeom prst="rect">
            <a:avLst/>
          </a:prstGeom>
          <a:solidFill>
            <a:srgbClr val="326666"/>
          </a:solidFill>
          <a:ln cap="flat" cmpd="sng" w="12700">
            <a:solidFill>
              <a:srgbClr val="32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2" name="Google Shape;392;p17"/>
          <p:cNvSpPr/>
          <p:nvPr/>
        </p:nvSpPr>
        <p:spPr>
          <a:xfrm>
            <a:off x="6629400" y="2468880"/>
            <a:ext cx="47091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2400"/>
              <a:buFont typeface="Spectral"/>
              <a:buNone/>
            </a:pPr>
            <a:r>
              <a:rPr b="1" i="0" lang="en-US" sz="2400" u="none" cap="none" strike="noStrike">
                <a:solidFill>
                  <a:srgbClr val="0D1B2A"/>
                </a:solidFill>
                <a:latin typeface="Spectral"/>
                <a:ea typeface="Spectral"/>
                <a:cs typeface="Spectral"/>
                <a:sym typeface="Spectral"/>
              </a:rPr>
              <a:t>OpenTelemetry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3" name="Google Shape;393;p17"/>
          <p:cNvSpPr/>
          <p:nvPr/>
        </p:nvSpPr>
        <p:spPr>
          <a:xfrm>
            <a:off x="6629400" y="2971800"/>
            <a:ext cx="47091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26666"/>
              </a:buClr>
              <a:buSzPts val="1300"/>
              <a:buFont typeface="Spectral"/>
              <a:buNone/>
            </a:pPr>
            <a:r>
              <a:rPr b="0" i="1" lang="en-US" sz="1300" u="none" cap="none" strike="noStrike">
                <a:solidFill>
                  <a:srgbClr val="326666"/>
                </a:solidFill>
                <a:latin typeface="Spectral"/>
                <a:ea typeface="Spectral"/>
                <a:cs typeface="Spectral"/>
                <a:sym typeface="Spectral"/>
              </a:rPr>
              <a:t>Answers: "Where does this fit in our stack?"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4" name="Google Shape;394;p17"/>
          <p:cNvSpPr/>
          <p:nvPr/>
        </p:nvSpPr>
        <p:spPr>
          <a:xfrm>
            <a:off x="6629400" y="3474720"/>
            <a:ext cx="4709160" cy="2560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202124"/>
              </a:buClr>
              <a:buSzPts val="1400"/>
              <a:buFont typeface="Lato"/>
              <a:buChar char="•"/>
            </a:pPr>
            <a:r>
              <a:rPr b="0" i="0" lang="en-US" sz="1400" u="none" cap="none" strike="noStrike">
                <a:solidFill>
                  <a:srgbClr val="202124"/>
                </a:solidFill>
                <a:latin typeface="Lato"/>
                <a:ea typeface="Lato"/>
                <a:cs typeface="Lato"/>
                <a:sym typeface="Lato"/>
              </a:rPr>
              <a:t>Cross-service trace propagation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400"/>
              </a:spcBef>
              <a:spcAft>
                <a:spcPts val="0"/>
              </a:spcAft>
              <a:buClr>
                <a:srgbClr val="202124"/>
              </a:buClr>
              <a:buSzPts val="1400"/>
              <a:buFont typeface="Lato"/>
              <a:buChar char="•"/>
            </a:pPr>
            <a:r>
              <a:rPr b="0" i="0" lang="en-US" sz="1400" u="none" cap="none" strike="noStrike">
                <a:solidFill>
                  <a:srgbClr val="202124"/>
                </a:solidFill>
                <a:latin typeface="Lato"/>
                <a:ea typeface="Lato"/>
                <a:cs typeface="Lato"/>
                <a:sym typeface="Lato"/>
              </a:rPr>
              <a:t>Today: Jaeger UI · tomorrow: Tempo, Datadog, Honeycomb...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400"/>
              </a:spcBef>
              <a:spcAft>
                <a:spcPts val="0"/>
              </a:spcAft>
              <a:buClr>
                <a:srgbClr val="202124"/>
              </a:buClr>
              <a:buSzPts val="1400"/>
              <a:buFont typeface="Lato"/>
              <a:buChar char="•"/>
            </a:pPr>
            <a:r>
              <a:rPr b="0" i="0" lang="en-US" sz="1400" u="none" cap="none" strike="noStrike">
                <a:solidFill>
                  <a:srgbClr val="202124"/>
                </a:solidFill>
                <a:latin typeface="Lato"/>
                <a:ea typeface="Lato"/>
                <a:cs typeface="Lato"/>
                <a:sym typeface="Lato"/>
              </a:rPr>
              <a:t>Vendor-neutral: instrument once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400"/>
              </a:spcBef>
              <a:spcAft>
                <a:spcPts val="0"/>
              </a:spcAft>
              <a:buClr>
                <a:srgbClr val="202124"/>
              </a:buClr>
              <a:buSzPts val="1400"/>
              <a:buFont typeface="Lato"/>
              <a:buChar char="•"/>
            </a:pPr>
            <a:r>
              <a:rPr b="0" i="0" lang="en-US" sz="1400" u="none" cap="none" strike="noStrike">
                <a:solidFill>
                  <a:srgbClr val="202124"/>
                </a:solidFill>
                <a:latin typeface="Lato"/>
                <a:ea typeface="Lato"/>
                <a:cs typeface="Lato"/>
                <a:sym typeface="Lato"/>
              </a:rPr>
              <a:t>Metrics + logs alongside traces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400"/>
              </a:spcBef>
              <a:spcAft>
                <a:spcPts val="0"/>
              </a:spcAft>
              <a:buClr>
                <a:srgbClr val="202124"/>
              </a:buClr>
              <a:buSzPts val="1400"/>
              <a:buFont typeface="Lato"/>
              <a:buChar char="•"/>
            </a:pPr>
            <a:r>
              <a:rPr b="0" i="0" lang="en-US" sz="1400" u="none" cap="none" strike="noStrike">
                <a:solidFill>
                  <a:srgbClr val="202124"/>
                </a:solidFill>
                <a:latin typeface="Lato"/>
                <a:ea typeface="Lato"/>
                <a:cs typeface="Lato"/>
                <a:sym typeface="Lato"/>
              </a:rPr>
              <a:t>Correlates with your non-LLM code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95" name="Google Shape;395;p17" title="Gemini_Generated_Image_rbdzoirbdzoirbdz.png"/>
          <p:cNvPicPr preferRelativeResize="0"/>
          <p:nvPr/>
        </p:nvPicPr>
        <p:blipFill rotWithShape="1">
          <a:blip r:embed="rId5">
            <a:alphaModFix/>
          </a:blip>
          <a:srcRect b="33061" l="22742" r="28149" t="10923"/>
          <a:stretch/>
        </p:blipFill>
        <p:spPr>
          <a:xfrm>
            <a:off x="9885440" y="6291673"/>
            <a:ext cx="1727432" cy="492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00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Google Shape;401;p18"/>
          <p:cNvSpPr/>
          <p:nvPr/>
        </p:nvSpPr>
        <p:spPr>
          <a:xfrm>
            <a:off x="9265615" y="457200"/>
            <a:ext cx="2286000" cy="36576"/>
          </a:xfrm>
          <a:prstGeom prst="rect">
            <a:avLst/>
          </a:prstGeom>
          <a:solidFill>
            <a:srgbClr val="326666"/>
          </a:solidFill>
          <a:ln cap="flat" cmpd="sng" w="12700">
            <a:solidFill>
              <a:srgbClr val="32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2" name="Google Shape;402;p18"/>
          <p:cNvSpPr/>
          <p:nvPr/>
        </p:nvSpPr>
        <p:spPr>
          <a:xfrm>
            <a:off x="9265615" y="548640"/>
            <a:ext cx="2286000" cy="18288"/>
          </a:xfrm>
          <a:prstGeom prst="rect">
            <a:avLst/>
          </a:prstGeom>
          <a:solidFill>
            <a:srgbClr val="326666"/>
          </a:solidFill>
          <a:ln cap="flat" cmpd="sng" w="12700">
            <a:solidFill>
              <a:srgbClr val="32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3" name="Google Shape;403;p18"/>
          <p:cNvSpPr/>
          <p:nvPr/>
        </p:nvSpPr>
        <p:spPr>
          <a:xfrm>
            <a:off x="502920" y="384048"/>
            <a:ext cx="914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300"/>
              <a:buFont typeface="Lato"/>
              <a:buNone/>
            </a:pPr>
            <a:r>
              <a:rPr b="1" i="0" lang="en-US" sz="1300" u="none" cap="none" strike="noStrike">
                <a:solidFill>
                  <a:srgbClr val="0D1B2A"/>
                </a:solidFill>
                <a:latin typeface="Lato"/>
                <a:ea typeface="Lato"/>
                <a:cs typeface="Lato"/>
                <a:sym typeface="Lato"/>
              </a:rPr>
              <a:t>05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4" name="Google Shape;404;p18">
            <a:hlinkClick r:id="rId3"/>
          </p:cNvPr>
          <p:cNvSpPr/>
          <p:nvPr/>
        </p:nvSpPr>
        <p:spPr>
          <a:xfrm>
            <a:off x="502920" y="6446520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Lato"/>
              <a:buNone/>
            </a:pPr>
            <a:r>
              <a:rPr b="0" i="0" lang="en-US" sz="1000" u="sng" cap="none" strike="noStrike">
                <a:solidFill>
                  <a:schemeClr val="hlink"/>
                </a:solidFill>
                <a:latin typeface="Lato"/>
                <a:ea typeface="Lato"/>
                <a:cs typeface="Lato"/>
                <a:sym typeface="Lato"/>
                <a:hlinkClick r:id="rId4"/>
              </a:rPr>
              <a:t>www.arsinnovate.com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5" name="Google Shape;405;p18"/>
          <p:cNvSpPr/>
          <p:nvPr/>
        </p:nvSpPr>
        <p:spPr>
          <a:xfrm>
            <a:off x="11551615" y="6400800"/>
            <a:ext cx="365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100"/>
              <a:buFont typeface="Lato"/>
              <a:buNone/>
            </a:pPr>
            <a:r>
              <a:rPr b="0" i="0" lang="en-US" sz="1100" u="none" cap="none" strike="noStrike">
                <a:solidFill>
                  <a:srgbClr val="595959"/>
                </a:solidFill>
                <a:latin typeface="Lato"/>
                <a:ea typeface="Lato"/>
                <a:cs typeface="Lato"/>
                <a:sym typeface="Lato"/>
              </a:rPr>
              <a:t>15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6" name="Google Shape;406;p18"/>
          <p:cNvSpPr/>
          <p:nvPr/>
        </p:nvSpPr>
        <p:spPr>
          <a:xfrm>
            <a:off x="502920" y="2103120"/>
            <a:ext cx="4572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26666"/>
              </a:buClr>
              <a:buSzPts val="1600"/>
              <a:buFont typeface="Lato"/>
              <a:buNone/>
            </a:pPr>
            <a:r>
              <a:rPr b="1" i="0" lang="en-US" sz="1600" u="none" cap="none" strike="noStrike">
                <a:solidFill>
                  <a:srgbClr val="326666"/>
                </a:solidFill>
                <a:latin typeface="Lato"/>
                <a:ea typeface="Lato"/>
                <a:cs typeface="Lato"/>
                <a:sym typeface="Lato"/>
              </a:rPr>
              <a:t>STEP 4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7" name="Google Shape;407;p18"/>
          <p:cNvSpPr/>
          <p:nvPr/>
        </p:nvSpPr>
        <p:spPr>
          <a:xfrm>
            <a:off x="502920" y="2606040"/>
            <a:ext cx="1097280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6400"/>
              <a:buFont typeface="Spectral"/>
              <a:buNone/>
            </a:pPr>
            <a:r>
              <a:rPr b="1" i="0" lang="en-US" sz="6400" u="none" cap="none" strike="noStrike">
                <a:solidFill>
                  <a:srgbClr val="0D1B2A"/>
                </a:solidFill>
                <a:latin typeface="Spectral"/>
                <a:ea typeface="Spectral"/>
                <a:cs typeface="Spectral"/>
                <a:sym typeface="Spectral"/>
              </a:rPr>
              <a:t>Break it. Debug it.</a:t>
            </a:r>
            <a:endParaRPr b="0" i="0" sz="6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8" name="Google Shape;408;p18"/>
          <p:cNvSpPr/>
          <p:nvPr/>
        </p:nvSpPr>
        <p:spPr>
          <a:xfrm>
            <a:off x="502920" y="3931920"/>
            <a:ext cx="109728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759"/>
              </a:buClr>
              <a:buSzPts val="2000"/>
              <a:buFont typeface="Spectral"/>
              <a:buNone/>
            </a:pPr>
            <a:r>
              <a:rPr b="0" i="1" lang="en-US" sz="2000" u="none" cap="none" strike="noStrike">
                <a:solidFill>
                  <a:srgbClr val="4A5759"/>
                </a:solidFill>
                <a:latin typeface="Spectral"/>
                <a:ea typeface="Spectral"/>
                <a:cs typeface="Spectral"/>
                <a:sym typeface="Spectral"/>
              </a:rPr>
              <a:t>I planted a realistic bug. Same answers. Wrong answers. No exception.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9" name="Google Shape;409;p18"/>
          <p:cNvSpPr/>
          <p:nvPr/>
        </p:nvSpPr>
        <p:spPr>
          <a:xfrm>
            <a:off x="502920" y="4846320"/>
            <a:ext cx="3931920" cy="594360"/>
          </a:xfrm>
          <a:prstGeom prst="rect">
            <a:avLst/>
          </a:prstGeom>
          <a:solidFill>
            <a:srgbClr val="F4F2EE"/>
          </a:solidFill>
          <a:ln cap="flat" cmpd="sng" w="12700">
            <a:solidFill>
              <a:srgbClr val="32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0" name="Google Shape;410;p18"/>
          <p:cNvSpPr/>
          <p:nvPr/>
        </p:nvSpPr>
        <p:spPr>
          <a:xfrm>
            <a:off x="502920" y="4846320"/>
            <a:ext cx="393192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26666"/>
              </a:buClr>
              <a:buSzPts val="1600"/>
              <a:buFont typeface="Courier New"/>
              <a:buNone/>
            </a:pPr>
            <a:r>
              <a:rPr b="1" i="0" lang="en-US" sz="1600" u="none" cap="none" strike="noStrike">
                <a:solidFill>
                  <a:srgbClr val="326666"/>
                </a:solidFill>
                <a:latin typeface="Courier New"/>
                <a:ea typeface="Courier New"/>
                <a:cs typeface="Courier New"/>
                <a:sym typeface="Courier New"/>
              </a:rPr>
              <a:t>python step4_debug/rag.py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1" name="Google Shape;411;p18"/>
          <p:cNvSpPr/>
          <p:nvPr/>
        </p:nvSpPr>
        <p:spPr>
          <a:xfrm>
            <a:off x="502920" y="5623560"/>
            <a:ext cx="10972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300"/>
              <a:buFont typeface="Lato"/>
              <a:buNone/>
            </a:pPr>
            <a:r>
              <a:rPr b="0" i="1" lang="en-US" sz="1300" u="none" cap="none" strike="noStrike">
                <a:solidFill>
                  <a:srgbClr val="595959"/>
                </a:solidFill>
                <a:latin typeface="Lato"/>
                <a:ea typeface="Lato"/>
                <a:cs typeface="Lato"/>
                <a:sym typeface="Lato"/>
              </a:rPr>
              <a:t>20 min · no peeking at SOLUTION.md — the debugging IS the workshop.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12" name="Google Shape;412;p18" title="Gemini_Generated_Image_rbdzoirbdzoirbdz.png"/>
          <p:cNvPicPr preferRelativeResize="0"/>
          <p:nvPr/>
        </p:nvPicPr>
        <p:blipFill rotWithShape="1">
          <a:blip r:embed="rId5">
            <a:alphaModFix/>
          </a:blip>
          <a:srcRect b="33061" l="22742" r="28149" t="10923"/>
          <a:stretch/>
        </p:blipFill>
        <p:spPr>
          <a:xfrm>
            <a:off x="9885440" y="6291673"/>
            <a:ext cx="1727432" cy="492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17" name="Shape 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" name="Google Shape;418;p19"/>
          <p:cNvSpPr/>
          <p:nvPr/>
        </p:nvSpPr>
        <p:spPr>
          <a:xfrm>
            <a:off x="9265615" y="457200"/>
            <a:ext cx="2286000" cy="36576"/>
          </a:xfrm>
          <a:prstGeom prst="rect">
            <a:avLst/>
          </a:prstGeom>
          <a:solidFill>
            <a:srgbClr val="326666"/>
          </a:solidFill>
          <a:ln cap="flat" cmpd="sng" w="12700">
            <a:solidFill>
              <a:srgbClr val="32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9" name="Google Shape;419;p19"/>
          <p:cNvSpPr/>
          <p:nvPr/>
        </p:nvSpPr>
        <p:spPr>
          <a:xfrm>
            <a:off x="9265615" y="548640"/>
            <a:ext cx="2286000" cy="18288"/>
          </a:xfrm>
          <a:prstGeom prst="rect">
            <a:avLst/>
          </a:prstGeom>
          <a:solidFill>
            <a:srgbClr val="326666"/>
          </a:solidFill>
          <a:ln cap="flat" cmpd="sng" w="12700">
            <a:solidFill>
              <a:srgbClr val="32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0" name="Google Shape;420;p19"/>
          <p:cNvSpPr/>
          <p:nvPr/>
        </p:nvSpPr>
        <p:spPr>
          <a:xfrm>
            <a:off x="502920" y="384048"/>
            <a:ext cx="914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300"/>
              <a:buFont typeface="Lato"/>
              <a:buNone/>
            </a:pPr>
            <a:r>
              <a:rPr b="1" i="0" lang="en-US" sz="1300" u="none" cap="none" strike="noStrike">
                <a:solidFill>
                  <a:srgbClr val="0D1B2A"/>
                </a:solidFill>
                <a:latin typeface="Lato"/>
                <a:ea typeface="Lato"/>
                <a:cs typeface="Lato"/>
                <a:sym typeface="Lato"/>
              </a:rPr>
              <a:t>04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1" name="Google Shape;421;p19">
            <a:hlinkClick r:id="rId3"/>
          </p:cNvPr>
          <p:cNvSpPr/>
          <p:nvPr/>
        </p:nvSpPr>
        <p:spPr>
          <a:xfrm>
            <a:off x="502920" y="6446520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Lato"/>
              <a:buNone/>
            </a:pPr>
            <a:r>
              <a:rPr b="0" i="0" lang="en-US" sz="1000" u="sng" cap="none" strike="noStrike">
                <a:solidFill>
                  <a:schemeClr val="hlink"/>
                </a:solidFill>
                <a:latin typeface="Lato"/>
                <a:ea typeface="Lato"/>
                <a:cs typeface="Lato"/>
                <a:sym typeface="Lato"/>
                <a:hlinkClick r:id="rId4"/>
              </a:rPr>
              <a:t>www.arsinnovate.com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2" name="Google Shape;422;p19"/>
          <p:cNvSpPr/>
          <p:nvPr/>
        </p:nvSpPr>
        <p:spPr>
          <a:xfrm>
            <a:off x="11551615" y="6400800"/>
            <a:ext cx="365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100"/>
              <a:buFont typeface="Lato"/>
              <a:buNone/>
            </a:pPr>
            <a:r>
              <a:rPr b="0" i="0" lang="en-US" sz="1100" u="none" cap="none" strike="noStrike">
                <a:solidFill>
                  <a:srgbClr val="595959"/>
                </a:solidFill>
                <a:latin typeface="Lato"/>
                <a:ea typeface="Lato"/>
                <a:cs typeface="Lato"/>
                <a:sym typeface="Lato"/>
              </a:rPr>
              <a:t>16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3" name="Google Shape;423;p19"/>
          <p:cNvSpPr/>
          <p:nvPr/>
        </p:nvSpPr>
        <p:spPr>
          <a:xfrm>
            <a:off x="502920" y="868680"/>
            <a:ext cx="11185855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26666"/>
              </a:buClr>
              <a:buSzPts val="1100"/>
              <a:buFont typeface="Lato"/>
              <a:buNone/>
            </a:pPr>
            <a:r>
              <a:rPr b="1" i="0" lang="en-US" sz="1100" u="none" cap="none" strike="noStrike">
                <a:solidFill>
                  <a:srgbClr val="326666"/>
                </a:solidFill>
                <a:latin typeface="Lato"/>
                <a:ea typeface="Lato"/>
                <a:cs typeface="Lato"/>
                <a:sym typeface="Lato"/>
              </a:rPr>
              <a:t>STEP 4 · THE DEBUG FLOW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4" name="Google Shape;424;p19"/>
          <p:cNvSpPr/>
          <p:nvPr/>
        </p:nvSpPr>
        <p:spPr>
          <a:xfrm>
            <a:off x="502920" y="1234440"/>
            <a:ext cx="11185855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4000"/>
              <a:buFont typeface="Spectral"/>
              <a:buNone/>
            </a:pPr>
            <a:r>
              <a:rPr b="1" i="0" lang="en-US" sz="4000" u="none" cap="none" strike="noStrike">
                <a:solidFill>
                  <a:srgbClr val="0D1B2A"/>
                </a:solidFill>
                <a:latin typeface="Spectral"/>
                <a:ea typeface="Spectral"/>
                <a:cs typeface="Spectral"/>
                <a:sym typeface="Spectral"/>
              </a:rPr>
              <a:t>Work backwards through the trace.</a:t>
            </a:r>
            <a:endParaRPr b="0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5" name="Google Shape;425;p19"/>
          <p:cNvSpPr/>
          <p:nvPr/>
        </p:nvSpPr>
        <p:spPr>
          <a:xfrm>
            <a:off x="548640" y="2331720"/>
            <a:ext cx="548640" cy="548640"/>
          </a:xfrm>
          <a:prstGeom prst="ellipse">
            <a:avLst/>
          </a:prstGeom>
          <a:solidFill>
            <a:srgbClr val="326666"/>
          </a:solidFill>
          <a:ln cap="flat" cmpd="sng" w="12700">
            <a:solidFill>
              <a:srgbClr val="32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6" name="Google Shape;426;p19"/>
          <p:cNvSpPr/>
          <p:nvPr/>
        </p:nvSpPr>
        <p:spPr>
          <a:xfrm>
            <a:off x="548640" y="2331720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Spectral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Spectral"/>
                <a:ea typeface="Spectral"/>
                <a:cs typeface="Spectral"/>
                <a:sym typeface="Spectral"/>
              </a:rPr>
              <a:t>1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7" name="Google Shape;427;p19"/>
          <p:cNvSpPr/>
          <p:nvPr/>
        </p:nvSpPr>
        <p:spPr>
          <a:xfrm>
            <a:off x="1280160" y="2286000"/>
            <a:ext cx="100584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700"/>
              <a:buFont typeface="Spectral"/>
              <a:buNone/>
            </a:pPr>
            <a:r>
              <a:rPr b="1" i="0" lang="en-US" sz="1700" u="none" cap="none" strike="noStrike">
                <a:solidFill>
                  <a:srgbClr val="0D1B2A"/>
                </a:solidFill>
                <a:latin typeface="Spectral"/>
                <a:ea typeface="Spectral"/>
                <a:cs typeface="Spectral"/>
                <a:sym typeface="Spectral"/>
              </a:rPr>
              <a:t>The answer looks wrong.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8" name="Google Shape;428;p19"/>
          <p:cNvSpPr/>
          <p:nvPr/>
        </p:nvSpPr>
        <p:spPr>
          <a:xfrm>
            <a:off x="1280160" y="2651760"/>
            <a:ext cx="10058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759"/>
              </a:buClr>
              <a:buSzPts val="1300"/>
              <a:buFont typeface="Lato"/>
              <a:buNone/>
            </a:pPr>
            <a:r>
              <a:rPr b="0" i="1" lang="en-US" sz="1300" u="none" cap="none" strike="noStrike">
                <a:solidFill>
                  <a:srgbClr val="4A5759"/>
                </a:solidFill>
                <a:latin typeface="Lato"/>
                <a:ea typeface="Lato"/>
                <a:cs typeface="Lato"/>
                <a:sym typeface="Lato"/>
              </a:rPr>
              <a:t>Don't read the code. Read the trace.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9" name="Google Shape;429;p19"/>
          <p:cNvSpPr/>
          <p:nvPr/>
        </p:nvSpPr>
        <p:spPr>
          <a:xfrm>
            <a:off x="548640" y="3063240"/>
            <a:ext cx="548640" cy="548640"/>
          </a:xfrm>
          <a:prstGeom prst="ellipse">
            <a:avLst/>
          </a:prstGeom>
          <a:solidFill>
            <a:srgbClr val="326666"/>
          </a:solidFill>
          <a:ln cap="flat" cmpd="sng" w="12700">
            <a:solidFill>
              <a:srgbClr val="32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0" name="Google Shape;430;p19"/>
          <p:cNvSpPr/>
          <p:nvPr/>
        </p:nvSpPr>
        <p:spPr>
          <a:xfrm>
            <a:off x="548640" y="3063240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Spectral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Spectral"/>
                <a:ea typeface="Spectral"/>
                <a:cs typeface="Spectral"/>
                <a:sym typeface="Spectral"/>
              </a:rPr>
              <a:t>2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1" name="Google Shape;431;p19"/>
          <p:cNvSpPr/>
          <p:nvPr/>
        </p:nvSpPr>
        <p:spPr>
          <a:xfrm>
            <a:off x="1280160" y="3017520"/>
            <a:ext cx="100584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700"/>
              <a:buFont typeface="Spectral"/>
              <a:buNone/>
            </a:pPr>
            <a:r>
              <a:rPr b="1" i="0" lang="en-US" sz="1700" u="none" cap="none" strike="noStrike">
                <a:solidFill>
                  <a:srgbClr val="0D1B2A"/>
                </a:solidFill>
                <a:latin typeface="Spectral"/>
                <a:ea typeface="Spectral"/>
                <a:cs typeface="Spectral"/>
                <a:sym typeface="Spectral"/>
              </a:rPr>
              <a:t>Open the prompt sent to the LLM.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2" name="Google Shape;432;p19"/>
          <p:cNvSpPr/>
          <p:nvPr/>
        </p:nvSpPr>
        <p:spPr>
          <a:xfrm>
            <a:off x="1280160" y="3383280"/>
            <a:ext cx="10058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759"/>
              </a:buClr>
              <a:buSzPts val="1300"/>
              <a:buFont typeface="Lato"/>
              <a:buNone/>
            </a:pPr>
            <a:r>
              <a:rPr b="0" i="1" lang="en-US" sz="1300" u="none" cap="none" strike="noStrike">
                <a:solidFill>
                  <a:srgbClr val="4A5759"/>
                </a:solidFill>
                <a:latin typeface="Lato"/>
                <a:ea typeface="Lato"/>
                <a:cs typeface="Lato"/>
                <a:sym typeface="Lato"/>
              </a:rPr>
              <a:t>Is the right context in it?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3" name="Google Shape;433;p19"/>
          <p:cNvSpPr/>
          <p:nvPr/>
        </p:nvSpPr>
        <p:spPr>
          <a:xfrm>
            <a:off x="548640" y="3794760"/>
            <a:ext cx="548640" cy="548640"/>
          </a:xfrm>
          <a:prstGeom prst="ellipse">
            <a:avLst/>
          </a:prstGeom>
          <a:solidFill>
            <a:srgbClr val="326666"/>
          </a:solidFill>
          <a:ln cap="flat" cmpd="sng" w="12700">
            <a:solidFill>
              <a:srgbClr val="32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4" name="Google Shape;434;p19"/>
          <p:cNvSpPr/>
          <p:nvPr/>
        </p:nvSpPr>
        <p:spPr>
          <a:xfrm>
            <a:off x="548640" y="3794760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Spectral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Spectral"/>
                <a:ea typeface="Spectral"/>
                <a:cs typeface="Spectral"/>
                <a:sym typeface="Spectral"/>
              </a:rPr>
              <a:t>3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5" name="Google Shape;435;p19"/>
          <p:cNvSpPr/>
          <p:nvPr/>
        </p:nvSpPr>
        <p:spPr>
          <a:xfrm>
            <a:off x="1280160" y="3749040"/>
            <a:ext cx="100584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700"/>
              <a:buFont typeface="Spectral"/>
              <a:buNone/>
            </a:pPr>
            <a:r>
              <a:rPr b="1" i="0" lang="en-US" sz="1700" u="none" cap="none" strike="noStrike">
                <a:solidFill>
                  <a:srgbClr val="0D1B2A"/>
                </a:solidFill>
                <a:latin typeface="Spectral"/>
                <a:ea typeface="Spectral"/>
                <a:cs typeface="Spectral"/>
                <a:sym typeface="Spectral"/>
              </a:rPr>
              <a:t>If no → look at the retrieved chunks.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6" name="Google Shape;436;p19"/>
          <p:cNvSpPr/>
          <p:nvPr/>
        </p:nvSpPr>
        <p:spPr>
          <a:xfrm>
            <a:off x="1280160" y="4114800"/>
            <a:ext cx="10058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759"/>
              </a:buClr>
              <a:buSzPts val="1300"/>
              <a:buFont typeface="Lato"/>
              <a:buNone/>
            </a:pPr>
            <a:r>
              <a:rPr b="0" i="1" lang="en-US" sz="1300" u="none" cap="none" strike="noStrike">
                <a:solidFill>
                  <a:srgbClr val="4A5759"/>
                </a:solidFill>
                <a:latin typeface="Lato"/>
                <a:ea typeface="Lato"/>
                <a:cs typeface="Lato"/>
                <a:sym typeface="Lato"/>
              </a:rPr>
              <a:t>Did we get back the right source?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7" name="Google Shape;437;p19"/>
          <p:cNvSpPr/>
          <p:nvPr/>
        </p:nvSpPr>
        <p:spPr>
          <a:xfrm>
            <a:off x="548640" y="4526280"/>
            <a:ext cx="548640" cy="548640"/>
          </a:xfrm>
          <a:prstGeom prst="ellipse">
            <a:avLst/>
          </a:prstGeom>
          <a:solidFill>
            <a:srgbClr val="326666"/>
          </a:solidFill>
          <a:ln cap="flat" cmpd="sng" w="12700">
            <a:solidFill>
              <a:srgbClr val="32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8" name="Google Shape;438;p19"/>
          <p:cNvSpPr/>
          <p:nvPr/>
        </p:nvSpPr>
        <p:spPr>
          <a:xfrm>
            <a:off x="548640" y="4526280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Spectral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Spectral"/>
                <a:ea typeface="Spectral"/>
                <a:cs typeface="Spectral"/>
                <a:sym typeface="Spectral"/>
              </a:rPr>
              <a:t>4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9" name="Google Shape;439;p19"/>
          <p:cNvSpPr/>
          <p:nvPr/>
        </p:nvSpPr>
        <p:spPr>
          <a:xfrm>
            <a:off x="1280160" y="4480560"/>
            <a:ext cx="100584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700"/>
              <a:buFont typeface="Spectral"/>
              <a:buNone/>
            </a:pPr>
            <a:r>
              <a:rPr b="1" i="0" lang="en-US" sz="1700" u="none" cap="none" strike="noStrike">
                <a:solidFill>
                  <a:srgbClr val="0D1B2A"/>
                </a:solidFill>
                <a:latin typeface="Spectral"/>
                <a:ea typeface="Spectral"/>
                <a:cs typeface="Spectral"/>
                <a:sym typeface="Spectral"/>
              </a:rPr>
              <a:t>If no → check the embed spans.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0" name="Google Shape;440;p19"/>
          <p:cNvSpPr/>
          <p:nvPr/>
        </p:nvSpPr>
        <p:spPr>
          <a:xfrm>
            <a:off x="1280160" y="4846320"/>
            <a:ext cx="10058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759"/>
              </a:buClr>
              <a:buSzPts val="1300"/>
              <a:buFont typeface="Lato"/>
              <a:buNone/>
            </a:pPr>
            <a:r>
              <a:rPr b="0" i="1" lang="en-US" sz="1300" u="none" cap="none" strike="noStrike">
                <a:solidFill>
                  <a:srgbClr val="4A5759"/>
                </a:solidFill>
                <a:latin typeface="Lato"/>
                <a:ea typeface="Lato"/>
                <a:cs typeface="Lato"/>
                <a:sym typeface="Lato"/>
              </a:rPr>
              <a:t>What model did each use?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1" name="Google Shape;441;p19"/>
          <p:cNvSpPr/>
          <p:nvPr/>
        </p:nvSpPr>
        <p:spPr>
          <a:xfrm>
            <a:off x="548640" y="5257800"/>
            <a:ext cx="548640" cy="548640"/>
          </a:xfrm>
          <a:prstGeom prst="ellipse">
            <a:avLst/>
          </a:prstGeom>
          <a:solidFill>
            <a:srgbClr val="326666"/>
          </a:solidFill>
          <a:ln cap="flat" cmpd="sng" w="12700">
            <a:solidFill>
              <a:srgbClr val="32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2" name="Google Shape;442;p19"/>
          <p:cNvSpPr/>
          <p:nvPr/>
        </p:nvSpPr>
        <p:spPr>
          <a:xfrm>
            <a:off x="548640" y="5257800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Spectral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Spectral"/>
                <a:ea typeface="Spectral"/>
                <a:cs typeface="Spectral"/>
                <a:sym typeface="Spectral"/>
              </a:rPr>
              <a:t>5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3" name="Google Shape;443;p19"/>
          <p:cNvSpPr/>
          <p:nvPr/>
        </p:nvSpPr>
        <p:spPr>
          <a:xfrm>
            <a:off x="1280160" y="5212080"/>
            <a:ext cx="100584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700"/>
              <a:buFont typeface="Spectral"/>
              <a:buNone/>
            </a:pPr>
            <a:r>
              <a:rPr b="1" i="0" lang="en-US" sz="1700" u="none" cap="none" strike="noStrike">
                <a:solidFill>
                  <a:srgbClr val="0D1B2A"/>
                </a:solidFill>
                <a:latin typeface="Spectral"/>
                <a:ea typeface="Spectral"/>
                <a:cs typeface="Spectral"/>
                <a:sym typeface="Spectral"/>
              </a:rPr>
              <a:t>Look for the mismatch.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4" name="Google Shape;444;p19"/>
          <p:cNvSpPr/>
          <p:nvPr/>
        </p:nvSpPr>
        <p:spPr>
          <a:xfrm>
            <a:off x="1280160" y="5577840"/>
            <a:ext cx="10058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759"/>
              </a:buClr>
              <a:buSzPts val="1300"/>
              <a:buFont typeface="Lato"/>
              <a:buNone/>
            </a:pPr>
            <a:r>
              <a:rPr b="0" i="1" lang="en-US" sz="1300" u="none" cap="none" strike="noStrike">
                <a:solidFill>
                  <a:srgbClr val="4A5759"/>
                </a:solidFill>
                <a:latin typeface="Lato"/>
                <a:ea typeface="Lato"/>
                <a:cs typeface="Lato"/>
                <a:sym typeface="Lato"/>
              </a:rPr>
              <a:t>Same code, different signal. That's your bug.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5" name="Google Shape;445;p19"/>
          <p:cNvSpPr/>
          <p:nvPr/>
        </p:nvSpPr>
        <p:spPr>
          <a:xfrm>
            <a:off x="502920" y="6080760"/>
            <a:ext cx="10972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26666"/>
              </a:buClr>
              <a:buSzPts val="1400"/>
              <a:buFont typeface="Spectral"/>
              <a:buNone/>
            </a:pPr>
            <a:r>
              <a:rPr b="1" i="1" lang="en-US" sz="1400" u="none" cap="none" strike="noStrike">
                <a:solidFill>
                  <a:srgbClr val="326666"/>
                </a:solidFill>
                <a:latin typeface="Spectral"/>
                <a:ea typeface="Spectral"/>
                <a:cs typeface="Spectral"/>
                <a:sym typeface="Spectral"/>
              </a:rPr>
              <a:t>This flow is impossible without per-stage tracing. That's why it's not optional.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46" name="Google Shape;446;p19" title="Gemini_Generated_Image_rbdzoirbdzoirbdz.png"/>
          <p:cNvPicPr preferRelativeResize="0"/>
          <p:nvPr/>
        </p:nvPicPr>
        <p:blipFill rotWithShape="1">
          <a:blip r:embed="rId5">
            <a:alphaModFix/>
          </a:blip>
          <a:srcRect b="33061" l="22742" r="28149" t="10923"/>
          <a:stretch/>
        </p:blipFill>
        <p:spPr>
          <a:xfrm>
            <a:off x="9885440" y="6291673"/>
            <a:ext cx="1727432" cy="492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51" name="Shape 4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" name="Google Shape;452;p20"/>
          <p:cNvSpPr/>
          <p:nvPr/>
        </p:nvSpPr>
        <p:spPr>
          <a:xfrm>
            <a:off x="9265615" y="457200"/>
            <a:ext cx="2286000" cy="36576"/>
          </a:xfrm>
          <a:prstGeom prst="rect">
            <a:avLst/>
          </a:prstGeom>
          <a:solidFill>
            <a:srgbClr val="326666"/>
          </a:solidFill>
          <a:ln cap="flat" cmpd="sng" w="12700">
            <a:solidFill>
              <a:srgbClr val="32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3" name="Google Shape;453;p20"/>
          <p:cNvSpPr/>
          <p:nvPr/>
        </p:nvSpPr>
        <p:spPr>
          <a:xfrm>
            <a:off x="9265615" y="548640"/>
            <a:ext cx="2286000" cy="18288"/>
          </a:xfrm>
          <a:prstGeom prst="rect">
            <a:avLst/>
          </a:prstGeom>
          <a:solidFill>
            <a:srgbClr val="326666"/>
          </a:solidFill>
          <a:ln cap="flat" cmpd="sng" w="12700">
            <a:solidFill>
              <a:srgbClr val="32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4" name="Google Shape;454;p20"/>
          <p:cNvSpPr/>
          <p:nvPr/>
        </p:nvSpPr>
        <p:spPr>
          <a:xfrm>
            <a:off x="502920" y="384048"/>
            <a:ext cx="914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300"/>
              <a:buFont typeface="Lato"/>
              <a:buNone/>
            </a:pPr>
            <a:r>
              <a:rPr b="1" i="0" lang="en-US" sz="1300" u="none" cap="none" strike="noStrike">
                <a:solidFill>
                  <a:srgbClr val="0D1B2A"/>
                </a:solidFill>
                <a:latin typeface="Lato"/>
                <a:ea typeface="Lato"/>
                <a:cs typeface="Lato"/>
                <a:sym typeface="Lato"/>
              </a:rPr>
              <a:t>05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5" name="Google Shape;455;p20">
            <a:hlinkClick r:id="rId3"/>
          </p:cNvPr>
          <p:cNvSpPr/>
          <p:nvPr/>
        </p:nvSpPr>
        <p:spPr>
          <a:xfrm>
            <a:off x="502920" y="6446520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Lato"/>
              <a:buNone/>
            </a:pPr>
            <a:r>
              <a:rPr b="0" i="0" lang="en-US" sz="1000" u="sng" cap="none" strike="noStrike">
                <a:solidFill>
                  <a:schemeClr val="hlink"/>
                </a:solidFill>
                <a:latin typeface="Lato"/>
                <a:ea typeface="Lato"/>
                <a:cs typeface="Lato"/>
                <a:sym typeface="Lato"/>
                <a:hlinkClick r:id="rId4"/>
              </a:rPr>
              <a:t>www.arsinnovate.com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6" name="Google Shape;456;p20"/>
          <p:cNvSpPr/>
          <p:nvPr/>
        </p:nvSpPr>
        <p:spPr>
          <a:xfrm>
            <a:off x="11551615" y="6400800"/>
            <a:ext cx="365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100"/>
              <a:buFont typeface="Lato"/>
              <a:buNone/>
            </a:pPr>
            <a:r>
              <a:rPr b="0" i="0" lang="en-US" sz="1100" u="none" cap="none" strike="noStrike">
                <a:solidFill>
                  <a:srgbClr val="595959"/>
                </a:solidFill>
                <a:latin typeface="Lato"/>
                <a:ea typeface="Lato"/>
                <a:cs typeface="Lato"/>
                <a:sym typeface="Lato"/>
              </a:rPr>
              <a:t>17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7" name="Google Shape;457;p20"/>
          <p:cNvSpPr/>
          <p:nvPr/>
        </p:nvSpPr>
        <p:spPr>
          <a:xfrm>
            <a:off x="502920" y="868680"/>
            <a:ext cx="11185855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26666"/>
              </a:buClr>
              <a:buSzPts val="1100"/>
              <a:buFont typeface="Lato"/>
              <a:buNone/>
            </a:pPr>
            <a:r>
              <a:rPr b="1" i="0" lang="en-US" sz="1100" u="none" cap="none" strike="noStrike">
                <a:solidFill>
                  <a:srgbClr val="326666"/>
                </a:solidFill>
                <a:latin typeface="Lato"/>
                <a:ea typeface="Lato"/>
                <a:cs typeface="Lato"/>
                <a:sym typeface="Lato"/>
              </a:rPr>
              <a:t>TAKE THIS TO PROD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8" name="Google Shape;458;p20"/>
          <p:cNvSpPr/>
          <p:nvPr/>
        </p:nvSpPr>
        <p:spPr>
          <a:xfrm>
            <a:off x="502920" y="1234440"/>
            <a:ext cx="11185855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4000"/>
              <a:buFont typeface="Spectral"/>
              <a:buNone/>
            </a:pPr>
            <a:r>
              <a:rPr b="1" i="0" lang="en-US" sz="4000" u="none" cap="none" strike="noStrike">
                <a:solidFill>
                  <a:srgbClr val="0D1B2A"/>
                </a:solidFill>
                <a:latin typeface="Spectral"/>
                <a:ea typeface="Spectral"/>
                <a:cs typeface="Spectral"/>
                <a:sym typeface="Spectral"/>
              </a:rPr>
              <a:t>What to change when you're not on a laptop.</a:t>
            </a:r>
            <a:endParaRPr b="0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9" name="Google Shape;459;p20"/>
          <p:cNvSpPr/>
          <p:nvPr/>
        </p:nvSpPr>
        <p:spPr>
          <a:xfrm>
            <a:off x="502920" y="2286000"/>
            <a:ext cx="11155680" cy="594360"/>
          </a:xfrm>
          <a:prstGeom prst="rect">
            <a:avLst/>
          </a:prstGeom>
          <a:solidFill>
            <a:srgbClr val="F4F2EE"/>
          </a:solidFill>
          <a:ln cap="flat" cmpd="sng" w="9525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0" name="Google Shape;460;p20"/>
          <p:cNvSpPr/>
          <p:nvPr/>
        </p:nvSpPr>
        <p:spPr>
          <a:xfrm>
            <a:off x="731520" y="2331720"/>
            <a:ext cx="36576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400"/>
              <a:buFont typeface="Lato"/>
              <a:buNone/>
            </a:pPr>
            <a:r>
              <a:rPr b="1" i="0" lang="en-US" sz="1400" u="none" cap="none" strike="noStrike">
                <a:solidFill>
                  <a:srgbClr val="0D1B2A"/>
                </a:solidFill>
                <a:latin typeface="Lato"/>
                <a:ea typeface="Lato"/>
                <a:cs typeface="Lato"/>
                <a:sym typeface="Lato"/>
              </a:rPr>
              <a:t>Ollama → hosted model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1" name="Google Shape;461;p20"/>
          <p:cNvSpPr/>
          <p:nvPr/>
        </p:nvSpPr>
        <p:spPr>
          <a:xfrm>
            <a:off x="4572000" y="2331720"/>
            <a:ext cx="68580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02124"/>
              </a:buClr>
              <a:buSzPts val="1200"/>
              <a:buFont typeface="Lato"/>
              <a:buNone/>
            </a:pPr>
            <a:r>
              <a:rPr b="0" i="0" lang="en-US" sz="1200" u="none" cap="none" strike="noStrike">
                <a:solidFill>
                  <a:srgbClr val="202124"/>
                </a:solidFill>
                <a:latin typeface="Lato"/>
                <a:ea typeface="Lato"/>
                <a:cs typeface="Lato"/>
                <a:sym typeface="Lato"/>
              </a:rPr>
              <a:t>Swap the client; @observe decorators don't change. Langfuse auto-captures OpenAI/Anthropic SDKs.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2" name="Google Shape;462;p20"/>
          <p:cNvSpPr/>
          <p:nvPr/>
        </p:nvSpPr>
        <p:spPr>
          <a:xfrm>
            <a:off x="502920" y="2971800"/>
            <a:ext cx="11155680" cy="59436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3" name="Google Shape;463;p20"/>
          <p:cNvSpPr/>
          <p:nvPr/>
        </p:nvSpPr>
        <p:spPr>
          <a:xfrm>
            <a:off x="731520" y="3017520"/>
            <a:ext cx="36576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400"/>
              <a:buFont typeface="Lato"/>
              <a:buNone/>
            </a:pPr>
            <a:r>
              <a:rPr b="1" i="0" lang="en-US" sz="1400" u="none" cap="none" strike="noStrike">
                <a:solidFill>
                  <a:srgbClr val="0D1B2A"/>
                </a:solidFill>
                <a:latin typeface="Lato"/>
                <a:ea typeface="Lato"/>
                <a:cs typeface="Lato"/>
                <a:sym typeface="Lato"/>
              </a:rPr>
              <a:t>ConsoleSpanExporter → OTLP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4" name="Google Shape;464;p20"/>
          <p:cNvSpPr/>
          <p:nvPr/>
        </p:nvSpPr>
        <p:spPr>
          <a:xfrm>
            <a:off x="4572000" y="3017520"/>
            <a:ext cx="68580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02124"/>
              </a:buClr>
              <a:buSzPts val="1200"/>
              <a:buFont typeface="Lato"/>
              <a:buNone/>
            </a:pPr>
            <a:r>
              <a:rPr b="0" i="0" lang="en-US" sz="1200" u="none" cap="none" strike="noStrike">
                <a:solidFill>
                  <a:srgbClr val="202124"/>
                </a:solidFill>
                <a:latin typeface="Lato"/>
                <a:ea typeface="Lato"/>
                <a:cs typeface="Lato"/>
                <a:sym typeface="Lato"/>
              </a:rPr>
              <a:t>One line. Your spans land in Jaeger, Tempo, Datadog, Honeycomb, your existing APM.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5" name="Google Shape;465;p20"/>
          <p:cNvSpPr/>
          <p:nvPr/>
        </p:nvSpPr>
        <p:spPr>
          <a:xfrm>
            <a:off x="502920" y="3657600"/>
            <a:ext cx="11155680" cy="594360"/>
          </a:xfrm>
          <a:prstGeom prst="rect">
            <a:avLst/>
          </a:prstGeom>
          <a:solidFill>
            <a:srgbClr val="F4F2EE"/>
          </a:solidFill>
          <a:ln cap="flat" cmpd="sng" w="9525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6" name="Google Shape;466;p20"/>
          <p:cNvSpPr/>
          <p:nvPr/>
        </p:nvSpPr>
        <p:spPr>
          <a:xfrm>
            <a:off x="731520" y="3703320"/>
            <a:ext cx="36576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400"/>
              <a:buFont typeface="Lato"/>
              <a:buNone/>
            </a:pPr>
            <a:r>
              <a:rPr b="1" i="0" lang="en-US" sz="1400" u="none" cap="none" strike="noStrike">
                <a:solidFill>
                  <a:srgbClr val="0D1B2A"/>
                </a:solidFill>
                <a:latin typeface="Lato"/>
                <a:ea typeface="Lato"/>
                <a:cs typeface="Lato"/>
                <a:sym typeface="Lato"/>
              </a:rPr>
              <a:t>EphemeralClient → persistent vectors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7" name="Google Shape;467;p20"/>
          <p:cNvSpPr/>
          <p:nvPr/>
        </p:nvSpPr>
        <p:spPr>
          <a:xfrm>
            <a:off x="4572000" y="3703320"/>
            <a:ext cx="68580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02124"/>
              </a:buClr>
              <a:buSzPts val="1200"/>
              <a:buFont typeface="Lato"/>
              <a:buNone/>
            </a:pPr>
            <a:r>
              <a:rPr b="0" i="0" lang="en-US" sz="1200" u="none" cap="none" strike="noStrike">
                <a:solidFill>
                  <a:srgbClr val="202124"/>
                </a:solidFill>
                <a:latin typeface="Lato"/>
                <a:ea typeface="Lato"/>
                <a:cs typeface="Lato"/>
                <a:sym typeface="Lato"/>
              </a:rPr>
              <a:t>Chroma HttpClient, Pinecone, Weaviate, pgvector. The trace boundary is the same.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8" name="Google Shape;468;p20"/>
          <p:cNvSpPr/>
          <p:nvPr/>
        </p:nvSpPr>
        <p:spPr>
          <a:xfrm>
            <a:off x="502920" y="4343400"/>
            <a:ext cx="11155680" cy="59436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9" name="Google Shape;469;p20"/>
          <p:cNvSpPr/>
          <p:nvPr/>
        </p:nvSpPr>
        <p:spPr>
          <a:xfrm>
            <a:off x="731520" y="4389120"/>
            <a:ext cx="36576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400"/>
              <a:buFont typeface="Lato"/>
              <a:buNone/>
            </a:pPr>
            <a:r>
              <a:rPr b="1" i="0" lang="en-US" sz="1400" u="none" cap="none" strike="noStrike">
                <a:solidFill>
                  <a:srgbClr val="0D1B2A"/>
                </a:solidFill>
                <a:latin typeface="Lato"/>
                <a:ea typeface="Lato"/>
                <a:cs typeface="Lato"/>
                <a:sym typeface="Lato"/>
              </a:rPr>
              <a:t>Add evaluation loop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0" name="Google Shape;470;p20"/>
          <p:cNvSpPr/>
          <p:nvPr/>
        </p:nvSpPr>
        <p:spPr>
          <a:xfrm>
            <a:off x="4572000" y="4389120"/>
            <a:ext cx="68580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02124"/>
              </a:buClr>
              <a:buSzPts val="1200"/>
              <a:buFont typeface="Lato"/>
              <a:buNone/>
            </a:pPr>
            <a:r>
              <a:rPr b="0" i="0" lang="en-US" sz="1200" u="none" cap="none" strike="noStrike">
                <a:solidFill>
                  <a:srgbClr val="202124"/>
                </a:solidFill>
                <a:latin typeface="Lato"/>
                <a:ea typeface="Lato"/>
                <a:cs typeface="Lato"/>
                <a:sym typeface="Lato"/>
              </a:rPr>
              <a:t>Langfuse LLM-as-judge scores every response. Trend the scores. Gate releases on it.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1" name="Google Shape;471;p20"/>
          <p:cNvSpPr/>
          <p:nvPr/>
        </p:nvSpPr>
        <p:spPr>
          <a:xfrm>
            <a:off x="502920" y="5029200"/>
            <a:ext cx="11155680" cy="594360"/>
          </a:xfrm>
          <a:prstGeom prst="rect">
            <a:avLst/>
          </a:prstGeom>
          <a:solidFill>
            <a:srgbClr val="F4F2EE"/>
          </a:solidFill>
          <a:ln cap="flat" cmpd="sng" w="9525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2" name="Google Shape;472;p20"/>
          <p:cNvSpPr/>
          <p:nvPr/>
        </p:nvSpPr>
        <p:spPr>
          <a:xfrm>
            <a:off x="731520" y="5074920"/>
            <a:ext cx="36576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400"/>
              <a:buFont typeface="Lato"/>
              <a:buNone/>
            </a:pPr>
            <a:r>
              <a:rPr b="1" i="0" lang="en-US" sz="1400" u="none" cap="none" strike="noStrike">
                <a:solidFill>
                  <a:srgbClr val="0D1B2A"/>
                </a:solidFill>
                <a:latin typeface="Lato"/>
                <a:ea typeface="Lato"/>
                <a:cs typeface="Lato"/>
                <a:sym typeface="Lato"/>
              </a:rPr>
              <a:t>Mask PII before persisting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3" name="Google Shape;473;p20"/>
          <p:cNvSpPr/>
          <p:nvPr/>
        </p:nvSpPr>
        <p:spPr>
          <a:xfrm>
            <a:off x="4572000" y="5074920"/>
            <a:ext cx="68580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02124"/>
              </a:buClr>
              <a:buSzPts val="1200"/>
              <a:buFont typeface="Lato"/>
              <a:buNone/>
            </a:pPr>
            <a:r>
              <a:rPr b="0" i="0" lang="en-US" sz="1200" u="none" cap="none" strike="noStrike">
                <a:solidFill>
                  <a:srgbClr val="202124"/>
                </a:solidFill>
                <a:latin typeface="Lato"/>
                <a:ea typeface="Lato"/>
                <a:cs typeface="Lato"/>
                <a:sym typeface="Lato"/>
              </a:rPr>
              <a:t>Langfuse masking hook — strip sensitive fields in prompt/completion before storage.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74" name="Google Shape;474;p20" title="Gemini_Generated_Image_rbdzoirbdzoirbdz.png"/>
          <p:cNvPicPr preferRelativeResize="0"/>
          <p:nvPr/>
        </p:nvPicPr>
        <p:blipFill rotWithShape="1">
          <a:blip r:embed="rId5">
            <a:alphaModFix/>
          </a:blip>
          <a:srcRect b="33061" l="22742" r="28149" t="10923"/>
          <a:stretch/>
        </p:blipFill>
        <p:spPr>
          <a:xfrm>
            <a:off x="9885440" y="6291673"/>
            <a:ext cx="1727432" cy="492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79" name="Shape 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0" name="Google Shape;480;p21"/>
          <p:cNvSpPr/>
          <p:nvPr/>
        </p:nvSpPr>
        <p:spPr>
          <a:xfrm>
            <a:off x="9265615" y="457200"/>
            <a:ext cx="2286000" cy="36576"/>
          </a:xfrm>
          <a:prstGeom prst="rect">
            <a:avLst/>
          </a:prstGeom>
          <a:solidFill>
            <a:srgbClr val="326666"/>
          </a:solidFill>
          <a:ln cap="flat" cmpd="sng" w="12700">
            <a:solidFill>
              <a:srgbClr val="32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1" name="Google Shape;481;p21"/>
          <p:cNvSpPr/>
          <p:nvPr/>
        </p:nvSpPr>
        <p:spPr>
          <a:xfrm>
            <a:off x="9265615" y="548640"/>
            <a:ext cx="2286000" cy="18288"/>
          </a:xfrm>
          <a:prstGeom prst="rect">
            <a:avLst/>
          </a:prstGeom>
          <a:solidFill>
            <a:srgbClr val="326666"/>
          </a:solidFill>
          <a:ln cap="flat" cmpd="sng" w="12700">
            <a:solidFill>
              <a:srgbClr val="32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2" name="Google Shape;482;p21"/>
          <p:cNvSpPr/>
          <p:nvPr/>
        </p:nvSpPr>
        <p:spPr>
          <a:xfrm>
            <a:off x="502920" y="384048"/>
            <a:ext cx="914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300"/>
              <a:buFont typeface="Lato"/>
              <a:buNone/>
            </a:pPr>
            <a:r>
              <a:rPr b="1" i="0" lang="en-US" sz="1300" u="none" cap="none" strike="noStrike">
                <a:solidFill>
                  <a:srgbClr val="0D1B2A"/>
                </a:solidFill>
                <a:latin typeface="Lato"/>
                <a:ea typeface="Lato"/>
                <a:cs typeface="Lato"/>
                <a:sym typeface="Lato"/>
              </a:rPr>
              <a:t>05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3" name="Google Shape;483;p21">
            <a:hlinkClick r:id="rId3"/>
          </p:cNvPr>
          <p:cNvSpPr/>
          <p:nvPr/>
        </p:nvSpPr>
        <p:spPr>
          <a:xfrm>
            <a:off x="502920" y="6446520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Lato"/>
              <a:buNone/>
            </a:pPr>
            <a:r>
              <a:rPr b="0" i="0" lang="en-US" sz="1000" u="sng" cap="none" strike="noStrike">
                <a:solidFill>
                  <a:schemeClr val="hlink"/>
                </a:solidFill>
                <a:latin typeface="Lato"/>
                <a:ea typeface="Lato"/>
                <a:cs typeface="Lato"/>
                <a:sym typeface="Lato"/>
                <a:hlinkClick r:id="rId4"/>
              </a:rPr>
              <a:t>www.arsinnovate.com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4" name="Google Shape;484;p21"/>
          <p:cNvSpPr/>
          <p:nvPr/>
        </p:nvSpPr>
        <p:spPr>
          <a:xfrm>
            <a:off x="11551615" y="6400800"/>
            <a:ext cx="365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100"/>
              <a:buFont typeface="Lato"/>
              <a:buNone/>
            </a:pPr>
            <a:r>
              <a:rPr b="0" i="0" lang="en-US" sz="1100" u="none" cap="none" strike="noStrike">
                <a:solidFill>
                  <a:srgbClr val="595959"/>
                </a:solidFill>
                <a:latin typeface="Lato"/>
                <a:ea typeface="Lato"/>
                <a:cs typeface="Lato"/>
                <a:sym typeface="Lato"/>
              </a:rPr>
              <a:t>18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5" name="Google Shape;485;p21"/>
          <p:cNvSpPr/>
          <p:nvPr/>
        </p:nvSpPr>
        <p:spPr>
          <a:xfrm>
            <a:off x="502920" y="868680"/>
            <a:ext cx="11185855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26666"/>
              </a:buClr>
              <a:buSzPts val="1100"/>
              <a:buFont typeface="Lato"/>
              <a:buNone/>
            </a:pPr>
            <a:r>
              <a:rPr b="1" i="0" lang="en-US" sz="1100" u="none" cap="none" strike="noStrike">
                <a:solidFill>
                  <a:srgbClr val="326666"/>
                </a:solidFill>
                <a:latin typeface="Lato"/>
                <a:ea typeface="Lato"/>
                <a:cs typeface="Lato"/>
                <a:sym typeface="Lato"/>
              </a:rPr>
              <a:t>WHAT YOU LEAVE WITH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6" name="Google Shape;486;p21"/>
          <p:cNvSpPr/>
          <p:nvPr/>
        </p:nvSpPr>
        <p:spPr>
          <a:xfrm>
            <a:off x="502920" y="1234440"/>
            <a:ext cx="11185855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4000"/>
              <a:buFont typeface="Spectral"/>
              <a:buNone/>
            </a:pPr>
            <a:r>
              <a:rPr b="1" i="0" lang="en-US" sz="4000" u="none" cap="none" strike="noStrike">
                <a:solidFill>
                  <a:srgbClr val="0D1B2A"/>
                </a:solidFill>
                <a:latin typeface="Spectral"/>
                <a:ea typeface="Spectral"/>
                <a:cs typeface="Spectral"/>
                <a:sym typeface="Spectral"/>
              </a:rPr>
              <a:t>Four things to take home.</a:t>
            </a:r>
            <a:endParaRPr b="0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7" name="Google Shape;487;p21"/>
          <p:cNvSpPr/>
          <p:nvPr/>
        </p:nvSpPr>
        <p:spPr>
          <a:xfrm>
            <a:off x="502920" y="2331720"/>
            <a:ext cx="5486400" cy="169164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32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8" name="Google Shape;488;p21"/>
          <p:cNvSpPr/>
          <p:nvPr/>
        </p:nvSpPr>
        <p:spPr>
          <a:xfrm>
            <a:off x="502920" y="2331720"/>
            <a:ext cx="5486400" cy="73152"/>
          </a:xfrm>
          <a:prstGeom prst="rect">
            <a:avLst/>
          </a:prstGeom>
          <a:solidFill>
            <a:srgbClr val="326666"/>
          </a:solidFill>
          <a:ln cap="flat" cmpd="sng" w="12700">
            <a:solidFill>
              <a:srgbClr val="32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89" name="Google Shape;489;p2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77240" y="2606040"/>
            <a:ext cx="502920" cy="502920"/>
          </a:xfrm>
          <a:prstGeom prst="rect">
            <a:avLst/>
          </a:prstGeom>
          <a:noFill/>
          <a:ln>
            <a:noFill/>
          </a:ln>
        </p:spPr>
      </p:pic>
      <p:sp>
        <p:nvSpPr>
          <p:cNvPr id="490" name="Google Shape;490;p21"/>
          <p:cNvSpPr/>
          <p:nvPr/>
        </p:nvSpPr>
        <p:spPr>
          <a:xfrm>
            <a:off x="1463040" y="2560320"/>
            <a:ext cx="42976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800"/>
              <a:buFont typeface="Spectral"/>
              <a:buNone/>
            </a:pPr>
            <a:r>
              <a:rPr b="1" i="0" lang="en-US" sz="1800" u="none" cap="none" strike="noStrike">
                <a:solidFill>
                  <a:srgbClr val="0D1B2A"/>
                </a:solidFill>
                <a:latin typeface="Spectral"/>
                <a:ea typeface="Spectral"/>
                <a:cs typeface="Spectral"/>
                <a:sym typeface="Spectral"/>
              </a:rPr>
              <a:t>A working repo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1" name="Google Shape;491;p21"/>
          <p:cNvSpPr/>
          <p:nvPr/>
        </p:nvSpPr>
        <p:spPr>
          <a:xfrm>
            <a:off x="777240" y="3200400"/>
            <a:ext cx="5029200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02124"/>
              </a:buClr>
              <a:buSzPts val="1200"/>
              <a:buFont typeface="Lato"/>
              <a:buNone/>
            </a:pPr>
            <a:r>
              <a:rPr b="0" i="0" lang="en-US" sz="1200" u="none" cap="none" strike="noStrike">
                <a:solidFill>
                  <a:srgbClr val="202124"/>
                </a:solidFill>
                <a:latin typeface="Lato"/>
                <a:ea typeface="Lato"/>
                <a:cs typeface="Lato"/>
                <a:sym typeface="Lato"/>
              </a:rPr>
              <a:t>Clone it, extend it, rip it apart. MIT-licensed. Bring to work Monday.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2" name="Google Shape;492;p21"/>
          <p:cNvSpPr/>
          <p:nvPr/>
        </p:nvSpPr>
        <p:spPr>
          <a:xfrm>
            <a:off x="6217920" y="2331720"/>
            <a:ext cx="5486400" cy="169164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32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3" name="Google Shape;493;p21"/>
          <p:cNvSpPr/>
          <p:nvPr/>
        </p:nvSpPr>
        <p:spPr>
          <a:xfrm>
            <a:off x="6217920" y="2331720"/>
            <a:ext cx="5486400" cy="73152"/>
          </a:xfrm>
          <a:prstGeom prst="rect">
            <a:avLst/>
          </a:prstGeom>
          <a:solidFill>
            <a:srgbClr val="326666"/>
          </a:solidFill>
          <a:ln cap="flat" cmpd="sng" w="12700">
            <a:solidFill>
              <a:srgbClr val="32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94" name="Google Shape;494;p2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492240" y="2606040"/>
            <a:ext cx="502920" cy="502920"/>
          </a:xfrm>
          <a:prstGeom prst="rect">
            <a:avLst/>
          </a:prstGeom>
          <a:noFill/>
          <a:ln>
            <a:noFill/>
          </a:ln>
        </p:spPr>
      </p:pic>
      <p:sp>
        <p:nvSpPr>
          <p:cNvPr id="495" name="Google Shape;495;p21"/>
          <p:cNvSpPr/>
          <p:nvPr/>
        </p:nvSpPr>
        <p:spPr>
          <a:xfrm>
            <a:off x="7178040" y="2560320"/>
            <a:ext cx="42976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800"/>
              <a:buFont typeface="Spectral"/>
              <a:buNone/>
            </a:pPr>
            <a:r>
              <a:rPr b="1" i="0" lang="en-US" sz="1800" u="none" cap="none" strike="noStrike">
                <a:solidFill>
                  <a:srgbClr val="0D1B2A"/>
                </a:solidFill>
                <a:latin typeface="Spectral"/>
                <a:ea typeface="Spectral"/>
                <a:cs typeface="Spectral"/>
                <a:sym typeface="Spectral"/>
              </a:rPr>
              <a:t>An observability pattern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6" name="Google Shape;496;p21"/>
          <p:cNvSpPr/>
          <p:nvPr/>
        </p:nvSpPr>
        <p:spPr>
          <a:xfrm>
            <a:off x="6492240" y="3200400"/>
            <a:ext cx="5029200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02124"/>
              </a:buClr>
              <a:buSzPts val="1200"/>
              <a:buFont typeface="Lato"/>
              <a:buNone/>
            </a:pPr>
            <a:r>
              <a:rPr b="0" i="0" lang="en-US" sz="1200" u="none" cap="none" strike="noStrike">
                <a:solidFill>
                  <a:srgbClr val="202124"/>
                </a:solidFill>
                <a:latin typeface="Lato"/>
                <a:ea typeface="Lato"/>
                <a:cs typeface="Lato"/>
                <a:sym typeface="Lato"/>
              </a:rPr>
              <a:t>Applies to any LLM project, any model, any backend. The wrapper is the same.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7" name="Google Shape;497;p21"/>
          <p:cNvSpPr/>
          <p:nvPr/>
        </p:nvSpPr>
        <p:spPr>
          <a:xfrm>
            <a:off x="502920" y="4251960"/>
            <a:ext cx="5486400" cy="169164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32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8" name="Google Shape;498;p21"/>
          <p:cNvSpPr/>
          <p:nvPr/>
        </p:nvSpPr>
        <p:spPr>
          <a:xfrm>
            <a:off x="502920" y="4251960"/>
            <a:ext cx="5486400" cy="73152"/>
          </a:xfrm>
          <a:prstGeom prst="rect">
            <a:avLst/>
          </a:prstGeom>
          <a:solidFill>
            <a:srgbClr val="326666"/>
          </a:solidFill>
          <a:ln cap="flat" cmpd="sng" w="12700">
            <a:solidFill>
              <a:srgbClr val="32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99" name="Google Shape;499;p21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77240" y="4526280"/>
            <a:ext cx="502920" cy="502920"/>
          </a:xfrm>
          <a:prstGeom prst="rect">
            <a:avLst/>
          </a:prstGeom>
          <a:noFill/>
          <a:ln>
            <a:noFill/>
          </a:ln>
        </p:spPr>
      </p:pic>
      <p:sp>
        <p:nvSpPr>
          <p:cNvPr id="500" name="Google Shape;500;p21"/>
          <p:cNvSpPr/>
          <p:nvPr/>
        </p:nvSpPr>
        <p:spPr>
          <a:xfrm>
            <a:off x="1463040" y="4480560"/>
            <a:ext cx="42976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800"/>
              <a:buFont typeface="Spectral"/>
              <a:buNone/>
            </a:pPr>
            <a:r>
              <a:rPr b="1" i="0" lang="en-US" sz="1800" u="none" cap="none" strike="noStrike">
                <a:solidFill>
                  <a:srgbClr val="0D1B2A"/>
                </a:solidFill>
                <a:latin typeface="Spectral"/>
                <a:ea typeface="Spectral"/>
                <a:cs typeface="Spectral"/>
                <a:sym typeface="Spectral"/>
              </a:rPr>
              <a:t>A real debug reflex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1" name="Google Shape;501;p21"/>
          <p:cNvSpPr/>
          <p:nvPr/>
        </p:nvSpPr>
        <p:spPr>
          <a:xfrm>
            <a:off x="777240" y="5120640"/>
            <a:ext cx="5029200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02124"/>
              </a:buClr>
              <a:buSzPts val="1200"/>
              <a:buFont typeface="Lato"/>
              <a:buNone/>
            </a:pPr>
            <a:r>
              <a:rPr b="0" i="0" lang="en-US" sz="1200" u="none" cap="none" strike="noStrike">
                <a:solidFill>
                  <a:srgbClr val="202124"/>
                </a:solidFill>
                <a:latin typeface="Lato"/>
                <a:ea typeface="Lato"/>
                <a:cs typeface="Lato"/>
                <a:sym typeface="Lato"/>
              </a:rPr>
              <a:t>You now know what a retrieval mismatch looks like in traces. You'll spot it in prod.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2" name="Google Shape;502;p21"/>
          <p:cNvSpPr/>
          <p:nvPr/>
        </p:nvSpPr>
        <p:spPr>
          <a:xfrm>
            <a:off x="6217920" y="4251960"/>
            <a:ext cx="5486400" cy="169164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32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3" name="Google Shape;503;p21"/>
          <p:cNvSpPr/>
          <p:nvPr/>
        </p:nvSpPr>
        <p:spPr>
          <a:xfrm>
            <a:off x="6217920" y="4251960"/>
            <a:ext cx="5486400" cy="73152"/>
          </a:xfrm>
          <a:prstGeom prst="rect">
            <a:avLst/>
          </a:prstGeom>
          <a:solidFill>
            <a:srgbClr val="326666"/>
          </a:solidFill>
          <a:ln cap="flat" cmpd="sng" w="12700">
            <a:solidFill>
              <a:srgbClr val="32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504" name="Google Shape;504;p21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492240" y="4526280"/>
            <a:ext cx="502920" cy="502920"/>
          </a:xfrm>
          <a:prstGeom prst="rect">
            <a:avLst/>
          </a:prstGeom>
          <a:noFill/>
          <a:ln>
            <a:noFill/>
          </a:ln>
        </p:spPr>
      </p:pic>
      <p:sp>
        <p:nvSpPr>
          <p:cNvPr id="505" name="Google Shape;505;p21"/>
          <p:cNvSpPr/>
          <p:nvPr/>
        </p:nvSpPr>
        <p:spPr>
          <a:xfrm>
            <a:off x="7178040" y="4480560"/>
            <a:ext cx="42976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800"/>
              <a:buFont typeface="Spectral"/>
              <a:buNone/>
            </a:pPr>
            <a:r>
              <a:rPr b="1" i="0" lang="en-US" sz="1800" u="none" cap="none" strike="noStrike">
                <a:solidFill>
                  <a:srgbClr val="0D1B2A"/>
                </a:solidFill>
                <a:latin typeface="Spectral"/>
                <a:ea typeface="Spectral"/>
                <a:cs typeface="Spectral"/>
                <a:sym typeface="Spectral"/>
              </a:rPr>
              <a:t>A production roadmap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6" name="Google Shape;506;p21"/>
          <p:cNvSpPr/>
          <p:nvPr/>
        </p:nvSpPr>
        <p:spPr>
          <a:xfrm>
            <a:off x="6492240" y="5120640"/>
            <a:ext cx="5029200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02124"/>
              </a:buClr>
              <a:buSzPts val="1200"/>
              <a:buFont typeface="Lato"/>
              <a:buNone/>
            </a:pPr>
            <a:r>
              <a:rPr b="0" i="0" lang="en-US" sz="1200" u="none" cap="none" strike="noStrike">
                <a:solidFill>
                  <a:srgbClr val="202124"/>
                </a:solidFill>
                <a:latin typeface="Lato"/>
                <a:ea typeface="Lato"/>
                <a:cs typeface="Lato"/>
                <a:sym typeface="Lato"/>
              </a:rPr>
              <a:t>Evaluation loops, OTLP export, PII masking — the next 90 minutes at work.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07" name="Google Shape;507;p21" title="Gemini_Generated_Image_rbdzoirbdzoirbdz.png"/>
          <p:cNvPicPr preferRelativeResize="0"/>
          <p:nvPr/>
        </p:nvPicPr>
        <p:blipFill rotWithShape="1">
          <a:blip r:embed="rId9">
            <a:alphaModFix/>
          </a:blip>
          <a:srcRect b="33061" l="22742" r="28149" t="10923"/>
          <a:stretch/>
        </p:blipFill>
        <p:spPr>
          <a:xfrm>
            <a:off x="9885440" y="6291673"/>
            <a:ext cx="1727432" cy="492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12" name="Shape 5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3" name="Google Shape;513;p22"/>
          <p:cNvSpPr/>
          <p:nvPr/>
        </p:nvSpPr>
        <p:spPr>
          <a:xfrm>
            <a:off x="9265615" y="457200"/>
            <a:ext cx="2286000" cy="36576"/>
          </a:xfrm>
          <a:prstGeom prst="rect">
            <a:avLst/>
          </a:prstGeom>
          <a:solidFill>
            <a:srgbClr val="326666"/>
          </a:solidFill>
          <a:ln cap="flat" cmpd="sng" w="12700">
            <a:solidFill>
              <a:srgbClr val="32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4" name="Google Shape;514;p22"/>
          <p:cNvSpPr/>
          <p:nvPr/>
        </p:nvSpPr>
        <p:spPr>
          <a:xfrm>
            <a:off x="9265615" y="548640"/>
            <a:ext cx="2286000" cy="18288"/>
          </a:xfrm>
          <a:prstGeom prst="rect">
            <a:avLst/>
          </a:prstGeom>
          <a:solidFill>
            <a:srgbClr val="326666"/>
          </a:solidFill>
          <a:ln cap="flat" cmpd="sng" w="12700">
            <a:solidFill>
              <a:srgbClr val="32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5" name="Google Shape;515;p22"/>
          <p:cNvSpPr/>
          <p:nvPr/>
        </p:nvSpPr>
        <p:spPr>
          <a:xfrm>
            <a:off x="502920" y="384048"/>
            <a:ext cx="914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300"/>
              <a:buFont typeface="Lato"/>
              <a:buNone/>
            </a:pPr>
            <a:r>
              <a:rPr b="1" i="0" lang="en-US" sz="1300" u="none" cap="none" strike="noStrike">
                <a:solidFill>
                  <a:srgbClr val="0D1B2A"/>
                </a:solidFill>
                <a:latin typeface="Lato"/>
                <a:ea typeface="Lato"/>
                <a:cs typeface="Lato"/>
                <a:sym typeface="Lato"/>
              </a:rPr>
              <a:t>05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6" name="Google Shape;516;p22">
            <a:hlinkClick r:id="rId3"/>
          </p:cNvPr>
          <p:cNvSpPr/>
          <p:nvPr/>
        </p:nvSpPr>
        <p:spPr>
          <a:xfrm>
            <a:off x="502920" y="6446520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Lato"/>
              <a:buNone/>
            </a:pPr>
            <a:r>
              <a:rPr b="0" i="0" lang="en-US" sz="1000" u="sng" cap="none" strike="noStrike">
                <a:solidFill>
                  <a:schemeClr val="hlink"/>
                </a:solidFill>
                <a:latin typeface="Lato"/>
                <a:ea typeface="Lato"/>
                <a:cs typeface="Lato"/>
                <a:sym typeface="Lato"/>
                <a:hlinkClick r:id="rId4"/>
              </a:rPr>
              <a:t>www.arsinnovate.com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7" name="Google Shape;517;p22"/>
          <p:cNvSpPr/>
          <p:nvPr/>
        </p:nvSpPr>
        <p:spPr>
          <a:xfrm>
            <a:off x="11551615" y="6400800"/>
            <a:ext cx="365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100"/>
              <a:buFont typeface="Lato"/>
              <a:buNone/>
            </a:pPr>
            <a:r>
              <a:rPr b="0" i="0" lang="en-US" sz="1100" u="none" cap="none" strike="noStrike">
                <a:solidFill>
                  <a:srgbClr val="595959"/>
                </a:solidFill>
                <a:latin typeface="Lato"/>
                <a:ea typeface="Lato"/>
                <a:cs typeface="Lato"/>
                <a:sym typeface="Lato"/>
              </a:rPr>
              <a:t>19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8" name="Google Shape;518;p22"/>
          <p:cNvSpPr/>
          <p:nvPr/>
        </p:nvSpPr>
        <p:spPr>
          <a:xfrm>
            <a:off x="502920" y="868680"/>
            <a:ext cx="11185855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26666"/>
              </a:buClr>
              <a:buSzPts val="1100"/>
              <a:buFont typeface="Lato"/>
              <a:buNone/>
            </a:pPr>
            <a:r>
              <a:rPr b="1" i="0" lang="en-US" sz="1100" u="none" cap="none" strike="noStrike">
                <a:solidFill>
                  <a:srgbClr val="326666"/>
                </a:solidFill>
                <a:latin typeface="Lato"/>
                <a:ea typeface="Lato"/>
                <a:cs typeface="Lato"/>
                <a:sym typeface="Lato"/>
              </a:rPr>
              <a:t>RESOURCES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9" name="Google Shape;519;p22"/>
          <p:cNvSpPr/>
          <p:nvPr/>
        </p:nvSpPr>
        <p:spPr>
          <a:xfrm>
            <a:off x="502920" y="1234440"/>
            <a:ext cx="11185855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4000"/>
              <a:buFont typeface="Spectral"/>
              <a:buNone/>
            </a:pPr>
            <a:r>
              <a:rPr b="1" i="0" lang="en-US" sz="4000" u="none" cap="none" strike="noStrike">
                <a:solidFill>
                  <a:srgbClr val="0D1B2A"/>
                </a:solidFill>
                <a:latin typeface="Spectral"/>
                <a:ea typeface="Spectral"/>
                <a:cs typeface="Spectral"/>
                <a:sym typeface="Spectral"/>
              </a:rPr>
              <a:t>Where to go next.</a:t>
            </a:r>
            <a:endParaRPr b="0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0" name="Google Shape;520;p22"/>
          <p:cNvSpPr/>
          <p:nvPr/>
        </p:nvSpPr>
        <p:spPr>
          <a:xfrm>
            <a:off x="502920" y="2286000"/>
            <a:ext cx="11155680" cy="502920"/>
          </a:xfrm>
          <a:prstGeom prst="rect">
            <a:avLst/>
          </a:prstGeom>
          <a:solidFill>
            <a:srgbClr val="F4F2EE"/>
          </a:solidFill>
          <a:ln cap="flat" cmpd="sng" w="9525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1" name="Google Shape;521;p22"/>
          <p:cNvSpPr/>
          <p:nvPr/>
        </p:nvSpPr>
        <p:spPr>
          <a:xfrm>
            <a:off x="731520" y="2286000"/>
            <a:ext cx="36576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500"/>
              <a:buFont typeface="Spectral"/>
              <a:buNone/>
            </a:pPr>
            <a:r>
              <a:rPr b="1" i="0" lang="en-US" sz="1500" u="none" cap="none" strike="noStrike">
                <a:solidFill>
                  <a:srgbClr val="0D1B2A"/>
                </a:solidFill>
                <a:latin typeface="Spectral"/>
                <a:ea typeface="Spectral"/>
                <a:cs typeface="Spectral"/>
                <a:sym typeface="Spectral"/>
              </a:rPr>
              <a:t>This workshop repo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2" name="Google Shape;522;p22"/>
          <p:cNvSpPr/>
          <p:nvPr/>
        </p:nvSpPr>
        <p:spPr>
          <a:xfrm>
            <a:off x="4572000" y="2286000"/>
            <a:ext cx="68580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26666"/>
              </a:buClr>
              <a:buSzPts val="1300"/>
              <a:buFont typeface="Courier New"/>
              <a:buNone/>
            </a:pPr>
            <a:r>
              <a:rPr b="0" i="0" lang="en-US" sz="1300" u="none" cap="none" strike="noStrike">
                <a:solidFill>
                  <a:srgbClr val="326666"/>
                </a:solidFill>
                <a:latin typeface="Courier New"/>
                <a:ea typeface="Courier New"/>
                <a:cs typeface="Courier New"/>
                <a:sym typeface="Courier New"/>
              </a:rPr>
              <a:t>github.com/gigimcc4/DevOpsDays_llmops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3" name="Google Shape;523;p22"/>
          <p:cNvSpPr/>
          <p:nvPr/>
        </p:nvSpPr>
        <p:spPr>
          <a:xfrm>
            <a:off x="502920" y="2926080"/>
            <a:ext cx="11155680" cy="50292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4" name="Google Shape;524;p22"/>
          <p:cNvSpPr/>
          <p:nvPr/>
        </p:nvSpPr>
        <p:spPr>
          <a:xfrm>
            <a:off x="731520" y="2926080"/>
            <a:ext cx="36576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500"/>
              <a:buFont typeface="Spectral"/>
              <a:buNone/>
            </a:pPr>
            <a:r>
              <a:rPr b="1" i="0" lang="en-US" sz="1500" u="none" cap="none" strike="noStrike">
                <a:solidFill>
                  <a:srgbClr val="0D1B2A"/>
                </a:solidFill>
                <a:latin typeface="Spectral"/>
                <a:ea typeface="Spectral"/>
                <a:cs typeface="Spectral"/>
                <a:sym typeface="Spectral"/>
              </a:rPr>
              <a:t>Langfuse docs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5" name="Google Shape;525;p22"/>
          <p:cNvSpPr/>
          <p:nvPr/>
        </p:nvSpPr>
        <p:spPr>
          <a:xfrm>
            <a:off x="4572000" y="2926080"/>
            <a:ext cx="68580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26666"/>
              </a:buClr>
              <a:buSzPts val="1300"/>
              <a:buFont typeface="Courier New"/>
              <a:buNone/>
            </a:pPr>
            <a:r>
              <a:rPr b="0" i="0" lang="en-US" sz="1300" u="none" cap="none" strike="noStrike">
                <a:solidFill>
                  <a:srgbClr val="326666"/>
                </a:solidFill>
                <a:latin typeface="Courier New"/>
                <a:ea typeface="Courier New"/>
                <a:cs typeface="Courier New"/>
                <a:sym typeface="Courier New"/>
              </a:rPr>
              <a:t>langfuse.com/docs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6" name="Google Shape;526;p22"/>
          <p:cNvSpPr/>
          <p:nvPr/>
        </p:nvSpPr>
        <p:spPr>
          <a:xfrm>
            <a:off x="502920" y="3566160"/>
            <a:ext cx="11155680" cy="502920"/>
          </a:xfrm>
          <a:prstGeom prst="rect">
            <a:avLst/>
          </a:prstGeom>
          <a:solidFill>
            <a:srgbClr val="F4F2EE"/>
          </a:solidFill>
          <a:ln cap="flat" cmpd="sng" w="9525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7" name="Google Shape;527;p22"/>
          <p:cNvSpPr/>
          <p:nvPr/>
        </p:nvSpPr>
        <p:spPr>
          <a:xfrm>
            <a:off x="731520" y="3566160"/>
            <a:ext cx="36576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500"/>
              <a:buFont typeface="Spectral"/>
              <a:buNone/>
            </a:pPr>
            <a:r>
              <a:rPr b="1" i="0" lang="en-US" sz="1500" u="none" cap="none" strike="noStrike">
                <a:solidFill>
                  <a:srgbClr val="0D1B2A"/>
                </a:solidFill>
                <a:latin typeface="Spectral"/>
                <a:ea typeface="Spectral"/>
                <a:cs typeface="Spectral"/>
                <a:sym typeface="Spectral"/>
              </a:rPr>
              <a:t>OpenTelemetry Python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8" name="Google Shape;528;p22"/>
          <p:cNvSpPr/>
          <p:nvPr/>
        </p:nvSpPr>
        <p:spPr>
          <a:xfrm>
            <a:off x="4572000" y="3566160"/>
            <a:ext cx="68580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26666"/>
              </a:buClr>
              <a:buSzPts val="1300"/>
              <a:buFont typeface="Courier New"/>
              <a:buNone/>
            </a:pPr>
            <a:r>
              <a:rPr b="0" i="0" lang="en-US" sz="1300" u="none" cap="none" strike="noStrike">
                <a:solidFill>
                  <a:srgbClr val="326666"/>
                </a:solidFill>
                <a:latin typeface="Courier New"/>
                <a:ea typeface="Courier New"/>
                <a:cs typeface="Courier New"/>
                <a:sym typeface="Courier New"/>
              </a:rPr>
              <a:t>opentelemetry.io/docs/languages/python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9" name="Google Shape;529;p22"/>
          <p:cNvSpPr/>
          <p:nvPr/>
        </p:nvSpPr>
        <p:spPr>
          <a:xfrm>
            <a:off x="502920" y="4206240"/>
            <a:ext cx="11155680" cy="50292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0" name="Google Shape;530;p22"/>
          <p:cNvSpPr/>
          <p:nvPr/>
        </p:nvSpPr>
        <p:spPr>
          <a:xfrm>
            <a:off x="731520" y="4206240"/>
            <a:ext cx="36576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500"/>
              <a:buFont typeface="Spectral"/>
              <a:buNone/>
            </a:pPr>
            <a:r>
              <a:rPr b="1" i="0" lang="en-US" sz="1500" u="none" cap="none" strike="noStrike">
                <a:solidFill>
                  <a:srgbClr val="0D1B2A"/>
                </a:solidFill>
                <a:latin typeface="Spectral"/>
                <a:ea typeface="Spectral"/>
                <a:cs typeface="Spectral"/>
                <a:sym typeface="Spectral"/>
              </a:rPr>
              <a:t>Ollama model library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1" name="Google Shape;531;p22"/>
          <p:cNvSpPr/>
          <p:nvPr/>
        </p:nvSpPr>
        <p:spPr>
          <a:xfrm>
            <a:off x="4572000" y="4206240"/>
            <a:ext cx="68580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26666"/>
              </a:buClr>
              <a:buSzPts val="1300"/>
              <a:buFont typeface="Courier New"/>
              <a:buNone/>
            </a:pPr>
            <a:r>
              <a:rPr b="0" i="0" lang="en-US" sz="1300" u="none" cap="none" strike="noStrike">
                <a:solidFill>
                  <a:srgbClr val="326666"/>
                </a:solidFill>
                <a:latin typeface="Courier New"/>
                <a:ea typeface="Courier New"/>
                <a:cs typeface="Courier New"/>
                <a:sym typeface="Courier New"/>
              </a:rPr>
              <a:t>ollama.com/library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2" name="Google Shape;532;p22"/>
          <p:cNvSpPr/>
          <p:nvPr/>
        </p:nvSpPr>
        <p:spPr>
          <a:xfrm>
            <a:off x="502920" y="4846320"/>
            <a:ext cx="11155680" cy="502920"/>
          </a:xfrm>
          <a:prstGeom prst="rect">
            <a:avLst/>
          </a:prstGeom>
          <a:solidFill>
            <a:srgbClr val="F4F2EE"/>
          </a:solidFill>
          <a:ln cap="flat" cmpd="sng" w="9525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3" name="Google Shape;533;p22"/>
          <p:cNvSpPr/>
          <p:nvPr/>
        </p:nvSpPr>
        <p:spPr>
          <a:xfrm>
            <a:off x="731520" y="4846320"/>
            <a:ext cx="36576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500"/>
              <a:buFont typeface="Spectral"/>
              <a:buNone/>
            </a:pPr>
            <a:r>
              <a:rPr b="1" i="0" lang="en-US" sz="1500" u="none" cap="none" strike="noStrike">
                <a:solidFill>
                  <a:srgbClr val="0D1B2A"/>
                </a:solidFill>
                <a:latin typeface="Spectral"/>
                <a:ea typeface="Spectral"/>
                <a:cs typeface="Spectral"/>
                <a:sym typeface="Spectral"/>
              </a:rPr>
              <a:t>ChromaDB docs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4" name="Google Shape;534;p22"/>
          <p:cNvSpPr/>
          <p:nvPr/>
        </p:nvSpPr>
        <p:spPr>
          <a:xfrm>
            <a:off x="4572000" y="4846320"/>
            <a:ext cx="68580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26666"/>
              </a:buClr>
              <a:buSzPts val="1300"/>
              <a:buFont typeface="Courier New"/>
              <a:buNone/>
            </a:pPr>
            <a:r>
              <a:rPr b="0" i="0" lang="en-US" sz="1300" u="none" cap="none" strike="noStrike">
                <a:solidFill>
                  <a:srgbClr val="326666"/>
                </a:solidFill>
                <a:latin typeface="Courier New"/>
                <a:ea typeface="Courier New"/>
                <a:cs typeface="Courier New"/>
                <a:sym typeface="Courier New"/>
              </a:rPr>
              <a:t>docs.trychroma.com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5" name="Google Shape;535;p22"/>
          <p:cNvSpPr/>
          <p:nvPr/>
        </p:nvSpPr>
        <p:spPr>
          <a:xfrm>
            <a:off x="502920" y="5486400"/>
            <a:ext cx="11155680" cy="50292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6" name="Google Shape;536;p22"/>
          <p:cNvSpPr/>
          <p:nvPr/>
        </p:nvSpPr>
        <p:spPr>
          <a:xfrm>
            <a:off x="731520" y="5486400"/>
            <a:ext cx="36576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500"/>
              <a:buFont typeface="Spectral"/>
              <a:buNone/>
            </a:pPr>
            <a:r>
              <a:rPr b="1" i="0" lang="en-US" sz="1500" u="none" cap="none" strike="noStrike">
                <a:solidFill>
                  <a:srgbClr val="0D1B2A"/>
                </a:solidFill>
                <a:latin typeface="Spectral"/>
                <a:ea typeface="Spectral"/>
                <a:cs typeface="Spectral"/>
                <a:sym typeface="Spectral"/>
              </a:rPr>
              <a:t>Arsinnovate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7" name="Google Shape;537;p22"/>
          <p:cNvSpPr/>
          <p:nvPr/>
        </p:nvSpPr>
        <p:spPr>
          <a:xfrm>
            <a:off x="4572000" y="5486400"/>
            <a:ext cx="68580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26666"/>
              </a:buClr>
              <a:buSzPts val="1300"/>
              <a:buFont typeface="Courier New"/>
              <a:buNone/>
            </a:pPr>
            <a:r>
              <a:rPr b="0" i="0" lang="en-US" sz="1300" u="none" cap="none" strike="noStrike">
                <a:solidFill>
                  <a:srgbClr val="326666"/>
                </a:solidFill>
                <a:latin typeface="Courier New"/>
                <a:ea typeface="Courier New"/>
                <a:cs typeface="Courier New"/>
                <a:sym typeface="Courier New"/>
              </a:rPr>
              <a:t>arsinnovate.com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38" name="Google Shape;538;p22" title="Gemini_Generated_Image_rbdzoirbdzoirbdz.png"/>
          <p:cNvPicPr preferRelativeResize="0"/>
          <p:nvPr/>
        </p:nvPicPr>
        <p:blipFill rotWithShape="1">
          <a:blip r:embed="rId5">
            <a:alphaModFix/>
          </a:blip>
          <a:srcRect b="33061" l="22742" r="28149" t="10923"/>
          <a:stretch/>
        </p:blipFill>
        <p:spPr>
          <a:xfrm>
            <a:off x="9885440" y="6291673"/>
            <a:ext cx="1727432" cy="492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43" name="Shape 5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4" name="Google Shape;544;p23"/>
          <p:cNvSpPr/>
          <p:nvPr/>
        </p:nvSpPr>
        <p:spPr>
          <a:xfrm>
            <a:off x="9265615" y="457200"/>
            <a:ext cx="2286000" cy="36576"/>
          </a:xfrm>
          <a:prstGeom prst="rect">
            <a:avLst/>
          </a:prstGeom>
          <a:solidFill>
            <a:srgbClr val="326666"/>
          </a:solidFill>
          <a:ln cap="flat" cmpd="sng" w="12700">
            <a:solidFill>
              <a:srgbClr val="32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5" name="Google Shape;545;p23"/>
          <p:cNvSpPr/>
          <p:nvPr/>
        </p:nvSpPr>
        <p:spPr>
          <a:xfrm>
            <a:off x="9265615" y="548640"/>
            <a:ext cx="2286000" cy="18288"/>
          </a:xfrm>
          <a:prstGeom prst="rect">
            <a:avLst/>
          </a:prstGeom>
          <a:solidFill>
            <a:srgbClr val="326666"/>
          </a:solidFill>
          <a:ln cap="flat" cmpd="sng" w="12700">
            <a:solidFill>
              <a:srgbClr val="32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6" name="Google Shape;546;p23">
            <a:hlinkClick r:id="rId3"/>
          </p:cNvPr>
          <p:cNvSpPr/>
          <p:nvPr/>
        </p:nvSpPr>
        <p:spPr>
          <a:xfrm>
            <a:off x="502920" y="6446520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Lato"/>
              <a:buNone/>
            </a:pPr>
            <a:r>
              <a:rPr b="0" i="0" lang="en-US" sz="1000" u="sng" cap="none" strike="noStrike">
                <a:solidFill>
                  <a:schemeClr val="hlink"/>
                </a:solidFill>
                <a:latin typeface="Lato"/>
                <a:ea typeface="Lato"/>
                <a:cs typeface="Lato"/>
                <a:sym typeface="Lato"/>
                <a:hlinkClick r:id="rId4"/>
              </a:rPr>
              <a:t>www.arsinnovate.com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7" name="Google Shape;547;p23"/>
          <p:cNvSpPr/>
          <p:nvPr/>
        </p:nvSpPr>
        <p:spPr>
          <a:xfrm>
            <a:off x="640080" y="1828800"/>
            <a:ext cx="109728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8000"/>
              <a:buFont typeface="Spectral"/>
              <a:buNone/>
            </a:pPr>
            <a:r>
              <a:rPr b="1" i="0" lang="en-US" sz="8000" u="none" cap="none" strike="noStrike">
                <a:solidFill>
                  <a:srgbClr val="0D1B2A"/>
                </a:solidFill>
                <a:latin typeface="Spectral"/>
                <a:ea typeface="Spectral"/>
                <a:cs typeface="Spectral"/>
                <a:sym typeface="Spectral"/>
              </a:rPr>
              <a:t>Thank you.</a:t>
            </a:r>
            <a:endParaRPr b="0" i="0" sz="8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8" name="Google Shape;548;p23"/>
          <p:cNvSpPr/>
          <p:nvPr/>
        </p:nvSpPr>
        <p:spPr>
          <a:xfrm>
            <a:off x="640080" y="3200400"/>
            <a:ext cx="1828800" cy="36576"/>
          </a:xfrm>
          <a:prstGeom prst="rect">
            <a:avLst/>
          </a:prstGeom>
          <a:solidFill>
            <a:srgbClr val="326666"/>
          </a:solidFill>
          <a:ln cap="flat" cmpd="sng" w="12700">
            <a:solidFill>
              <a:srgbClr val="32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9" name="Google Shape;549;p23"/>
          <p:cNvSpPr/>
          <p:nvPr/>
        </p:nvSpPr>
        <p:spPr>
          <a:xfrm>
            <a:off x="640080" y="3429000"/>
            <a:ext cx="109728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26666"/>
              </a:buClr>
              <a:buSzPts val="3200"/>
              <a:buFont typeface="Spectral"/>
              <a:buNone/>
            </a:pPr>
            <a:r>
              <a:rPr b="0" i="1" lang="en-US" sz="3200" u="none" cap="none" strike="noStrike">
                <a:solidFill>
                  <a:srgbClr val="326666"/>
                </a:solidFill>
                <a:latin typeface="Spectral"/>
                <a:ea typeface="Spectral"/>
                <a:cs typeface="Spectral"/>
                <a:sym typeface="Spectral"/>
              </a:rPr>
              <a:t>Questions?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0" name="Google Shape;550;p23"/>
          <p:cNvSpPr/>
          <p:nvPr/>
        </p:nvSpPr>
        <p:spPr>
          <a:xfrm>
            <a:off x="640080" y="4160530"/>
            <a:ext cx="1097280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2000"/>
              <a:buFont typeface="Lato"/>
              <a:buNone/>
            </a:pPr>
            <a:r>
              <a:rPr b="1" i="0" lang="en-US" sz="2000" u="none" cap="none" strike="noStrike">
                <a:solidFill>
                  <a:srgbClr val="0D1B2A"/>
                </a:solidFill>
                <a:latin typeface="Lato"/>
                <a:ea typeface="Lato"/>
                <a:cs typeface="Lato"/>
                <a:sym typeface="Lato"/>
              </a:rPr>
              <a:t>Jeanne McClure, PhD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4A5759"/>
              </a:buClr>
              <a:buSzPts val="1500"/>
              <a:buFont typeface="Lato"/>
              <a:buNone/>
            </a:pPr>
            <a:r>
              <a:rPr lang="en-US" sz="1500">
                <a:solidFill>
                  <a:srgbClr val="4A5759"/>
                </a:solidFill>
                <a:latin typeface="Lato"/>
                <a:ea typeface="Lato"/>
                <a:cs typeface="Lato"/>
                <a:sym typeface="Lato"/>
              </a:rPr>
              <a:t>I:  Principal · Consultant · Expert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326666"/>
              </a:buClr>
              <a:buSzPts val="1400"/>
              <a:buFont typeface="Lato"/>
              <a:buNone/>
            </a:pPr>
            <a:r>
              <a:rPr b="1" lang="en-US">
                <a:solidFill>
                  <a:srgbClr val="326666"/>
                </a:solidFill>
                <a:latin typeface="Lato"/>
                <a:ea typeface="Lato"/>
                <a:cs typeface="Lato"/>
                <a:sym typeface="Lato"/>
              </a:rPr>
              <a:t>Ars Innovate Technologies &amp; Consulting</a:t>
            </a:r>
            <a:endParaRPr b="1">
              <a:solidFill>
                <a:srgbClr val="326666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326666"/>
              </a:buClr>
              <a:buSzPts val="1400"/>
              <a:buFont typeface="Lato"/>
              <a:buNone/>
            </a:pPr>
            <a:r>
              <a:t/>
            </a:r>
            <a:endParaRPr b="1">
              <a:solidFill>
                <a:srgbClr val="326666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326666"/>
              </a:buClr>
              <a:buSzPts val="1400"/>
              <a:buFont typeface="Lato"/>
              <a:buNone/>
            </a:pPr>
            <a:r>
              <a:rPr b="1" lang="en-US">
                <a:solidFill>
                  <a:srgbClr val="326666"/>
                </a:solidFill>
                <a:latin typeface="Lato"/>
                <a:ea typeface="Lato"/>
                <a:cs typeface="Lato"/>
                <a:sym typeface="Lato"/>
              </a:rPr>
              <a:t xml:space="preserve">Postdoctoral Fellow, </a:t>
            </a:r>
            <a:endParaRPr b="1">
              <a:solidFill>
                <a:srgbClr val="326666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326666"/>
              </a:buClr>
              <a:buSzPts val="1400"/>
              <a:buFont typeface="Lato"/>
              <a:buNone/>
            </a:pPr>
            <a:r>
              <a:rPr b="1" lang="en-US">
                <a:solidFill>
                  <a:srgbClr val="326666"/>
                </a:solidFill>
                <a:latin typeface="Lato"/>
                <a:ea typeface="Lato"/>
                <a:cs typeface="Lato"/>
                <a:sym typeface="Lato"/>
              </a:rPr>
              <a:t>North Carolina State University</a:t>
            </a:r>
            <a:endParaRPr>
              <a:solidFill>
                <a:srgbClr val="4A5759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Lato"/>
              <a:buNone/>
            </a:pPr>
            <a:r>
              <a:rPr b="0" i="0" lang="en-US" sz="800" u="none" cap="none" strike="noStrik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 xml:space="preserve"> 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300"/>
              <a:buFont typeface="Courier New"/>
              <a:buNone/>
            </a:pPr>
            <a:r>
              <a:rPr b="0" i="0" lang="en-US" sz="1300" u="none" cap="none" strike="noStrike">
                <a:solidFill>
                  <a:srgbClr val="595959"/>
                </a:solidFill>
                <a:latin typeface="Courier New"/>
                <a:ea typeface="Courier New"/>
                <a:cs typeface="Courier New"/>
                <a:sym typeface="Courier New"/>
              </a:rPr>
              <a:t>bit.ly/3ONJiqb · jmcclure@arsinnovate.com · linkedin.com/in/jeannemcclure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1" name="Google Shape;551;p23"/>
          <p:cNvSpPr/>
          <p:nvPr/>
        </p:nvSpPr>
        <p:spPr>
          <a:xfrm>
            <a:off x="502920" y="612648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800"/>
              <a:buFont typeface="Lato"/>
              <a:buNone/>
            </a:pPr>
            <a:r>
              <a:rPr b="0" i="0" lang="en-US" sz="800" u="none" cap="none" strike="noStrike">
                <a:solidFill>
                  <a:srgbClr val="595959"/>
                </a:solidFill>
                <a:latin typeface="Lato"/>
                <a:ea typeface="Lato"/>
                <a:cs typeface="Lato"/>
                <a:sym typeface="Lato"/>
              </a:rPr>
              <a:t>© 2026 Jeanne McClure, PhD / Arsinnovate. Non-commercial use only. Attribution required.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52" name="Google Shape;552;p23" title="Gemini_Generated_Image_rbdzoirbdzoirbdz.png"/>
          <p:cNvPicPr preferRelativeResize="0"/>
          <p:nvPr/>
        </p:nvPicPr>
        <p:blipFill rotWithShape="1">
          <a:blip r:embed="rId5">
            <a:alphaModFix/>
          </a:blip>
          <a:srcRect b="33061" l="22742" r="28149" t="10923"/>
          <a:stretch/>
        </p:blipFill>
        <p:spPr>
          <a:xfrm>
            <a:off x="9885440" y="6291673"/>
            <a:ext cx="1727432" cy="492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53" name="Google Shape;553;p23" title="jeanne linkedin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8239275" y="775600"/>
            <a:ext cx="1449400" cy="14621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File:Curved Arrow.svg - Wikimedia Commons" id="554" name="Google Shape;554;p23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 rot="10800000">
            <a:off x="9688663" y="891895"/>
            <a:ext cx="1047074" cy="936901"/>
          </a:xfrm>
          <a:prstGeom prst="rect">
            <a:avLst/>
          </a:prstGeom>
          <a:noFill/>
          <a:ln>
            <a:noFill/>
          </a:ln>
        </p:spPr>
      </p:pic>
      <p:sp>
        <p:nvSpPr>
          <p:cNvPr id="555" name="Google Shape;555;p23"/>
          <p:cNvSpPr txBox="1"/>
          <p:nvPr/>
        </p:nvSpPr>
        <p:spPr>
          <a:xfrm>
            <a:off x="10137425" y="1797863"/>
            <a:ext cx="1414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Hire me. Stand up your AI stack · audit your roadmap · subcontract on AI engagements</a:t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11"/>
          <p:cNvSpPr/>
          <p:nvPr/>
        </p:nvSpPr>
        <p:spPr>
          <a:xfrm>
            <a:off x="9265615" y="457200"/>
            <a:ext cx="2286000" cy="36576"/>
          </a:xfrm>
          <a:prstGeom prst="rect">
            <a:avLst/>
          </a:prstGeom>
          <a:solidFill>
            <a:srgbClr val="326666"/>
          </a:solidFill>
          <a:ln cap="flat" cmpd="sng" w="12700">
            <a:solidFill>
              <a:srgbClr val="32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7" name="Google Shape;237;p11"/>
          <p:cNvSpPr/>
          <p:nvPr/>
        </p:nvSpPr>
        <p:spPr>
          <a:xfrm>
            <a:off x="9265615" y="548640"/>
            <a:ext cx="2286000" cy="18288"/>
          </a:xfrm>
          <a:prstGeom prst="rect">
            <a:avLst/>
          </a:prstGeom>
          <a:solidFill>
            <a:srgbClr val="326666"/>
          </a:solidFill>
          <a:ln cap="flat" cmpd="sng" w="12700">
            <a:solidFill>
              <a:srgbClr val="32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8" name="Google Shape;238;p11"/>
          <p:cNvSpPr/>
          <p:nvPr/>
        </p:nvSpPr>
        <p:spPr>
          <a:xfrm>
            <a:off x="502920" y="384048"/>
            <a:ext cx="914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300"/>
              <a:buFont typeface="Lato"/>
              <a:buNone/>
            </a:pPr>
            <a:r>
              <a:rPr b="1" i="0" lang="en-US" sz="1300" u="none" cap="none" strike="noStrike">
                <a:solidFill>
                  <a:srgbClr val="0D1B2A"/>
                </a:solidFill>
                <a:latin typeface="Lato"/>
                <a:ea typeface="Lato"/>
                <a:cs typeface="Lato"/>
                <a:sym typeface="Lato"/>
              </a:rPr>
              <a:t>01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11">
            <a:hlinkClick r:id="rId3"/>
          </p:cNvPr>
          <p:cNvSpPr/>
          <p:nvPr/>
        </p:nvSpPr>
        <p:spPr>
          <a:xfrm>
            <a:off x="502920" y="6446520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Lato"/>
              <a:buNone/>
            </a:pPr>
            <a:r>
              <a:rPr b="0" i="0" lang="en-US" sz="1000" u="sng" cap="none" strike="noStrike">
                <a:solidFill>
                  <a:schemeClr val="hlink"/>
                </a:solidFill>
                <a:latin typeface="Lato"/>
                <a:ea typeface="Lato"/>
                <a:cs typeface="Lato"/>
                <a:sym typeface="Lato"/>
                <a:hlinkClick r:id="rId4"/>
              </a:rPr>
              <a:t>www.arsinnovate.com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11"/>
          <p:cNvSpPr/>
          <p:nvPr/>
        </p:nvSpPr>
        <p:spPr>
          <a:xfrm>
            <a:off x="11551615" y="6400800"/>
            <a:ext cx="365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100"/>
              <a:buFont typeface="Lato"/>
              <a:buNone/>
            </a:pPr>
            <a:r>
              <a:rPr b="0" i="0" lang="en-US" sz="1100" u="none" cap="none" strike="noStrike">
                <a:solidFill>
                  <a:srgbClr val="595959"/>
                </a:solidFill>
                <a:latin typeface="Lato"/>
                <a:ea typeface="Lato"/>
                <a:cs typeface="Lato"/>
                <a:sym typeface="Lato"/>
              </a:rPr>
              <a:t>8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11"/>
          <p:cNvSpPr/>
          <p:nvPr/>
        </p:nvSpPr>
        <p:spPr>
          <a:xfrm>
            <a:off x="502920" y="960120"/>
            <a:ext cx="11185855" cy="109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4000"/>
              <a:buFont typeface="Spectral"/>
              <a:buNone/>
            </a:pPr>
            <a:r>
              <a:rPr b="1" i="0" lang="en-US" sz="4000" u="none" cap="none" strike="noStrike">
                <a:solidFill>
                  <a:srgbClr val="0D1B2A"/>
                </a:solidFill>
                <a:latin typeface="Spectral"/>
                <a:ea typeface="Spectral"/>
                <a:cs typeface="Spectral"/>
                <a:sym typeface="Spectral"/>
              </a:rPr>
              <a:t>Get the repo. Now — while I’m talking.</a:t>
            </a:r>
            <a:endParaRPr b="0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42" name="Google Shape;242;p1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02920" y="2377440"/>
            <a:ext cx="548640" cy="548640"/>
          </a:xfrm>
          <a:prstGeom prst="rect">
            <a:avLst/>
          </a:prstGeom>
          <a:noFill/>
          <a:ln>
            <a:noFill/>
          </a:ln>
        </p:spPr>
      </p:pic>
      <p:sp>
        <p:nvSpPr>
          <p:cNvPr id="243" name="Google Shape;243;p11"/>
          <p:cNvSpPr/>
          <p:nvPr/>
        </p:nvSpPr>
        <p:spPr>
          <a:xfrm>
            <a:off x="1234440" y="2331720"/>
            <a:ext cx="49377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800"/>
              <a:buFont typeface="Spectral"/>
              <a:buNone/>
            </a:pPr>
            <a:r>
              <a:rPr b="1" i="0" lang="en-US" sz="1800" u="none" cap="none" strike="noStrike">
                <a:solidFill>
                  <a:srgbClr val="0D1B2A"/>
                </a:solidFill>
                <a:latin typeface="Spectral"/>
                <a:ea typeface="Spectral"/>
                <a:cs typeface="Spectral"/>
                <a:sym typeface="Spectral"/>
              </a:rPr>
              <a:t>Type one URL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11"/>
          <p:cNvSpPr/>
          <p:nvPr/>
        </p:nvSpPr>
        <p:spPr>
          <a:xfrm>
            <a:off x="1234440" y="2788920"/>
            <a:ext cx="4937760" cy="1280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02124"/>
              </a:buClr>
              <a:buSzPts val="1200"/>
              <a:buFont typeface="Lato"/>
              <a:buNone/>
            </a:pPr>
            <a:r>
              <a:rPr b="0" i="0" lang="en-US" sz="1200" u="none" cap="none" strike="noStrike">
                <a:solidFill>
                  <a:srgbClr val="202124"/>
                </a:solidFill>
                <a:latin typeface="Lato"/>
                <a:ea typeface="Lato"/>
                <a:cs typeface="Lato"/>
                <a:sym typeface="Lato"/>
              </a:rPr>
              <a:t>bit.ly/3ONJiqb</a:t>
            </a:r>
            <a:endParaRPr b="0" i="0" sz="1200" u="none" cap="none" strike="noStrike">
              <a:solidFill>
                <a:srgbClr val="202124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02124"/>
              </a:buClr>
              <a:buSzPts val="1200"/>
              <a:buFont typeface="Lato"/>
              <a:buNone/>
            </a:pPr>
            <a:r>
              <a:rPr b="0" i="0" lang="en-US" sz="1200" u="none" cap="none" strike="noStrike">
                <a:solidFill>
                  <a:srgbClr val="202124"/>
                </a:solidFill>
                <a:latin typeface="Lato"/>
                <a:ea typeface="Lato"/>
                <a:cs typeface="Lato"/>
                <a:sym typeface="Lato"/>
              </a:rPr>
              <a:t>Redirects to github.com/gigimcc4/DevOpsDays_llmops. Bookmark it now — you’ll come back tonight.</a:t>
            </a:r>
            <a:endParaRPr b="0" i="0" sz="1200" u="none" cap="none" strike="noStrike">
              <a:solidFill>
                <a:srgbClr val="202124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02124"/>
              </a:buClr>
              <a:buSzPts val="1200"/>
              <a:buFont typeface="Lato"/>
              <a:buNone/>
            </a:pPr>
            <a:r>
              <a:rPr b="0" i="0" lang="en-US" sz="1200" u="none" cap="none" strike="noStrike">
                <a:solidFill>
                  <a:srgbClr val="202124"/>
                </a:solidFill>
                <a:latin typeface="Lato"/>
                <a:ea typeface="Lato"/>
                <a:cs typeface="Lato"/>
                <a:sym typeface="Lato"/>
              </a:rPr>
              <a:t>No git? Same URL, click green Code button, Download ZIP.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45" name="Google Shape;245;p1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217920" y="2377440"/>
            <a:ext cx="548640" cy="548640"/>
          </a:xfrm>
          <a:prstGeom prst="rect">
            <a:avLst/>
          </a:prstGeom>
          <a:noFill/>
          <a:ln>
            <a:noFill/>
          </a:ln>
        </p:spPr>
      </p:pic>
      <p:sp>
        <p:nvSpPr>
          <p:cNvPr id="246" name="Google Shape;246;p11"/>
          <p:cNvSpPr/>
          <p:nvPr/>
        </p:nvSpPr>
        <p:spPr>
          <a:xfrm>
            <a:off x="6949440" y="2331720"/>
            <a:ext cx="49377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800"/>
              <a:buFont typeface="Spectral"/>
              <a:buNone/>
            </a:pPr>
            <a:r>
              <a:rPr b="1" i="0" lang="en-US" sz="1800" u="none" cap="none" strike="noStrike">
                <a:solidFill>
                  <a:srgbClr val="0D1B2A"/>
                </a:solidFill>
                <a:latin typeface="Spectral"/>
                <a:ea typeface="Spectral"/>
                <a:cs typeface="Spectral"/>
                <a:sym typeface="Spectral"/>
              </a:rPr>
              <a:t>Or clone in your terminal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11"/>
          <p:cNvSpPr/>
          <p:nvPr/>
        </p:nvSpPr>
        <p:spPr>
          <a:xfrm>
            <a:off x="6949440" y="2788920"/>
            <a:ext cx="4937760" cy="1280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02124"/>
              </a:buClr>
              <a:buSzPts val="1200"/>
              <a:buFont typeface="Lato"/>
              <a:buNone/>
            </a:pPr>
            <a:r>
              <a:rPr b="0" i="0" lang="en-US" sz="1200" u="none" cap="none" strike="noStrike">
                <a:solidFill>
                  <a:srgbClr val="202124"/>
                </a:solidFill>
                <a:latin typeface="Lato"/>
                <a:ea typeface="Lato"/>
                <a:cs typeface="Lato"/>
                <a:sym typeface="Lato"/>
              </a:rPr>
              <a:t>git clone https://github.com/gigimcc4/DevOpsDays_llmops.git</a:t>
            </a:r>
            <a:endParaRPr b="0" i="0" sz="1200" u="none" cap="none" strike="noStrike">
              <a:solidFill>
                <a:srgbClr val="202124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02124"/>
              </a:buClr>
              <a:buSzPts val="1200"/>
              <a:buFont typeface="Lato"/>
              <a:buNone/>
            </a:pPr>
            <a:r>
              <a:rPr b="0" i="0" lang="en-US" sz="1200" u="none" cap="none" strike="noStrike">
                <a:solidFill>
                  <a:srgbClr val="202124"/>
                </a:solidFill>
                <a:latin typeface="Lato"/>
                <a:ea typeface="Lato"/>
                <a:cs typeface="Lato"/>
                <a:sym typeface="Lato"/>
              </a:rPr>
              <a:t>Then: cd DevOpsDays_llmops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48" name="Google Shape;248;p11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02920" y="4206240"/>
            <a:ext cx="548640" cy="548640"/>
          </a:xfrm>
          <a:prstGeom prst="rect">
            <a:avLst/>
          </a:prstGeom>
          <a:noFill/>
          <a:ln>
            <a:noFill/>
          </a:ln>
        </p:spPr>
      </p:pic>
      <p:sp>
        <p:nvSpPr>
          <p:cNvPr id="249" name="Google Shape;249;p11"/>
          <p:cNvSpPr/>
          <p:nvPr/>
        </p:nvSpPr>
        <p:spPr>
          <a:xfrm>
            <a:off x="1234440" y="4160520"/>
            <a:ext cx="49377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800"/>
              <a:buFont typeface="Spectral"/>
              <a:buNone/>
            </a:pPr>
            <a:r>
              <a:rPr b="1" i="0" lang="en-US" sz="1800" u="none" cap="none" strike="noStrike">
                <a:solidFill>
                  <a:srgbClr val="0D1B2A"/>
                </a:solidFill>
                <a:latin typeface="Spectral"/>
                <a:ea typeface="Spectral"/>
                <a:cs typeface="Spectral"/>
                <a:sym typeface="Spectral"/>
              </a:rPr>
              <a:t>Open it in your IDE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11"/>
          <p:cNvSpPr/>
          <p:nvPr/>
        </p:nvSpPr>
        <p:spPr>
          <a:xfrm>
            <a:off x="1234440" y="4617720"/>
            <a:ext cx="4937760" cy="1280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02124"/>
              </a:buClr>
              <a:buSzPts val="1200"/>
              <a:buFont typeface="Lato"/>
              <a:buNone/>
            </a:pPr>
            <a:r>
              <a:rPr b="0" i="0" lang="en-US" sz="1200" u="none" cap="none" strike="noStrike">
                <a:solidFill>
                  <a:srgbClr val="202124"/>
                </a:solidFill>
                <a:latin typeface="Lato"/>
                <a:ea typeface="Lato"/>
                <a:cs typeface="Lato"/>
                <a:sym typeface="Lato"/>
              </a:rPr>
              <a:t>VS Code, Positron (Jeanne’s pick today), Cursor, PyCharm — whatever you have. You’ll want it open to read each step’s rag.py.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51" name="Google Shape;251;p11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217920" y="4206240"/>
            <a:ext cx="548640" cy="548640"/>
          </a:xfrm>
          <a:prstGeom prst="rect">
            <a:avLst/>
          </a:prstGeom>
          <a:noFill/>
          <a:ln>
            <a:noFill/>
          </a:ln>
        </p:spPr>
      </p:pic>
      <p:sp>
        <p:nvSpPr>
          <p:cNvPr id="252" name="Google Shape;252;p11"/>
          <p:cNvSpPr/>
          <p:nvPr/>
        </p:nvSpPr>
        <p:spPr>
          <a:xfrm>
            <a:off x="6949440" y="4160520"/>
            <a:ext cx="49377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800"/>
              <a:buFont typeface="Spectral"/>
              <a:buNone/>
            </a:pPr>
            <a:r>
              <a:rPr b="1" i="0" lang="en-US" sz="1800" u="none" cap="none" strike="noStrike">
                <a:solidFill>
                  <a:srgbClr val="0D1B2A"/>
                </a:solidFill>
                <a:latin typeface="Spectral"/>
                <a:ea typeface="Spectral"/>
                <a:cs typeface="Spectral"/>
                <a:sym typeface="Spectral"/>
              </a:rPr>
              <a:t>Company laptop locked down?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11"/>
          <p:cNvSpPr/>
          <p:nvPr/>
        </p:nvSpPr>
        <p:spPr>
          <a:xfrm>
            <a:off x="6949440" y="4617720"/>
            <a:ext cx="4937760" cy="1280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02124"/>
              </a:buClr>
              <a:buSzPts val="1200"/>
              <a:buFont typeface="Lato"/>
              <a:buNone/>
            </a:pPr>
            <a:r>
              <a:rPr b="0" i="0" lang="en-US" sz="1200" u="none" cap="none" strike="noStrike">
                <a:solidFill>
                  <a:srgbClr val="202124"/>
                </a:solidFill>
                <a:latin typeface="Lato"/>
                <a:ea typeface="Lato"/>
                <a:cs typeface="Lato"/>
                <a:sym typeface="Lato"/>
              </a:rPr>
              <a:t>Get the URL anyway. Run it on a personal machine tonight. You leave with the repo either way.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54" name="Google Shape;254;p11" title="Gemini_Generated_Image_rbdzoirbdzoirbdz.png"/>
          <p:cNvPicPr preferRelativeResize="0"/>
          <p:nvPr/>
        </p:nvPicPr>
        <p:blipFill rotWithShape="1">
          <a:blip r:embed="rId9">
            <a:alphaModFix/>
          </a:blip>
          <a:srcRect b="33061" l="22742" r="28149" t="10923"/>
          <a:stretch/>
        </p:blipFill>
        <p:spPr>
          <a:xfrm>
            <a:off x="9885440" y="6291673"/>
            <a:ext cx="1727432" cy="492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11"/>
          <p:cNvSpPr/>
          <p:nvPr/>
        </p:nvSpPr>
        <p:spPr>
          <a:xfrm>
            <a:off x="9265615" y="457200"/>
            <a:ext cx="2286000" cy="36576"/>
          </a:xfrm>
          <a:prstGeom prst="rect">
            <a:avLst/>
          </a:prstGeom>
          <a:solidFill>
            <a:srgbClr val="326666"/>
          </a:solidFill>
          <a:ln cap="flat" cmpd="sng" w="12700">
            <a:solidFill>
              <a:srgbClr val="32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7" name="Google Shape;237;p11"/>
          <p:cNvSpPr/>
          <p:nvPr/>
        </p:nvSpPr>
        <p:spPr>
          <a:xfrm>
            <a:off x="9265615" y="548640"/>
            <a:ext cx="2286000" cy="18288"/>
          </a:xfrm>
          <a:prstGeom prst="rect">
            <a:avLst/>
          </a:prstGeom>
          <a:solidFill>
            <a:srgbClr val="326666"/>
          </a:solidFill>
          <a:ln cap="flat" cmpd="sng" w="12700">
            <a:solidFill>
              <a:srgbClr val="32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8" name="Google Shape;238;p11"/>
          <p:cNvSpPr/>
          <p:nvPr/>
        </p:nvSpPr>
        <p:spPr>
          <a:xfrm>
            <a:off x="502920" y="384048"/>
            <a:ext cx="914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300"/>
              <a:buFont typeface="Lato"/>
              <a:buNone/>
            </a:pPr>
            <a:r>
              <a:rPr b="1" i="0" lang="en-US" sz="1300" u="none" cap="none" strike="noStrike">
                <a:solidFill>
                  <a:srgbClr val="0D1B2A"/>
                </a:solidFill>
                <a:latin typeface="Lato"/>
                <a:ea typeface="Lato"/>
                <a:cs typeface="Lato"/>
                <a:sym typeface="Lato"/>
              </a:rPr>
              <a:t>01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11">
            <a:hlinkClick r:id="rId3"/>
          </p:cNvPr>
          <p:cNvSpPr/>
          <p:nvPr/>
        </p:nvSpPr>
        <p:spPr>
          <a:xfrm>
            <a:off x="502920" y="6446520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Lato"/>
              <a:buNone/>
            </a:pPr>
            <a:r>
              <a:rPr b="0" i="0" lang="en-US" sz="1000" u="sng" cap="none" strike="noStrike">
                <a:solidFill>
                  <a:schemeClr val="hlink"/>
                </a:solidFill>
                <a:latin typeface="Lato"/>
                <a:ea typeface="Lato"/>
                <a:cs typeface="Lato"/>
                <a:sym typeface="Lato"/>
                <a:hlinkClick r:id="rId4"/>
              </a:rPr>
              <a:t>www.arsinnovate.com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11"/>
          <p:cNvSpPr/>
          <p:nvPr/>
        </p:nvSpPr>
        <p:spPr>
          <a:xfrm>
            <a:off x="11551615" y="6400800"/>
            <a:ext cx="365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100"/>
              <a:buFont typeface="Lato"/>
              <a:buNone/>
            </a:pPr>
            <a:r>
              <a:rPr b="0" i="0" lang="en-US" sz="1100" u="none" cap="none" strike="noStrike">
                <a:solidFill>
                  <a:srgbClr val="595959"/>
                </a:solidFill>
                <a:latin typeface="Lato"/>
                <a:ea typeface="Lato"/>
                <a:cs typeface="Lato"/>
                <a:sym typeface="Lato"/>
              </a:rPr>
              <a:t>8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11"/>
          <p:cNvSpPr/>
          <p:nvPr/>
        </p:nvSpPr>
        <p:spPr>
          <a:xfrm>
            <a:off x="502920" y="960120"/>
            <a:ext cx="11185855" cy="109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4000"/>
              <a:buFont typeface="Spectral"/>
              <a:buNone/>
            </a:pPr>
            <a:r>
              <a:rPr b="1" i="0" lang="en-US" sz="4000" u="none" cap="none" strike="noStrike">
                <a:solidFill>
                  <a:srgbClr val="0D1B2A"/>
                </a:solidFill>
                <a:latin typeface="Spectral"/>
                <a:ea typeface="Spectral"/>
                <a:cs typeface="Spectral"/>
                <a:sym typeface="Spectral"/>
              </a:rPr>
              <a:t>One command. Six things installed.</a:t>
            </a:r>
            <a:endParaRPr b="0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42" name="Google Shape;242;p1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02920" y="2377440"/>
            <a:ext cx="548640" cy="548640"/>
          </a:xfrm>
          <a:prstGeom prst="rect">
            <a:avLst/>
          </a:prstGeom>
          <a:noFill/>
          <a:ln>
            <a:noFill/>
          </a:ln>
        </p:spPr>
      </p:pic>
      <p:sp>
        <p:nvSpPr>
          <p:cNvPr id="243" name="Google Shape;243;p11"/>
          <p:cNvSpPr/>
          <p:nvPr/>
        </p:nvSpPr>
        <p:spPr>
          <a:xfrm>
            <a:off x="1234440" y="2331720"/>
            <a:ext cx="49377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800"/>
              <a:buFont typeface="Spectral"/>
              <a:buNone/>
            </a:pPr>
            <a:r>
              <a:rPr b="1" i="0" lang="en-US" sz="1800" u="none" cap="none" strike="noStrike">
                <a:solidFill>
                  <a:srgbClr val="0D1B2A"/>
                </a:solidFill>
                <a:latin typeface="Spectral"/>
                <a:ea typeface="Spectral"/>
                <a:cs typeface="Spectral"/>
                <a:sym typeface="Spectral"/>
              </a:rPr>
              <a:t>One command, two minutes (after Docker is up)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11"/>
          <p:cNvSpPr/>
          <p:nvPr/>
        </p:nvSpPr>
        <p:spPr>
          <a:xfrm>
            <a:off x="1234440" y="2788920"/>
            <a:ext cx="4937760" cy="1280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02124"/>
              </a:buClr>
              <a:buSzPts val="1200"/>
              <a:buFont typeface="Lato"/>
              <a:buNone/>
            </a:pPr>
            <a:r>
              <a:rPr b="0" i="0" lang="en-US" sz="1200" u="none" cap="none" strike="noStrike">
                <a:solidFill>
                  <a:srgbClr val="202124"/>
                </a:solidFill>
                <a:latin typeface="Lato"/>
                <a:ea typeface="Lato"/>
                <a:cs typeface="Lato"/>
                <a:sym typeface="Lato"/>
              </a:rPr>
              <a:t>Run it</a:t>
            </a:r>
            <a:endParaRPr b="0" i="0" sz="1200" u="none" cap="none" strike="noStrike">
              <a:solidFill>
                <a:srgbClr val="202124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02124"/>
              </a:buClr>
              <a:buSzPts val="1200"/>
              <a:buFont typeface="Lato"/>
              <a:buNone/>
            </a:pPr>
            <a:r>
              <a:rPr b="0" i="0" lang="en-US" sz="1200" u="none" cap="none" strike="noStrike">
                <a:solidFill>
                  <a:srgbClr val="202124"/>
                </a:solidFill>
                <a:latin typeface="Lato"/>
                <a:ea typeface="Lato"/>
                <a:cs typeface="Lato"/>
                <a:sym typeface="Lato"/>
              </a:rPr>
              <a:t>chmod +x setup.sh &amp;&amp; ./setup.sh</a:t>
            </a:r>
            <a:endParaRPr b="0" i="0" sz="1200" u="none" cap="none" strike="noStrike">
              <a:solidFill>
                <a:srgbClr val="202124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02124"/>
              </a:buClr>
              <a:buSzPts val="1200"/>
              <a:buFont typeface="Lato"/>
              <a:buNone/>
            </a:pPr>
            <a:r>
              <a:rPr b="0" i="0" lang="en-US" sz="1200" u="none" cap="none" strike="noStrike">
                <a:solidFill>
                  <a:srgbClr val="202124"/>
                </a:solidFill>
                <a:latin typeface="Lato"/>
                <a:ea typeface="Lato"/>
                <a:cs typeface="Lato"/>
                <a:sym typeface="Lato"/>
              </a:rPr>
              <a:t>Mac/Linux/WSL only. Re-run anytime — idempotent.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45" name="Google Shape;245;p1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217920" y="2377440"/>
            <a:ext cx="548640" cy="548640"/>
          </a:xfrm>
          <a:prstGeom prst="rect">
            <a:avLst/>
          </a:prstGeom>
          <a:noFill/>
          <a:ln>
            <a:noFill/>
          </a:ln>
        </p:spPr>
      </p:pic>
      <p:sp>
        <p:nvSpPr>
          <p:cNvPr id="246" name="Google Shape;246;p11"/>
          <p:cNvSpPr/>
          <p:nvPr/>
        </p:nvSpPr>
        <p:spPr>
          <a:xfrm>
            <a:off x="6949440" y="2331720"/>
            <a:ext cx="49377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800"/>
              <a:buFont typeface="Spectral"/>
              <a:buNone/>
            </a:pPr>
            <a:r>
              <a:rPr b="1" i="0" lang="en-US" sz="1800" u="none" cap="none" strike="noStrike">
                <a:solidFill>
                  <a:srgbClr val="0D1B2A"/>
                </a:solidFill>
                <a:latin typeface="Spectral"/>
                <a:ea typeface="Spectral"/>
                <a:cs typeface="Spectral"/>
                <a:sym typeface="Spectral"/>
              </a:rPr>
              <a:t>What setup.sh installs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11"/>
          <p:cNvSpPr/>
          <p:nvPr/>
        </p:nvSpPr>
        <p:spPr>
          <a:xfrm>
            <a:off x="6949440" y="2788920"/>
            <a:ext cx="4937760" cy="1280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02124"/>
              </a:buClr>
              <a:buSzPts val="1200"/>
              <a:buFont typeface="Lato"/>
              <a:buNone/>
            </a:pPr>
            <a:r>
              <a:rPr b="0" i="0" lang="en-US" sz="1200" u="none" cap="none" strike="noStrike">
                <a:solidFill>
                  <a:srgbClr val="202124"/>
                </a:solidFill>
                <a:latin typeface="Lato"/>
                <a:ea typeface="Lato"/>
                <a:cs typeface="Lato"/>
                <a:sym typeface="Lato"/>
              </a:rPr>
              <a:t>Ollama + 1.5 GB of models · Python packages · Langfuse (Docker) · Jaeger (Docker)</a:t>
            </a:r>
            <a:endParaRPr b="0" i="0" sz="1200" u="none" cap="none" strike="noStrike">
              <a:solidFill>
                <a:srgbClr val="202124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02124"/>
              </a:buClr>
              <a:buSzPts val="1200"/>
              <a:buFont typeface="Lato"/>
              <a:buNone/>
            </a:pPr>
            <a:r>
              <a:rPr b="0" i="0" lang="en-US" sz="1200" u="none" cap="none" strike="noStrike">
                <a:solidFill>
                  <a:srgbClr val="202124"/>
                </a:solidFill>
                <a:latin typeface="Lato"/>
                <a:ea typeface="Lato"/>
                <a:cs typeface="Lato"/>
                <a:sym typeface="Lato"/>
              </a:rPr>
              <a:t>First run: 5–8 min. Second run: seconds.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48" name="Google Shape;248;p11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02920" y="4206240"/>
            <a:ext cx="548640" cy="548640"/>
          </a:xfrm>
          <a:prstGeom prst="rect">
            <a:avLst/>
          </a:prstGeom>
          <a:noFill/>
          <a:ln>
            <a:noFill/>
          </a:ln>
        </p:spPr>
      </p:pic>
      <p:sp>
        <p:nvSpPr>
          <p:cNvPr id="249" name="Google Shape;249;p11"/>
          <p:cNvSpPr/>
          <p:nvPr/>
        </p:nvSpPr>
        <p:spPr>
          <a:xfrm>
            <a:off x="1234440" y="4160520"/>
            <a:ext cx="49377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800"/>
              <a:buFont typeface="Spectral"/>
              <a:buNone/>
            </a:pPr>
            <a:r>
              <a:rPr b="1" i="0" lang="en-US" sz="1800" u="none" cap="none" strike="noStrike">
                <a:solidFill>
                  <a:srgbClr val="0D1B2A"/>
                </a:solidFill>
                <a:latin typeface="Spectral"/>
                <a:ea typeface="Spectral"/>
                <a:cs typeface="Spectral"/>
                <a:sym typeface="Spectral"/>
              </a:rPr>
              <a:t>What it WON’T install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11"/>
          <p:cNvSpPr/>
          <p:nvPr/>
        </p:nvSpPr>
        <p:spPr>
          <a:xfrm>
            <a:off x="1234440" y="4617720"/>
            <a:ext cx="4937760" cy="1280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02124"/>
              </a:buClr>
              <a:buSzPts val="1200"/>
              <a:buFont typeface="Lato"/>
              <a:buNone/>
            </a:pPr>
            <a:r>
              <a:rPr b="0" i="0" lang="en-US" sz="1200" u="none" cap="none" strike="noStrike">
                <a:solidFill>
                  <a:srgbClr val="202124"/>
                </a:solidFill>
                <a:latin typeface="Lato"/>
                <a:ea typeface="Lato"/>
                <a:cs typeface="Lato"/>
                <a:sym typeface="Lato"/>
              </a:rPr>
              <a:t>Python 3.10+ and Docker Desktop. Don’t have those? You’re a demo-watcher today.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51" name="Google Shape;251;p11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217920" y="4206240"/>
            <a:ext cx="548640" cy="548640"/>
          </a:xfrm>
          <a:prstGeom prst="rect">
            <a:avLst/>
          </a:prstGeom>
          <a:noFill/>
          <a:ln>
            <a:noFill/>
          </a:ln>
        </p:spPr>
      </p:pic>
      <p:sp>
        <p:nvSpPr>
          <p:cNvPr id="252" name="Google Shape;252;p11"/>
          <p:cNvSpPr/>
          <p:nvPr/>
        </p:nvSpPr>
        <p:spPr>
          <a:xfrm>
            <a:off x="6949440" y="4160520"/>
            <a:ext cx="49377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800"/>
              <a:buFont typeface="Spectral"/>
              <a:buNone/>
            </a:pPr>
            <a:r>
              <a:rPr b="1" i="0" lang="en-US" sz="1800" u="none" cap="none" strike="noStrike">
                <a:solidFill>
                  <a:srgbClr val="0D1B2A"/>
                </a:solidFill>
                <a:latin typeface="Spectral"/>
                <a:ea typeface="Spectral"/>
                <a:cs typeface="Spectral"/>
                <a:sym typeface="Spectral"/>
              </a:rPr>
              <a:t>Success looks like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11"/>
          <p:cNvSpPr/>
          <p:nvPr/>
        </p:nvSpPr>
        <p:spPr>
          <a:xfrm>
            <a:off x="6949440" y="4617720"/>
            <a:ext cx="4937760" cy="1280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02124"/>
              </a:buClr>
              <a:buSzPts val="1200"/>
              <a:buFont typeface="Lato"/>
              <a:buNone/>
            </a:pPr>
            <a:r>
              <a:rPr b="0" i="0" lang="en-US" sz="1200" u="none" cap="none" strike="noStrike">
                <a:solidFill>
                  <a:srgbClr val="202124"/>
                </a:solidFill>
                <a:latin typeface="Lato"/>
                <a:ea typeface="Lato"/>
                <a:cs typeface="Lato"/>
                <a:sym typeface="Lato"/>
              </a:rPr>
              <a:t>Langfuse at localhost:3000 · Jaeger at localhost:16686 · check_env.py all green.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54" name="Google Shape;254;p11" title="Gemini_Generated_Image_rbdzoirbdzoirbdz.png"/>
          <p:cNvPicPr preferRelativeResize="0"/>
          <p:nvPr/>
        </p:nvPicPr>
        <p:blipFill rotWithShape="1">
          <a:blip r:embed="rId9">
            <a:alphaModFix/>
          </a:blip>
          <a:srcRect b="33061" l="22742" r="28149" t="10923"/>
          <a:stretch/>
        </p:blipFill>
        <p:spPr>
          <a:xfrm>
            <a:off x="9885440" y="6291673"/>
            <a:ext cx="1727432" cy="492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11"/>
          <p:cNvSpPr/>
          <p:nvPr/>
        </p:nvSpPr>
        <p:spPr>
          <a:xfrm>
            <a:off x="9265615" y="457200"/>
            <a:ext cx="2286000" cy="36576"/>
          </a:xfrm>
          <a:prstGeom prst="rect">
            <a:avLst/>
          </a:prstGeom>
          <a:solidFill>
            <a:srgbClr val="326666"/>
          </a:solidFill>
          <a:ln cap="flat" cmpd="sng" w="12700">
            <a:solidFill>
              <a:srgbClr val="32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7" name="Google Shape;237;p11"/>
          <p:cNvSpPr/>
          <p:nvPr/>
        </p:nvSpPr>
        <p:spPr>
          <a:xfrm>
            <a:off x="9265615" y="548640"/>
            <a:ext cx="2286000" cy="18288"/>
          </a:xfrm>
          <a:prstGeom prst="rect">
            <a:avLst/>
          </a:prstGeom>
          <a:solidFill>
            <a:srgbClr val="326666"/>
          </a:solidFill>
          <a:ln cap="flat" cmpd="sng" w="12700">
            <a:solidFill>
              <a:srgbClr val="32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8" name="Google Shape;238;p11"/>
          <p:cNvSpPr/>
          <p:nvPr/>
        </p:nvSpPr>
        <p:spPr>
          <a:xfrm>
            <a:off x="502920" y="384048"/>
            <a:ext cx="914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300"/>
              <a:buFont typeface="Lato"/>
              <a:buNone/>
            </a:pPr>
            <a:r>
              <a:rPr b="1" i="0" lang="en-US" sz="1300" u="none" cap="none" strike="noStrike">
                <a:solidFill>
                  <a:srgbClr val="0D1B2A"/>
                </a:solidFill>
                <a:latin typeface="Lato"/>
                <a:ea typeface="Lato"/>
                <a:cs typeface="Lato"/>
                <a:sym typeface="Lato"/>
              </a:rPr>
              <a:t>01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11">
            <a:hlinkClick r:id="rId3"/>
          </p:cNvPr>
          <p:cNvSpPr/>
          <p:nvPr/>
        </p:nvSpPr>
        <p:spPr>
          <a:xfrm>
            <a:off x="502920" y="6446520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Lato"/>
              <a:buNone/>
            </a:pPr>
            <a:r>
              <a:rPr b="0" i="0" lang="en-US" sz="1000" u="sng" cap="none" strike="noStrike">
                <a:solidFill>
                  <a:schemeClr val="hlink"/>
                </a:solidFill>
                <a:latin typeface="Lato"/>
                <a:ea typeface="Lato"/>
                <a:cs typeface="Lato"/>
                <a:sym typeface="Lato"/>
                <a:hlinkClick r:id="rId4"/>
              </a:rPr>
              <a:t>www.arsinnovate.com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11"/>
          <p:cNvSpPr/>
          <p:nvPr/>
        </p:nvSpPr>
        <p:spPr>
          <a:xfrm>
            <a:off x="11551615" y="6400800"/>
            <a:ext cx="365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100"/>
              <a:buFont typeface="Lato"/>
              <a:buNone/>
            </a:pPr>
            <a:r>
              <a:rPr b="0" i="0" lang="en-US" sz="1100" u="none" cap="none" strike="noStrike">
                <a:solidFill>
                  <a:srgbClr val="595959"/>
                </a:solidFill>
                <a:latin typeface="Lato"/>
                <a:ea typeface="Lato"/>
                <a:cs typeface="Lato"/>
                <a:sym typeface="Lato"/>
              </a:rPr>
              <a:t>8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11"/>
          <p:cNvSpPr/>
          <p:nvPr/>
        </p:nvSpPr>
        <p:spPr>
          <a:xfrm>
            <a:off x="502920" y="960120"/>
            <a:ext cx="11185855" cy="109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4000"/>
              <a:buFont typeface="Spectral"/>
              <a:buNone/>
            </a:pPr>
            <a:r>
              <a:rPr b="1" i="0" lang="en-US" sz="4000" u="none" cap="none" strike="noStrike">
                <a:solidFill>
                  <a:srgbClr val="0D1B2A"/>
                </a:solidFill>
                <a:latin typeface="Spectral"/>
                <a:ea typeface="Spectral"/>
                <a:cs typeface="Spectral"/>
                <a:sym typeface="Spectral"/>
              </a:rPr>
              <a:t>Hiccups happen. Demo mode is fine.</a:t>
            </a:r>
            <a:endParaRPr b="0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42" name="Google Shape;242;p1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02920" y="2377440"/>
            <a:ext cx="548640" cy="548640"/>
          </a:xfrm>
          <a:prstGeom prst="rect">
            <a:avLst/>
          </a:prstGeom>
          <a:noFill/>
          <a:ln>
            <a:noFill/>
          </a:ln>
        </p:spPr>
      </p:pic>
      <p:sp>
        <p:nvSpPr>
          <p:cNvPr id="243" name="Google Shape;243;p11"/>
          <p:cNvSpPr/>
          <p:nvPr/>
        </p:nvSpPr>
        <p:spPr>
          <a:xfrm>
            <a:off x="1234440" y="2331720"/>
            <a:ext cx="49377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800"/>
              <a:buFont typeface="Spectral"/>
              <a:buNone/>
            </a:pPr>
            <a:r>
              <a:rPr b="1" i="0" lang="en-US" sz="1800" u="none" cap="none" strike="noStrike">
                <a:solidFill>
                  <a:srgbClr val="0D1B2A"/>
                </a:solidFill>
                <a:latin typeface="Spectral"/>
                <a:ea typeface="Spectral"/>
                <a:cs typeface="Spectral"/>
                <a:sym typeface="Spectral"/>
              </a:rPr>
              <a:t>We can’t install Python or Docker for you in 90 minutes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11"/>
          <p:cNvSpPr/>
          <p:nvPr/>
        </p:nvSpPr>
        <p:spPr>
          <a:xfrm>
            <a:off x="1234440" y="2788920"/>
            <a:ext cx="4937760" cy="1280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02124"/>
              </a:buClr>
              <a:buSzPts val="1200"/>
              <a:buFont typeface="Lato"/>
              <a:buNone/>
            </a:pPr>
            <a:r>
              <a:rPr b="0" i="0" lang="en-US" sz="1200" u="none" cap="none" strike="noStrike">
                <a:solidFill>
                  <a:srgbClr val="202124"/>
                </a:solidFill>
                <a:latin typeface="Lato"/>
                <a:ea typeface="Lato"/>
                <a:cs typeface="Lato"/>
                <a:sym typeface="Lato"/>
              </a:rPr>
              <a:t>Conference wifi</a:t>
            </a:r>
            <a:endParaRPr b="0" i="0" sz="1200" u="none" cap="none" strike="noStrike">
              <a:solidFill>
                <a:srgbClr val="202124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02124"/>
              </a:buClr>
              <a:buSzPts val="1200"/>
              <a:buFont typeface="Lato"/>
              <a:buNone/>
            </a:pPr>
            <a:r>
              <a:rPr b="0" i="0" lang="en-US" sz="1200" u="none" cap="none" strike="noStrike">
                <a:solidFill>
                  <a:srgbClr val="202124"/>
                </a:solidFill>
                <a:latin typeface="Lato"/>
                <a:ea typeface="Lato"/>
                <a:cs typeface="Lato"/>
                <a:sym typeface="Lato"/>
              </a:rPr>
              <a:t>1.5 GB of model weights on shared wifi = slow.</a:t>
            </a:r>
            <a:endParaRPr b="0" i="0" sz="1200" u="none" cap="none" strike="noStrike">
              <a:solidFill>
                <a:srgbClr val="202124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02124"/>
              </a:buClr>
              <a:buSzPts val="1200"/>
              <a:buFont typeface="Lato"/>
              <a:buNone/>
            </a:pPr>
            <a:r>
              <a:rPr b="0" i="0" lang="en-US" sz="1200" u="none" cap="none" strike="noStrike">
                <a:solidFill>
                  <a:srgbClr val="202124"/>
                </a:solidFill>
                <a:latin typeface="Lato"/>
                <a:ea typeface="Lato"/>
                <a:cs typeface="Lato"/>
                <a:sym typeface="Lato"/>
              </a:rPr>
              <a:t>Watch the demo. Run it tonight at home.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45" name="Google Shape;245;p1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217920" y="2377440"/>
            <a:ext cx="548640" cy="548640"/>
          </a:xfrm>
          <a:prstGeom prst="rect">
            <a:avLst/>
          </a:prstGeom>
          <a:noFill/>
          <a:ln>
            <a:noFill/>
          </a:ln>
        </p:spPr>
      </p:pic>
      <p:sp>
        <p:nvSpPr>
          <p:cNvPr id="246" name="Google Shape;246;p11"/>
          <p:cNvSpPr/>
          <p:nvPr/>
        </p:nvSpPr>
        <p:spPr>
          <a:xfrm>
            <a:off x="6949440" y="2331720"/>
            <a:ext cx="49377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800"/>
              <a:buFont typeface="Spectral"/>
              <a:buNone/>
            </a:pPr>
            <a:r>
              <a:rPr b="1" i="0" lang="en-US" sz="1800" u="none" cap="none" strike="noStrike">
                <a:solidFill>
                  <a:srgbClr val="0D1B2A"/>
                </a:solidFill>
                <a:latin typeface="Spectral"/>
                <a:ea typeface="Spectral"/>
                <a:cs typeface="Spectral"/>
                <a:sym typeface="Spectral"/>
              </a:rPr>
              <a:t>Corp laptop locked down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11"/>
          <p:cNvSpPr/>
          <p:nvPr/>
        </p:nvSpPr>
        <p:spPr>
          <a:xfrm>
            <a:off x="6949440" y="2788920"/>
            <a:ext cx="4937760" cy="1280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02124"/>
              </a:buClr>
              <a:buSzPts val="1200"/>
              <a:buFont typeface="Lato"/>
              <a:buNone/>
            </a:pPr>
            <a:r>
              <a:rPr b="0" i="0" lang="en-US" sz="1200" u="none" cap="none" strike="noStrike">
                <a:solidFill>
                  <a:srgbClr val="202124"/>
                </a:solidFill>
                <a:latin typeface="Lato"/>
                <a:ea typeface="Lato"/>
                <a:cs typeface="Lato"/>
                <a:sym typeface="Lato"/>
              </a:rPr>
              <a:t>Blocked Docker, blocked pip, blocked curl|sh?</a:t>
            </a:r>
            <a:endParaRPr b="0" i="0" sz="1200" u="none" cap="none" strike="noStrike">
              <a:solidFill>
                <a:srgbClr val="202124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02124"/>
              </a:buClr>
              <a:buSzPts val="1200"/>
              <a:buFont typeface="Lato"/>
              <a:buNone/>
            </a:pPr>
            <a:r>
              <a:rPr b="0" i="0" lang="en-US" sz="1200" u="none" cap="none" strike="noStrike">
                <a:solidFill>
                  <a:srgbClr val="202124"/>
                </a:solidFill>
                <a:latin typeface="Lato"/>
                <a:ea typeface="Lato"/>
                <a:cs typeface="Lato"/>
                <a:sym typeface="Lato"/>
              </a:rPr>
              <a:t>Watch the demo. Run it on a personal machine.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48" name="Google Shape;248;p11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02920" y="4206240"/>
            <a:ext cx="548640" cy="548640"/>
          </a:xfrm>
          <a:prstGeom prst="rect">
            <a:avLst/>
          </a:prstGeom>
          <a:noFill/>
          <a:ln>
            <a:noFill/>
          </a:ln>
        </p:spPr>
      </p:pic>
      <p:sp>
        <p:nvSpPr>
          <p:cNvPr id="249" name="Google Shape;249;p11"/>
          <p:cNvSpPr/>
          <p:nvPr/>
        </p:nvSpPr>
        <p:spPr>
          <a:xfrm>
            <a:off x="1234440" y="4160520"/>
            <a:ext cx="49377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800"/>
              <a:buFont typeface="Spectral"/>
              <a:buNone/>
            </a:pPr>
            <a:r>
              <a:rPr b="1" i="0" lang="en-US" sz="1800" u="none" cap="none" strike="noStrike">
                <a:solidFill>
                  <a:srgbClr val="0D1B2A"/>
                </a:solidFill>
                <a:latin typeface="Spectral"/>
                <a:ea typeface="Spectral"/>
                <a:cs typeface="Spectral"/>
                <a:sym typeface="Spectral"/>
              </a:rPr>
              <a:t>No Docker Desktop installed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11"/>
          <p:cNvSpPr/>
          <p:nvPr/>
        </p:nvSpPr>
        <p:spPr>
          <a:xfrm>
            <a:off x="1234440" y="4617720"/>
            <a:ext cx="4937760" cy="1280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02124"/>
              </a:buClr>
              <a:buSzPts val="1200"/>
              <a:buFont typeface="Lato"/>
              <a:buNone/>
            </a:pPr>
            <a:r>
              <a:rPr b="0" i="0" lang="en-US" sz="1200" u="none" cap="none" strike="noStrike">
                <a:solidFill>
                  <a:srgbClr val="202124"/>
                </a:solidFill>
                <a:latin typeface="Lato"/>
                <a:ea typeface="Lato"/>
                <a:cs typeface="Lato"/>
                <a:sym typeface="Lato"/>
              </a:rPr>
              <a:t>setup.sh checks first and exits clean. Watch the demo. Install at home.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51" name="Google Shape;251;p11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217920" y="4206240"/>
            <a:ext cx="548640" cy="548640"/>
          </a:xfrm>
          <a:prstGeom prst="rect">
            <a:avLst/>
          </a:prstGeom>
          <a:noFill/>
          <a:ln>
            <a:noFill/>
          </a:ln>
        </p:spPr>
      </p:pic>
      <p:sp>
        <p:nvSpPr>
          <p:cNvPr id="252" name="Google Shape;252;p11"/>
          <p:cNvSpPr/>
          <p:nvPr/>
        </p:nvSpPr>
        <p:spPr>
          <a:xfrm>
            <a:off x="6949440" y="4160520"/>
            <a:ext cx="49377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800"/>
              <a:buFont typeface="Spectral"/>
              <a:buNone/>
            </a:pPr>
            <a:r>
              <a:rPr b="1" i="0" lang="en-US" sz="1800" u="none" cap="none" strike="noStrike">
                <a:solidFill>
                  <a:srgbClr val="0D1B2A"/>
                </a:solidFill>
                <a:latin typeface="Spectral"/>
                <a:ea typeface="Spectral"/>
                <a:cs typeface="Spectral"/>
                <a:sym typeface="Spectral"/>
              </a:rPr>
              <a:t>Windows without WSL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11"/>
          <p:cNvSpPr/>
          <p:nvPr/>
        </p:nvSpPr>
        <p:spPr>
          <a:xfrm>
            <a:off x="6949440" y="4617720"/>
            <a:ext cx="4937760" cy="1280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02124"/>
              </a:buClr>
              <a:buSzPts val="1200"/>
              <a:buFont typeface="Lato"/>
              <a:buNone/>
            </a:pPr>
            <a:r>
              <a:rPr b="0" i="0" lang="en-US" sz="1200" u="none" cap="none" strike="noStrike">
                <a:solidFill>
                  <a:srgbClr val="202124"/>
                </a:solidFill>
                <a:latin typeface="Lato"/>
                <a:ea typeface="Lato"/>
                <a:cs typeface="Lato"/>
                <a:sym typeface="Lato"/>
              </a:rPr>
              <a:t>setup.sh is Mac/Linux/WSL. WSL is a 5-minute install — do it tonight.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54" name="Google Shape;254;p11" title="Gemini_Generated_Image_rbdzoirbdzoirbdz.png"/>
          <p:cNvPicPr preferRelativeResize="0"/>
          <p:nvPr/>
        </p:nvPicPr>
        <p:blipFill rotWithShape="1">
          <a:blip r:embed="rId9">
            <a:alphaModFix/>
          </a:blip>
          <a:srcRect b="33061" l="22742" r="28149" t="10923"/>
          <a:stretch/>
        </p:blipFill>
        <p:spPr>
          <a:xfrm>
            <a:off x="9885440" y="6291673"/>
            <a:ext cx="1727432" cy="492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11"/>
          <p:cNvSpPr/>
          <p:nvPr/>
        </p:nvSpPr>
        <p:spPr>
          <a:xfrm>
            <a:off x="9265615" y="457200"/>
            <a:ext cx="2286000" cy="36576"/>
          </a:xfrm>
          <a:prstGeom prst="rect">
            <a:avLst/>
          </a:prstGeom>
          <a:solidFill>
            <a:srgbClr val="326666"/>
          </a:solidFill>
          <a:ln cap="flat" cmpd="sng" w="12700">
            <a:solidFill>
              <a:srgbClr val="32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7" name="Google Shape;237;p11"/>
          <p:cNvSpPr/>
          <p:nvPr/>
        </p:nvSpPr>
        <p:spPr>
          <a:xfrm>
            <a:off x="9265615" y="548640"/>
            <a:ext cx="2286000" cy="18288"/>
          </a:xfrm>
          <a:prstGeom prst="rect">
            <a:avLst/>
          </a:prstGeom>
          <a:solidFill>
            <a:srgbClr val="326666"/>
          </a:solidFill>
          <a:ln cap="flat" cmpd="sng" w="12700">
            <a:solidFill>
              <a:srgbClr val="32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8" name="Google Shape;238;p11"/>
          <p:cNvSpPr/>
          <p:nvPr/>
        </p:nvSpPr>
        <p:spPr>
          <a:xfrm>
            <a:off x="502920" y="384048"/>
            <a:ext cx="914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300"/>
              <a:buFont typeface="Lato"/>
              <a:buNone/>
            </a:pPr>
            <a:r>
              <a:rPr b="1" i="0" lang="en-US" sz="1300" u="none" cap="none" strike="noStrike">
                <a:solidFill>
                  <a:srgbClr val="0D1B2A"/>
                </a:solidFill>
                <a:latin typeface="Lato"/>
                <a:ea typeface="Lato"/>
                <a:cs typeface="Lato"/>
                <a:sym typeface="Lato"/>
              </a:rPr>
              <a:t>01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11">
            <a:hlinkClick r:id="rId3"/>
          </p:cNvPr>
          <p:cNvSpPr/>
          <p:nvPr/>
        </p:nvSpPr>
        <p:spPr>
          <a:xfrm>
            <a:off x="502920" y="6446520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Lato"/>
              <a:buNone/>
            </a:pPr>
            <a:r>
              <a:rPr b="0" i="0" lang="en-US" sz="1000" u="sng" cap="none" strike="noStrike">
                <a:solidFill>
                  <a:schemeClr val="hlink"/>
                </a:solidFill>
                <a:latin typeface="Lato"/>
                <a:ea typeface="Lato"/>
                <a:cs typeface="Lato"/>
                <a:sym typeface="Lato"/>
                <a:hlinkClick r:id="rId4"/>
              </a:rPr>
              <a:t>www.arsinnovate.com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11"/>
          <p:cNvSpPr/>
          <p:nvPr/>
        </p:nvSpPr>
        <p:spPr>
          <a:xfrm>
            <a:off x="11551615" y="6400800"/>
            <a:ext cx="365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100"/>
              <a:buFont typeface="Lato"/>
              <a:buNone/>
            </a:pPr>
            <a:r>
              <a:rPr b="0" i="0" lang="en-US" sz="1100" u="none" cap="none" strike="noStrike">
                <a:solidFill>
                  <a:srgbClr val="595959"/>
                </a:solidFill>
                <a:latin typeface="Lato"/>
                <a:ea typeface="Lato"/>
                <a:cs typeface="Lato"/>
                <a:sym typeface="Lato"/>
              </a:rPr>
              <a:t>8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11"/>
          <p:cNvSpPr/>
          <p:nvPr/>
        </p:nvSpPr>
        <p:spPr>
          <a:xfrm>
            <a:off x="502920" y="960120"/>
            <a:ext cx="11185855" cy="109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4000"/>
              <a:buFont typeface="Spectral"/>
              <a:buNone/>
            </a:pPr>
            <a:r>
              <a:rPr b="1" i="0" lang="en-US" sz="4000" u="none" cap="none" strike="noStrike">
                <a:solidFill>
                  <a:srgbClr val="0D1B2A"/>
                </a:solidFill>
                <a:latin typeface="Spectral"/>
                <a:ea typeface="Spectral"/>
                <a:cs typeface="Spectral"/>
                <a:sym typeface="Spectral"/>
              </a:rPr>
              <a:t>Three short docs. That’s our knowledge base.</a:t>
            </a:r>
            <a:endParaRPr b="0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42" name="Google Shape;242;p1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02920" y="2377440"/>
            <a:ext cx="548640" cy="548640"/>
          </a:xfrm>
          <a:prstGeom prst="rect">
            <a:avLst/>
          </a:prstGeom>
          <a:noFill/>
          <a:ln>
            <a:noFill/>
          </a:ln>
        </p:spPr>
      </p:pic>
      <p:sp>
        <p:nvSpPr>
          <p:cNvPr id="243" name="Google Shape;243;p11"/>
          <p:cNvSpPr/>
          <p:nvPr/>
        </p:nvSpPr>
        <p:spPr>
          <a:xfrm>
            <a:off x="1234440" y="2331720"/>
            <a:ext cx="49377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800"/>
              <a:buFont typeface="Spectral"/>
              <a:buNone/>
            </a:pPr>
            <a:r>
              <a:rPr b="1" i="0" lang="en-US" sz="1800" u="none" cap="none" strike="noStrike">
                <a:solidFill>
                  <a:srgbClr val="0D1B2A"/>
                </a:solidFill>
                <a:latin typeface="Spectral"/>
                <a:ea typeface="Spectral"/>
                <a:cs typeface="Spectral"/>
                <a:sym typeface="Spectral"/>
              </a:rPr>
              <a:t>What our RAG retrieves from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11"/>
          <p:cNvSpPr/>
          <p:nvPr/>
        </p:nvSpPr>
        <p:spPr>
          <a:xfrm>
            <a:off x="1234440" y="2788920"/>
            <a:ext cx="4937760" cy="1280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02124"/>
              </a:buClr>
              <a:buSzPts val="1200"/>
              <a:buFont typeface="Lato"/>
              <a:buNone/>
            </a:pPr>
            <a:r>
              <a:rPr b="0" i="0" lang="en-US" sz="1200" u="none" cap="none" strike="noStrike">
                <a:solidFill>
                  <a:srgbClr val="202124"/>
                </a:solidFill>
                <a:latin typeface="Lato"/>
                <a:ea typeface="Lato"/>
                <a:cs typeface="Lato"/>
                <a:sym typeface="Lato"/>
              </a:rPr>
              <a:t>devops_glossary.md</a:t>
            </a:r>
            <a:endParaRPr b="0" i="0" sz="1200" u="none" cap="none" strike="noStrike">
              <a:solidFill>
                <a:srgbClr val="202124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02124"/>
              </a:buClr>
              <a:buSzPts val="1200"/>
              <a:buFont typeface="Lato"/>
              <a:buNone/>
            </a:pPr>
            <a:r>
              <a:rPr b="0" i="0" lang="en-US" sz="1200" u="none" cap="none" strike="noStrike">
                <a:solidFill>
                  <a:srgbClr val="202124"/>
                </a:solidFill>
                <a:latin typeface="Lato"/>
                <a:ea typeface="Lato"/>
                <a:cs typeface="Lato"/>
                <a:sym typeface="Lato"/>
              </a:rPr>
              <a:t>Defines trace, span, OpenTelemetry, Langfuse, vector, ChromaDB, top-k, Ollama.</a:t>
            </a:r>
            <a:endParaRPr b="0" i="0" sz="1200" u="none" cap="none" strike="noStrike">
              <a:solidFill>
                <a:srgbClr val="202124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02124"/>
              </a:buClr>
              <a:buSzPts val="1200"/>
              <a:buFont typeface="Lato"/>
              <a:buNone/>
            </a:pPr>
            <a:r>
              <a:rPr b="0" i="0" lang="en-US" sz="1200" u="none" cap="none" strike="noStrike">
                <a:solidFill>
                  <a:srgbClr val="202124"/>
                </a:solidFill>
                <a:latin typeface="Lato"/>
                <a:ea typeface="Lato"/>
                <a:cs typeface="Lato"/>
                <a:sym typeface="Lato"/>
              </a:rPr>
              <a:t>The vocabulary.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45" name="Google Shape;245;p1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217920" y="2377440"/>
            <a:ext cx="548640" cy="548640"/>
          </a:xfrm>
          <a:prstGeom prst="rect">
            <a:avLst/>
          </a:prstGeom>
          <a:noFill/>
          <a:ln>
            <a:noFill/>
          </a:ln>
        </p:spPr>
      </p:pic>
      <p:sp>
        <p:nvSpPr>
          <p:cNvPr id="246" name="Google Shape;246;p11"/>
          <p:cNvSpPr/>
          <p:nvPr/>
        </p:nvSpPr>
        <p:spPr>
          <a:xfrm>
            <a:off x="6949440" y="2331720"/>
            <a:ext cx="49377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800"/>
              <a:buFont typeface="Spectral"/>
              <a:buNone/>
            </a:pPr>
            <a:r>
              <a:rPr b="1" i="0" lang="en-US" sz="1800" u="none" cap="none" strike="noStrike">
                <a:solidFill>
                  <a:srgbClr val="0D1B2A"/>
                </a:solidFill>
                <a:latin typeface="Spectral"/>
                <a:ea typeface="Spectral"/>
                <a:cs typeface="Spectral"/>
                <a:sym typeface="Spectral"/>
              </a:rPr>
              <a:t>llm_observability.md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11"/>
          <p:cNvSpPr/>
          <p:nvPr/>
        </p:nvSpPr>
        <p:spPr>
          <a:xfrm>
            <a:off x="6949440" y="2788920"/>
            <a:ext cx="4937760" cy="1280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02124"/>
              </a:buClr>
              <a:buSzPts val="1200"/>
              <a:buFont typeface="Lato"/>
              <a:buNone/>
            </a:pPr>
            <a:r>
              <a:rPr b="0" i="0" lang="en-US" sz="1200" u="none" cap="none" strike="noStrike">
                <a:solidFill>
                  <a:srgbClr val="202124"/>
                </a:solidFill>
                <a:latin typeface="Lato"/>
                <a:ea typeface="Lato"/>
                <a:cs typeface="Lato"/>
                <a:sym typeface="Lato"/>
              </a:rPr>
              <a:t>Why APMs miss LLM failures.</a:t>
            </a:r>
            <a:endParaRPr b="0" i="0" sz="1200" u="none" cap="none" strike="noStrike">
              <a:solidFill>
                <a:srgbClr val="202124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02124"/>
              </a:buClr>
              <a:buSzPts val="1200"/>
              <a:buFont typeface="Lato"/>
              <a:buNone/>
            </a:pPr>
            <a:r>
              <a:rPr b="0" i="0" lang="en-US" sz="1200" u="none" cap="none" strike="noStrike">
                <a:solidFill>
                  <a:srgbClr val="202124"/>
                </a:solidFill>
                <a:latin typeface="Lato"/>
                <a:ea typeface="Lato"/>
                <a:cs typeface="Lato"/>
                <a:sym typeface="Lato"/>
              </a:rPr>
              <a:t>The three signals: cost, quality, grounding.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48" name="Google Shape;248;p11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02920" y="4206240"/>
            <a:ext cx="548640" cy="548640"/>
          </a:xfrm>
          <a:prstGeom prst="rect">
            <a:avLst/>
          </a:prstGeom>
          <a:noFill/>
          <a:ln>
            <a:noFill/>
          </a:ln>
        </p:spPr>
      </p:pic>
      <p:sp>
        <p:nvSpPr>
          <p:cNvPr id="249" name="Google Shape;249;p11"/>
          <p:cNvSpPr/>
          <p:nvPr/>
        </p:nvSpPr>
        <p:spPr>
          <a:xfrm>
            <a:off x="1234440" y="4160520"/>
            <a:ext cx="49377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800"/>
              <a:buFont typeface="Spectral"/>
              <a:buNone/>
            </a:pPr>
            <a:r>
              <a:rPr b="1" i="0" lang="en-US" sz="1800" u="none" cap="none" strike="noStrike">
                <a:solidFill>
                  <a:srgbClr val="0D1B2A"/>
                </a:solidFill>
                <a:latin typeface="Spectral"/>
                <a:ea typeface="Spectral"/>
                <a:cs typeface="Spectral"/>
                <a:sym typeface="Spectral"/>
              </a:rPr>
              <a:t>rag_patterns.md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11"/>
          <p:cNvSpPr/>
          <p:nvPr/>
        </p:nvSpPr>
        <p:spPr>
          <a:xfrm>
            <a:off x="1234440" y="4617720"/>
            <a:ext cx="4937760" cy="1280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02124"/>
              </a:buClr>
              <a:buSzPts val="1200"/>
              <a:buFont typeface="Lato"/>
              <a:buNone/>
            </a:pPr>
            <a:r>
              <a:rPr b="0" i="0" lang="en-US" sz="1200" u="none" cap="none" strike="noStrike">
                <a:solidFill>
                  <a:srgbClr val="202124"/>
                </a:solidFill>
                <a:latin typeface="Lato"/>
                <a:ea typeface="Lato"/>
                <a:cs typeface="Lato"/>
                <a:sym typeface="Lato"/>
              </a:rPr>
              <a:t>Five RAG stages and how each fails. The work-backwards-through-the-trace debug flow.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51" name="Google Shape;251;p11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217920" y="4206240"/>
            <a:ext cx="548640" cy="548640"/>
          </a:xfrm>
          <a:prstGeom prst="rect">
            <a:avLst/>
          </a:prstGeom>
          <a:noFill/>
          <a:ln>
            <a:noFill/>
          </a:ln>
        </p:spPr>
      </p:pic>
      <p:sp>
        <p:nvSpPr>
          <p:cNvPr id="252" name="Google Shape;252;p11"/>
          <p:cNvSpPr/>
          <p:nvPr/>
        </p:nvSpPr>
        <p:spPr>
          <a:xfrm>
            <a:off x="6949440" y="4160520"/>
            <a:ext cx="49377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800"/>
              <a:buFont typeface="Spectral"/>
              <a:buNone/>
            </a:pPr>
            <a:r>
              <a:rPr b="1" i="0" lang="en-US" sz="1800" u="none" cap="none" strike="noStrike">
                <a:solidFill>
                  <a:srgbClr val="0D1B2A"/>
                </a:solidFill>
                <a:latin typeface="Spectral"/>
                <a:ea typeface="Spectral"/>
                <a:cs typeface="Spectral"/>
                <a:sym typeface="Spectral"/>
              </a:rPr>
              <a:t>All three are in your packet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11"/>
          <p:cNvSpPr/>
          <p:nvPr/>
        </p:nvSpPr>
        <p:spPr>
          <a:xfrm>
            <a:off x="6949440" y="4617720"/>
            <a:ext cx="4937760" cy="1280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02124"/>
              </a:buClr>
              <a:buSzPts val="1200"/>
              <a:buFont typeface="Lato"/>
              <a:buNone/>
            </a:pPr>
            <a:r>
              <a:rPr b="0" i="0" lang="en-US" sz="1200" u="none" cap="none" strike="noStrike">
                <a:solidFill>
                  <a:srgbClr val="202124"/>
                </a:solidFill>
                <a:latin typeface="Lato"/>
                <a:ea typeface="Lato"/>
                <a:cs typeface="Lato"/>
                <a:sym typeface="Lato"/>
              </a:rPr>
              <a:t>Print copies. Refer back when you ask: did the model use the right source?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54" name="Google Shape;254;p11" title="Gemini_Generated_Image_rbdzoirbdzoirbdz.png"/>
          <p:cNvPicPr preferRelativeResize="0"/>
          <p:nvPr/>
        </p:nvPicPr>
        <p:blipFill rotWithShape="1">
          <a:blip r:embed="rId9">
            <a:alphaModFix/>
          </a:blip>
          <a:srcRect b="33061" l="22742" r="28149" t="10923"/>
          <a:stretch/>
        </p:blipFill>
        <p:spPr>
          <a:xfrm>
            <a:off x="9885440" y="6291673"/>
            <a:ext cx="1727432" cy="492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