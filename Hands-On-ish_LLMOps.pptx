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Roboto"/>
      <p:regular r:id="rId27"/>
      <p:bold r:id="rId28"/>
      <p:italic r:id="rId29"/>
      <p:boldItalic r:id="rId30"/>
    </p:embeddedFont>
    <p:embeddedFont>
      <p:font typeface="Lato"/>
      <p:regular r:id="rId31"/>
      <p:bold r:id="rId32"/>
      <p:italic r:id="rId33"/>
      <p:boldItalic r:id="rId34"/>
    </p:embeddedFont>
    <p:embeddedFont>
      <p:font typeface="Spectral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Jeanne McClur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Roboto-bold.fntdata"/><Relationship Id="rId27" Type="http://schemas.openxmlformats.org/officeDocument/2006/relationships/font" Target="fonts/Robot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regular.fntdata"/><Relationship Id="rId30" Type="http://schemas.openxmlformats.org/officeDocument/2006/relationships/font" Target="fonts/Roboto-boldItalic.fntdata"/><Relationship Id="rId11" Type="http://schemas.openxmlformats.org/officeDocument/2006/relationships/slide" Target="slides/slide6.xml"/><Relationship Id="rId33" Type="http://schemas.openxmlformats.org/officeDocument/2006/relationships/font" Target="fonts/Lato-italic.fntdata"/><Relationship Id="rId10" Type="http://schemas.openxmlformats.org/officeDocument/2006/relationships/slide" Target="slides/slide5.xml"/><Relationship Id="rId32" Type="http://schemas.openxmlformats.org/officeDocument/2006/relationships/font" Target="fonts/Lato-bold.fntdata"/><Relationship Id="rId13" Type="http://schemas.openxmlformats.org/officeDocument/2006/relationships/slide" Target="slides/slide8.xml"/><Relationship Id="rId35" Type="http://schemas.openxmlformats.org/officeDocument/2006/relationships/font" Target="fonts/Spectral-regular.fntdata"/><Relationship Id="rId12" Type="http://schemas.openxmlformats.org/officeDocument/2006/relationships/slide" Target="slides/slide7.xml"/><Relationship Id="rId34" Type="http://schemas.openxmlformats.org/officeDocument/2006/relationships/font" Target="fonts/Lato-boldItalic.fntdata"/><Relationship Id="rId15" Type="http://schemas.openxmlformats.org/officeDocument/2006/relationships/slide" Target="slides/slide10.xml"/><Relationship Id="rId37" Type="http://schemas.openxmlformats.org/officeDocument/2006/relationships/font" Target="fonts/Spectral-italic.fntdata"/><Relationship Id="rId14" Type="http://schemas.openxmlformats.org/officeDocument/2006/relationships/slide" Target="slides/slide9.xml"/><Relationship Id="rId36" Type="http://schemas.openxmlformats.org/officeDocument/2006/relationships/font" Target="fonts/Spectral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schemas.openxmlformats.org/officeDocument/2006/relationships/font" Target="fonts/Spectral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4-30T14:36:22.738">
    <p:pos x="1180" y="2678"/>
    <p:text>I think we were adding a tool here and then we also need to update the slide before for the tools</p:text>
  </p:cm>
</p:cmLst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daa87adfd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daa87adfd2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aa87adfd2_0_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daa87adfd2_0_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g3daa87adfd2_0_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aa87adfd2_0_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aa87adfd2_0_6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g3daa87adfd2_0_6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1" name="Google Shape;54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6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6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6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6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9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29.png"/><Relationship Id="rId7" Type="http://schemas.openxmlformats.org/officeDocument/2006/relationships/image" Target="../media/image14.png"/><Relationship Id="rId8" Type="http://schemas.openxmlformats.org/officeDocument/2006/relationships/image" Target="../media/image20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1.xml"/><Relationship Id="rId4" Type="http://schemas.openxmlformats.org/officeDocument/2006/relationships/hyperlink" Target="https://arsinnovate.com" TargetMode="External"/><Relationship Id="rId5" Type="http://schemas.openxmlformats.org/officeDocument/2006/relationships/hyperlink" Target="https://arsinnovate.com" TargetMode="External"/><Relationship Id="rId6" Type="http://schemas.openxmlformats.org/officeDocument/2006/relationships/image" Target="../media/image6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9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6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6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32.png"/><Relationship Id="rId6" Type="http://schemas.openxmlformats.org/officeDocument/2006/relationships/image" Target="../media/image6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9" Type="http://schemas.openxmlformats.org/officeDocument/2006/relationships/image" Target="../media/image6.png"/><Relationship Id="rId5" Type="http://schemas.openxmlformats.org/officeDocument/2006/relationships/image" Target="../media/image28.png"/><Relationship Id="rId6" Type="http://schemas.openxmlformats.org/officeDocument/2006/relationships/image" Target="../media/image11.png"/><Relationship Id="rId7" Type="http://schemas.openxmlformats.org/officeDocument/2006/relationships/image" Target="../media/image36.png"/><Relationship Id="rId8" Type="http://schemas.openxmlformats.org/officeDocument/2006/relationships/image" Target="../media/image34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arsinnovate.com" TargetMode="External"/><Relationship Id="rId4" Type="http://schemas.openxmlformats.org/officeDocument/2006/relationships/hyperlink" Target="https://arsinnovate.com" TargetMode="External"/><Relationship Id="rId5" Type="http://schemas.openxmlformats.org/officeDocument/2006/relationships/image" Target="../media/image6.png"/><Relationship Id="rId6" Type="http://schemas.openxmlformats.org/officeDocument/2006/relationships/image" Target="../media/image37.png"/><Relationship Id="rId7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1463040"/>
            <a:ext cx="10515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6400"/>
              <a:buFont typeface="Spectral"/>
              <a:buNone/>
            </a:pPr>
            <a:r>
              <a:rPr b="1" i="0" lang="en-US" sz="6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Hands-On(ish) LLMOps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" y="269748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2800"/>
              <a:buFont typeface="Spectral"/>
              <a:buNone/>
            </a:pPr>
            <a:r>
              <a:rPr i="1" lang="en-US" sz="2800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 xml:space="preserve">Maybe </a:t>
            </a:r>
            <a:r>
              <a:rPr b="0" i="1" lang="en-US" sz="28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Build - Maybe Demo of an Observable AI System in 90 Minutes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0080" y="3302260"/>
            <a:ext cx="1828800" cy="366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640074" y="3566170"/>
            <a:ext cx="6400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Lato"/>
              <a:buNone/>
            </a:pPr>
            <a:r>
              <a:rPr b="1" i="0" lang="en-US" sz="20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Jeanne McClure, PhD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500"/>
              <a:buFont typeface="Lato"/>
              <a:buNone/>
            </a:pPr>
            <a:r>
              <a:rPr b="0" i="0" lang="en-US" sz="15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 xml:space="preserve">AI:  Principal · Consultant · </a:t>
            </a:r>
            <a:r>
              <a:rPr lang="en-US" sz="1500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Expert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 xml:space="preserve">Ars </a:t>
            </a: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b="1" i="0" lang="en-US" sz="14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nnovate Technologies &amp; Consulting</a:t>
            </a:r>
            <a:endParaRPr b="1" i="0" sz="1400" u="none" cap="none" strike="noStrike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t/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 xml:space="preserve">Postdoctoral Fellow </a:t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Data Science &amp; AI Academy</a:t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North Carolina State University</a:t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Lato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DevOps Days · 2026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800"/>
              <a:buFont typeface="Lato"/>
              <a:buNone/>
            </a:pPr>
            <a:r>
              <a:rPr b="0" i="0" lang="en-US" sz="8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© 2026 Jeanne McClure, PhD / Arsinnovate. Non-commercial use only. Attribution required.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473725" y="5698325"/>
            <a:ext cx="10848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Roboto"/>
                <a:ea typeface="Roboto"/>
                <a:cs typeface="Roboto"/>
                <a:sym typeface="Roboto"/>
              </a:rPr>
              <a:t>This material is based in part upon work supported by the National Science Foundation under Grant #DGE-2222148. Any opinions, findings, and conclusions or recommendations expressed in this material are those of the author(s) and do not necessarily reflect the views of the National Science Foundation.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" name="Google Shape;25;p3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02920" y="960120"/>
            <a:ext cx="1118585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You shipped the LLM feature. It works — mostly.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502920" y="2286000"/>
            <a:ext cx="5760720" cy="365760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F4F2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02920" y="2286000"/>
            <a:ext cx="73152" cy="36576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777240" y="2468880"/>
            <a:ext cx="539496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Spectral"/>
              <a:buNone/>
            </a:pPr>
            <a:r>
              <a:rPr b="1" i="0" lang="en-US" sz="2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Last week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Lato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500"/>
              <a:buFont typeface="Lato"/>
              <a:buNone/>
            </a:pPr>
            <a:r>
              <a:rPr b="0" i="0" lang="en-US" sz="2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your AI assistant gave a customer bizarre advice. Nobody can reproduce it. Nobody knows why.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Lato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400"/>
              <a:buFont typeface="Lato"/>
              <a:buNone/>
            </a:pPr>
            <a:r>
              <a:rPr b="0" i="1" lang="en-US" sz="21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The logs show an HTTP 200.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Lato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Lato"/>
              <a:buNone/>
            </a:pPr>
            <a:r>
              <a:rPr b="1" i="1" lang="en-US" sz="25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Helpful.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675120" y="23774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i="0" lang="en-US" sz="20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You cannot answer: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" name="Google Shape;4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30175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4"/>
          <p:cNvSpPr/>
          <p:nvPr/>
        </p:nvSpPr>
        <p:spPr>
          <a:xfrm>
            <a:off x="7178040" y="29718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Can you debug it when it breaks?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40233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7178040" y="39776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Do you know what it costs per request?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" name="Google Shape;4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50292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7178040" y="4983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Can you trace why it gave a wrong answer?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47;p4" title="Gemini_Generated_Image_rbdzoirbdzoirbdz.png"/>
          <p:cNvPicPr preferRelativeResize="0"/>
          <p:nvPr/>
        </p:nvPicPr>
        <p:blipFill rotWithShape="1">
          <a:blip r:embed="rId6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"/>
          <p:cNvSpPr/>
          <p:nvPr/>
        </p:nvSpPr>
        <p:spPr>
          <a:xfrm>
            <a:off x="9265615" y="457200"/>
            <a:ext cx="2286000" cy="366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9265615" y="548640"/>
            <a:ext cx="2286000" cy="183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" y="384048"/>
            <a:ext cx="914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>
            <a:hlinkClick r:id="rId3"/>
          </p:cNvPr>
          <p:cNvSpPr/>
          <p:nvPr/>
        </p:nvSpPr>
        <p:spPr>
          <a:xfrm>
            <a:off x="502920" y="6446520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11551615" y="64008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02920" y="960120"/>
            <a:ext cx="111858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Today fits inside a bigger practice.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02920" y="2286000"/>
            <a:ext cx="3657600" cy="393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502920" y="2286000"/>
            <a:ext cx="3657600" cy="7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0" name="Google Shape;6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240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"/>
          <p:cNvSpPr/>
          <p:nvPr/>
        </p:nvSpPr>
        <p:spPr>
          <a:xfrm>
            <a:off x="777240" y="3383280"/>
            <a:ext cx="3108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 xml:space="preserve">Phase 1 </a:t>
            </a:r>
            <a:endParaRPr b="1" i="0" sz="2600" u="none" cap="none" strike="noStrike">
              <a:solidFill>
                <a:srgbClr val="0D1B2A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lang="en-US" sz="2600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Human Evaluation</a:t>
            </a:r>
            <a:endParaRPr b="1" sz="2600">
              <a:solidFill>
                <a:srgbClr val="0D1B2A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777240" y="4023360"/>
            <a:ext cx="31089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t/>
            </a:r>
            <a:endParaRPr sz="1300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Humans score model output by hand against a written rubric. This is how you build ground truth before you decide which model to use.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4325112" y="2286000"/>
            <a:ext cx="3657600" cy="393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4325112" y="2286000"/>
            <a:ext cx="3657600" cy="7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5" name="Google Shape;6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9432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"/>
          <p:cNvSpPr/>
          <p:nvPr/>
        </p:nvSpPr>
        <p:spPr>
          <a:xfrm>
            <a:off x="4599432" y="3383280"/>
            <a:ext cx="3108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 xml:space="preserve">Phase 2 </a:t>
            </a:r>
            <a:endParaRPr b="1" sz="2600">
              <a:solidFill>
                <a:srgbClr val="0D1B2A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lang="en-US" sz="2600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LLM-as-Judge</a:t>
            </a:r>
            <a:endParaRPr b="1" sz="2600">
              <a:solidFill>
                <a:srgbClr val="0D1B2A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99432" y="4023360"/>
            <a:ext cx="31089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t/>
            </a:r>
            <a:endParaRPr sz="1300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Your Phase 1 scores become training data for an automated judge. The judge applies your rubric at scale, across thousands of queries</a:t>
            </a:r>
            <a:r>
              <a:rPr lang="en-US" sz="1300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 - ML Classification.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147304" y="2286000"/>
            <a:ext cx="3657600" cy="393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147304" y="2286000"/>
            <a:ext cx="3657600" cy="7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70" name="Google Shape;70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21624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5"/>
          <p:cNvSpPr/>
          <p:nvPr/>
        </p:nvSpPr>
        <p:spPr>
          <a:xfrm>
            <a:off x="8421650" y="3084596"/>
            <a:ext cx="3711600" cy="126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Phase 3 - Today</a:t>
            </a:r>
            <a:endParaRPr b="1" sz="2600">
              <a:solidFill>
                <a:srgbClr val="0D1B2A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lang="en-US" sz="2400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Production Monitoring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421624" y="4023360"/>
            <a:ext cx="31089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t/>
            </a:r>
            <a:endParaRPr sz="1300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</a:t>
            </a: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ontinuous </a:t>
            </a: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observability of the live system. Traces, costs, drift. </a:t>
            </a:r>
            <a:endParaRPr b="0" i="0" sz="1300" u="none" cap="none" strike="noStrike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t/>
            </a:r>
            <a:endParaRPr sz="1300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This is what we build today. The next 90 minutes lives here.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Google Shape;73;p5" title="Gemini_Generated_Image_rbdzoirbdzoirbdz.png"/>
          <p:cNvPicPr preferRelativeResize="0"/>
          <p:nvPr/>
        </p:nvPicPr>
        <p:blipFill rotWithShape="1">
          <a:blip r:embed="rId8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02920" y="960120"/>
            <a:ext cx="1118585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LLMs fail differently than traditional software.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502920" y="2286000"/>
            <a:ext cx="5257800" cy="393192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F4F2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822960" y="2468880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Traditional Service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822960" y="3017520"/>
            <a:ext cx="461772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Breaks with a stack trace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APM sees the failure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Deterministic: same input, same output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HTTP 500 means something is wrong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355080" y="2286000"/>
            <a:ext cx="5257800" cy="393192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6355080" y="2286000"/>
            <a:ext cx="73152" cy="3931920"/>
          </a:xfrm>
          <a:prstGeom prst="rect">
            <a:avLst/>
          </a:prstGeom>
          <a:solidFill>
            <a:srgbClr val="92BC81"/>
          </a:solidFill>
          <a:ln cap="flat" cmpd="sng" w="12700">
            <a:solidFill>
              <a:srgbClr val="92BC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6675120" y="2468880"/>
            <a:ext cx="4617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LLM-Powered Service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6675120" y="3017520"/>
            <a:ext cx="461772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Fails with plausible wrong answers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APM sees a 200 OK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Stochastic: same input, different output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HTTP 200 means nothing about quality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6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7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7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502920" y="960120"/>
            <a:ext cx="1118585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Three signals unique to LLM systems.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502920" y="2286000"/>
            <a:ext cx="3657600" cy="3931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502920" y="2286000"/>
            <a:ext cx="36576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6" name="Google Shape;10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240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7"/>
          <p:cNvSpPr/>
          <p:nvPr/>
        </p:nvSpPr>
        <p:spPr>
          <a:xfrm>
            <a:off x="777240" y="33832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Cost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777240" y="4023360"/>
            <a:ext cx="310896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Every call has variable cost. Token counts per endpoint, per user cohort, per feature flag are </a:t>
            </a:r>
            <a:r>
              <a:rPr lang="en-US" sz="1300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a </a:t>
            </a: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honest cost model.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4325112" y="2286000"/>
            <a:ext cx="3657600" cy="3931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4325112" y="2286000"/>
            <a:ext cx="36576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1" name="Google Shape;11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9432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7"/>
          <p:cNvSpPr/>
          <p:nvPr/>
        </p:nvSpPr>
        <p:spPr>
          <a:xfrm>
            <a:off x="4599432" y="33832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Quality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4599432" y="4023360"/>
            <a:ext cx="310896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Prompt + completion content is the way to know WHY the model answered the way it did. Without it, debugging is guessing.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147304" y="2286000"/>
            <a:ext cx="3657600" cy="3931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8147304" y="2286000"/>
            <a:ext cx="36576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21624" y="260604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/>
          <p:nvPr/>
        </p:nvSpPr>
        <p:spPr>
          <a:xfrm>
            <a:off x="8421624" y="33832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Spectral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Grounding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421624" y="4023360"/>
            <a:ext cx="310896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For RAG: the retrieved chunks ARE the ground truth. </a:t>
            </a:r>
            <a:endParaRPr b="0" i="0" sz="1300" u="none" cap="none" strike="noStrike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Wrong chunks in = "hallucinations" out. You must log retrieval.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7" title="Gemini_Generated_Image_rbdzoirbdzoirbdz.png"/>
          <p:cNvPicPr preferRelativeResize="0"/>
          <p:nvPr/>
        </p:nvPicPr>
        <p:blipFill rotWithShape="1">
          <a:blip r:embed="rId8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"/>
          <p:cNvSpPr/>
          <p:nvPr/>
        </p:nvSpPr>
        <p:spPr>
          <a:xfrm>
            <a:off x="9265615" y="457200"/>
            <a:ext cx="2286000" cy="366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9265615" y="548640"/>
            <a:ext cx="2286000" cy="183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8"/>
          <p:cNvSpPr/>
          <p:nvPr/>
        </p:nvSpPr>
        <p:spPr>
          <a:xfrm>
            <a:off x="502920" y="384048"/>
            <a:ext cx="914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>
            <a:hlinkClick r:id="rId3"/>
          </p:cNvPr>
          <p:cNvSpPr/>
          <p:nvPr/>
        </p:nvSpPr>
        <p:spPr>
          <a:xfrm>
            <a:off x="502920" y="6446520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11551615" y="64008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502920" y="960120"/>
            <a:ext cx="111858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 RAG system. Fully observable. On your laptop.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838048" y="3017520"/>
            <a:ext cx="1920300" cy="1188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838048" y="3017520"/>
            <a:ext cx="1920300" cy="3201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38048" y="3017520"/>
            <a:ext cx="1920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Load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38048" y="3474720"/>
            <a:ext cx="19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ourier New"/>
              <a:buNone/>
            </a:pPr>
            <a:r>
              <a:rPr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3 docs</a:t>
            </a:r>
            <a:endParaRPr i="0" sz="13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preencoded.png" id="135" name="Google Shape;13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76576" y="35204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/>
          <p:nvPr/>
        </p:nvSpPr>
        <p:spPr>
          <a:xfrm>
            <a:off x="2986888" y="3017520"/>
            <a:ext cx="1920300" cy="1188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2986888" y="3017520"/>
            <a:ext cx="1920300" cy="3201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2986888" y="3017520"/>
            <a:ext cx="1920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Chunk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2986888" y="3474720"/>
            <a:ext cx="19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ourier New"/>
              <a:buNone/>
            </a:pPr>
            <a:r>
              <a:rPr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~20 pieces</a:t>
            </a:r>
            <a:endParaRPr i="0" sz="13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preencoded.png" id="140" name="Google Shape;14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25416" y="35204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8"/>
          <p:cNvSpPr/>
          <p:nvPr/>
        </p:nvSpPr>
        <p:spPr>
          <a:xfrm>
            <a:off x="5135728" y="3017520"/>
            <a:ext cx="1920300" cy="1188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5135728" y="3017520"/>
            <a:ext cx="1920300" cy="3201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5135728" y="3017520"/>
            <a:ext cx="1920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Embed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5135728" y="3474720"/>
            <a:ext cx="19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ourier New"/>
              <a:buNone/>
            </a:pPr>
            <a:r>
              <a:rPr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all-minilm</a:t>
            </a:r>
            <a:endParaRPr i="0" sz="13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preencoded.png" id="145" name="Google Shape;14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74256" y="35204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8"/>
          <p:cNvSpPr/>
          <p:nvPr/>
        </p:nvSpPr>
        <p:spPr>
          <a:xfrm>
            <a:off x="7284568" y="3017520"/>
            <a:ext cx="1920300" cy="1188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7284568" y="3017520"/>
            <a:ext cx="1920300" cy="3201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7284568" y="3017520"/>
            <a:ext cx="1920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Retrieve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7284568" y="3474720"/>
            <a:ext cx="19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ourier New"/>
              <a:buNone/>
            </a:pPr>
            <a:r>
              <a:rPr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top-k</a:t>
            </a:r>
            <a:endParaRPr i="0" sz="13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preencoded.png" id="150" name="Google Shape;15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23096" y="35204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9433408" y="3017520"/>
            <a:ext cx="1920300" cy="1188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9433408" y="3017520"/>
            <a:ext cx="1920300" cy="3201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433408" y="3017520"/>
            <a:ext cx="1920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Generate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9433408" y="3474720"/>
            <a:ext cx="19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ourier New"/>
              <a:buNone/>
            </a:pPr>
            <a:r>
              <a:rPr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llama3.2:1b</a:t>
            </a:r>
            <a:endParaRPr i="0" sz="13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838048" y="4663440"/>
            <a:ext cx="10515600" cy="68580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838048" y="4663440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+ Langfuse traces  ·  + OpenTelemetry spans  ·  + token, latency, cost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502920" y="5760720"/>
            <a:ext cx="111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500"/>
              <a:buFont typeface="Spectral"/>
              <a:buNone/>
            </a:pPr>
            <a:r>
              <a:rPr b="0" i="1" lang="en-US" sz="15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Everything local. Every line yours. No API keys, no cloud, no vendor lock-in.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8" title="Gemini_Generated_Image_rbdzoirbdzoirbdz.png"/>
          <p:cNvPicPr preferRelativeResize="0"/>
          <p:nvPr/>
        </p:nvPicPr>
        <p:blipFill rotWithShape="1">
          <a:blip r:embed="rId6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9265615" y="457200"/>
            <a:ext cx="2286000" cy="366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9265615" y="548640"/>
            <a:ext cx="2286000" cy="183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502920" y="384048"/>
            <a:ext cx="914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>
            <a:hlinkClick r:id="rId3"/>
          </p:cNvPr>
          <p:cNvSpPr/>
          <p:nvPr/>
        </p:nvSpPr>
        <p:spPr>
          <a:xfrm>
            <a:off x="502920" y="6446520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11551615" y="640080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502920" y="960120"/>
            <a:ext cx="111858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Five tools. Each does one thing well.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502920" y="2286000"/>
            <a:ext cx="54864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502920" y="2286000"/>
            <a:ext cx="73200" cy="178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72" name="Google Shape;17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240" y="256032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9"/>
          <p:cNvSpPr/>
          <p:nvPr/>
        </p:nvSpPr>
        <p:spPr>
          <a:xfrm>
            <a:off x="1554480" y="2514600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200"/>
              <a:buFont typeface="Spectral"/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Ollama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1554480" y="3017520"/>
            <a:ext cx="429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Runs the LLM + embeddings locally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777240" y="3474720"/>
            <a:ext cx="5120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050"/>
              <a:buFont typeface="Courier New"/>
              <a:buNone/>
            </a:pPr>
            <a:r>
              <a:rPr i="1" lang="en-US" sz="105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 xml:space="preserve">llama3.2:1b (~1.3GB) </a:t>
            </a:r>
            <a:r>
              <a:rPr i="1" lang="en-US" sz="1050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r>
              <a:rPr i="1" lang="en-US" sz="105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 xml:space="preserve">          ·            all-minilm (~46MB)</a:t>
            </a:r>
            <a:endParaRPr i="0" sz="105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6217920" y="2286000"/>
            <a:ext cx="54864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217920" y="2286000"/>
            <a:ext cx="73200" cy="178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78" name="Google Shape;17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2240" y="256032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/>
          <p:nvPr/>
        </p:nvSpPr>
        <p:spPr>
          <a:xfrm>
            <a:off x="7269480" y="2514600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200"/>
              <a:buFont typeface="Spectral"/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ChromaDB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7269480" y="3017520"/>
            <a:ext cx="429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Vector store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492240" y="3474720"/>
            <a:ext cx="5120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050"/>
              <a:buFont typeface="Courier New"/>
              <a:buNone/>
            </a:pPr>
            <a:r>
              <a:rPr i="1" lang="en-US" sz="105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In-process, no daemon, no config</a:t>
            </a:r>
            <a:endParaRPr i="0" sz="105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502920" y="4297680"/>
            <a:ext cx="54864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502920" y="4297680"/>
            <a:ext cx="73200" cy="178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4" name="Google Shape;184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7240" y="457200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9"/>
          <p:cNvSpPr/>
          <p:nvPr/>
        </p:nvSpPr>
        <p:spPr>
          <a:xfrm>
            <a:off x="1554480" y="4526280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200"/>
              <a:buFont typeface="Spectral"/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Langfuse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1554480" y="5029200"/>
            <a:ext cx="429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LLM-native observability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777240" y="5486400"/>
            <a:ext cx="5120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050"/>
              <a:buFont typeface="Courier New"/>
              <a:buNone/>
            </a:pPr>
            <a:r>
              <a:rPr i="1" lang="en-US" sz="105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Self-hosted, OSS, understands prompts + tokens</a:t>
            </a:r>
            <a:endParaRPr i="0" sz="105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6217920" y="4297680"/>
            <a:ext cx="54864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6217920" y="4297680"/>
            <a:ext cx="73200" cy="1783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0" name="Google Shape;190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92240" y="457200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9"/>
          <p:cNvSpPr/>
          <p:nvPr/>
        </p:nvSpPr>
        <p:spPr>
          <a:xfrm>
            <a:off x="7269480" y="4526280"/>
            <a:ext cx="4297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200"/>
              <a:buFont typeface="Spectral"/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OpenTelemetry + Jaeger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7269480" y="5029200"/>
            <a:ext cx="429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Cross-service tracing · clickable trace UI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6492240" y="5486400"/>
            <a:ext cx="5120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050"/>
              <a:buFont typeface="Courier New"/>
              <a:buNone/>
            </a:pPr>
            <a:r>
              <a:rPr i="1" lang="en-US" sz="105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Today: Jaeger UI at localhost:16686 · tomorrow: any APM</a:t>
            </a:r>
            <a:endParaRPr i="0" sz="105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94" name="Google Shape;194;p9" title="Gemini_Generated_Image_rbdzoirbdzoirbdz.png"/>
          <p:cNvPicPr preferRelativeResize="0"/>
          <p:nvPr/>
        </p:nvPicPr>
        <p:blipFill rotWithShape="1">
          <a:blip r:embed="rId9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>
            <a:hlinkClick r:id="rId4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5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502920" y="960120"/>
            <a:ext cx="1118585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Five steps. Checkpoints. No one left behind.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640080" y="233172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640080" y="233172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0:00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1874520" y="233172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Intro · verify prework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1874520" y="257860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Short. If your check_env.py is red, raise a hand now.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640080" y="297180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"/>
          <p:cNvSpPr/>
          <p:nvPr/>
        </p:nvSpPr>
        <p:spPr>
          <a:xfrm>
            <a:off x="640080" y="297180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0:08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1874520" y="297180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Step 1 — minimal RAG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1874520" y="321868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Works. Black box. No observability.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0080" y="361188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640080" y="361188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0:23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1874520" y="361188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Step 2 — Langfuse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1874520" y="385876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Every call traced. Prompts + tokens visible.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640080" y="425196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0"/>
          <p:cNvSpPr/>
          <p:nvPr/>
        </p:nvSpPr>
        <p:spPr>
          <a:xfrm>
            <a:off x="640080" y="425196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0:43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1874520" y="42519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 xml:space="preserve">Step 3 — </a:t>
            </a: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OpenTelemetry + Jaeger</a:t>
            </a: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 xml:space="preserve"> 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1874520" y="449884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Same pattern, spans you can click on at localhost:16686.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640080" y="489204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"/>
          <p:cNvSpPr/>
          <p:nvPr/>
        </p:nvSpPr>
        <p:spPr>
          <a:xfrm>
            <a:off x="640080" y="489204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0:58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1874520" y="489204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Step 4 — break + debug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1874520" y="513892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Wrong answers. You find the bug in traces.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640080" y="5532120"/>
            <a:ext cx="1051560" cy="45720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"/>
          <p:cNvSpPr/>
          <p:nvPr/>
        </p:nvSpPr>
        <p:spPr>
          <a:xfrm>
            <a:off x="640080" y="5532120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1:18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1874520" y="553212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Spectral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Production patterns + Q&amp;A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1874520" y="5779008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Lato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What to do at work Monday.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10" title="Gemini_Generated_Image_rbdzoirbdzoirbdz.png"/>
          <p:cNvPicPr preferRelativeResize="0"/>
          <p:nvPr/>
        </p:nvPicPr>
        <p:blipFill rotWithShape="1">
          <a:blip r:embed="rId6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1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502920" y="960120"/>
            <a:ext cx="1118585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How to survive a 90-minute live build.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2" name="Google Shape;242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" y="237744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1"/>
          <p:cNvSpPr/>
          <p:nvPr/>
        </p:nvSpPr>
        <p:spPr>
          <a:xfrm>
            <a:off x="1234440" y="23317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Checkpoints save you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234440" y="27889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Fall behind? </a:t>
            </a:r>
            <a:endParaRPr b="0" i="0" sz="1200" u="none" cap="none" strike="noStrike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Type: git checkout step-N — clean working tree, no shame. </a:t>
            </a:r>
            <a:endParaRPr b="0" i="0" sz="1200" u="none" cap="none" strike="noStrike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The goal is learning, not typing.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5" name="Google Shape;245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7920" y="237744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1"/>
          <p:cNvSpPr/>
          <p:nvPr/>
        </p:nvSpPr>
        <p:spPr>
          <a:xfrm>
            <a:off x="6949440" y="23317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Pair up if Docker died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6949440" y="27889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 xml:space="preserve">If conference wifi slow, you may be stuck. if trying to download Docker </a:t>
            </a:r>
            <a:endParaRPr b="0" i="0" sz="1200" u="none" cap="none" strike="noStrike">
              <a:solidFill>
                <a:srgbClr val="20212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Share a laptop with a neighbor — learning is better than lonely.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8" name="Google Shape;248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20" y="420624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1"/>
          <p:cNvSpPr/>
          <p:nvPr/>
        </p:nvSpPr>
        <p:spPr>
          <a:xfrm>
            <a:off x="1234440" y="41605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Stop me when you're lost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1234440" y="46177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I'd rather lose a minute than lose a concept. Raise a hand.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1" name="Google Shape;251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17920" y="420624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1"/>
          <p:cNvSpPr/>
          <p:nvPr/>
        </p:nvSpPr>
        <p:spPr>
          <a:xfrm>
            <a:off x="6949440" y="41605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The bug in step 4 is the point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949440" y="46177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Don't peek at SOLUTION.md. The debugging IS the workshop.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11" title="Gemini_Generated_Image_rbdzoirbdzoirbdz.png"/>
          <p:cNvPicPr preferRelativeResize="0"/>
          <p:nvPr/>
        </p:nvPicPr>
        <p:blipFill rotWithShape="1">
          <a:blip r:embed="rId9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2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2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2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502920" y="2103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Lato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502920" y="26060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6400"/>
              <a:buFont typeface="Spectral"/>
              <a:buNone/>
            </a:pPr>
            <a:r>
              <a:rPr b="1" i="0" lang="en-US" sz="6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Minimal RAG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2"/>
          <p:cNvSpPr/>
          <p:nvPr/>
        </p:nvSpPr>
        <p:spPr>
          <a:xfrm>
            <a:off x="502920" y="39319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2000"/>
              <a:buFont typeface="Spectral"/>
              <a:buNone/>
            </a:pPr>
            <a:r>
              <a:rPr b="0" i="1" lang="en-US" sz="20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80 lines. Load → chunk → embed → retrieve → generate. Works. Also, a black box.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502920" y="4846320"/>
            <a:ext cx="3675888" cy="59436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2"/>
          <p:cNvSpPr/>
          <p:nvPr/>
        </p:nvSpPr>
        <p:spPr>
          <a:xfrm>
            <a:off x="502920" y="4846320"/>
            <a:ext cx="367588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python step1_rag/rag.py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502920" y="5623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15 min · talk through it, type together, run it, discuss the answers.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" name="Google Shape;271;p12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3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3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3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1 · WHAT TO NOTICE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It works. Now ask: what can't you answer?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502920" y="2331720"/>
            <a:ext cx="5760720" cy="384048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3"/>
          <p:cNvSpPr/>
          <p:nvPr/>
        </p:nvSpPr>
        <p:spPr>
          <a:xfrm>
            <a:off x="685800" y="242316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200"/>
              <a:buFont typeface="Lato"/>
              <a:buNone/>
            </a:pPr>
            <a:r>
              <a:rPr b="1" i="1" lang="en-US" sz="12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rag.py · the five stages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685800" y="2788920"/>
            <a:ext cx="54864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load_documents()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4A5759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 read *.md from sample_docs/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ourier New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chunk_documents()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4A5759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 500-char chunks, 50 overlap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ourier New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embed_text(text)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4A5759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 ollama.embeddings(all-minilm, ...)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ourier New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retrieve(coll, query, k=3)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4A5759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 chroma top-k nearest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ourier New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generate_answer(query, chunks)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4A5759"/>
                </a:solidFill>
                <a:latin typeface="Courier New"/>
                <a:ea typeface="Courier New"/>
                <a:cs typeface="Courier New"/>
                <a:sym typeface="Courier New"/>
              </a:rPr>
              <a:t xml:space="preserve">  ollama.generate(llama3.2:1b, ...)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6675120" y="23774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Right now you cannot answer: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8" name="Google Shape;288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29260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3"/>
          <p:cNvSpPr/>
          <p:nvPr/>
        </p:nvSpPr>
        <p:spPr>
          <a:xfrm>
            <a:off x="7132320" y="288036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0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Which chunks were retrieved?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0" name="Google Shape;2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36576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3"/>
          <p:cNvSpPr/>
          <p:nvPr/>
        </p:nvSpPr>
        <p:spPr>
          <a:xfrm>
            <a:off x="7132320" y="361188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0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How many tokens did that answer cost?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438912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13"/>
          <p:cNvSpPr/>
          <p:nvPr/>
        </p:nvSpPr>
        <p:spPr>
          <a:xfrm>
            <a:off x="7132320" y="434340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0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How long did each stage take?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4" name="Google Shape;2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75120" y="51206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13"/>
          <p:cNvSpPr/>
          <p:nvPr/>
        </p:nvSpPr>
        <p:spPr>
          <a:xfrm>
            <a:off x="7132320" y="507492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0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Did the LLM actually follow the prompt?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6675120" y="59436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Spectral"/>
              <a:buNone/>
            </a:pPr>
            <a:r>
              <a:rPr b="1" i="1" lang="en-US" sz="13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That's what step 2 fixes.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3" title="Gemini_Generated_Image_rbdzoirbdzoirbdz.png"/>
          <p:cNvPicPr preferRelativeResize="0"/>
          <p:nvPr/>
        </p:nvPicPr>
        <p:blipFill rotWithShape="1">
          <a:blip r:embed="rId6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4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4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4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4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4"/>
          <p:cNvSpPr/>
          <p:nvPr/>
        </p:nvSpPr>
        <p:spPr>
          <a:xfrm>
            <a:off x="502920" y="2103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Lato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4"/>
          <p:cNvSpPr/>
          <p:nvPr/>
        </p:nvSpPr>
        <p:spPr>
          <a:xfrm>
            <a:off x="502920" y="26060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6400"/>
              <a:buFont typeface="Spectral"/>
              <a:buNone/>
            </a:pPr>
            <a:r>
              <a:rPr b="1" i="0" lang="en-US" sz="6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Add Langfuse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4"/>
          <p:cNvSpPr/>
          <p:nvPr/>
        </p:nvSpPr>
        <p:spPr>
          <a:xfrm>
            <a:off x="502920" y="39319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2000"/>
              <a:buFont typeface="Spectral"/>
              <a:buNone/>
            </a:pPr>
            <a:r>
              <a:rPr b="0" i="1" lang="en-US" sz="20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One import, one decorator per stage. Every trace visible at localhost:3000.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/>
          <p:nvPr/>
        </p:nvSpPr>
        <p:spPr>
          <a:xfrm>
            <a:off x="502920" y="4846320"/>
            <a:ext cx="2011680" cy="59436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4"/>
          <p:cNvSpPr/>
          <p:nvPr/>
        </p:nvSpPr>
        <p:spPr>
          <a:xfrm>
            <a:off x="502920" y="484632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@observe()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4"/>
          <p:cNvSpPr/>
          <p:nvPr/>
        </p:nvSpPr>
        <p:spPr>
          <a:xfrm>
            <a:off x="2697480" y="4846320"/>
            <a:ext cx="4572000" cy="59436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4"/>
          <p:cNvSpPr/>
          <p:nvPr/>
        </p:nvSpPr>
        <p:spPr>
          <a:xfrm>
            <a:off x="2697480" y="484632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@observe(as_type="generation")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502920" y="5623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20 min · the wow moment. Tour the UI together.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6" name="Google Shape;316;p14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5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5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5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5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5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2 · WHAT YOU SEE AT LOCALHOST:3000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5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Every question becomes a nested trace.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640080" y="2468880"/>
            <a:ext cx="6858000" cy="50292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5"/>
          <p:cNvSpPr/>
          <p:nvPr/>
        </p:nvSpPr>
        <p:spPr>
          <a:xfrm>
            <a:off x="822960" y="246888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ask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5"/>
          <p:cNvSpPr/>
          <p:nvPr/>
        </p:nvSpPr>
        <p:spPr>
          <a:xfrm>
            <a:off x="5212080" y="24688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2.1s  ·  trace-id 4f2e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5"/>
          <p:cNvSpPr/>
          <p:nvPr/>
        </p:nvSpPr>
        <p:spPr>
          <a:xfrm>
            <a:off x="1005840" y="3108960"/>
            <a:ext cx="6400800" cy="457200"/>
          </a:xfrm>
          <a:prstGeom prst="rect">
            <a:avLst/>
          </a:prstGeom>
          <a:solidFill>
            <a:srgbClr val="4C9289"/>
          </a:solidFill>
          <a:ln cap="flat" cmpd="sng" w="12700">
            <a:solidFill>
              <a:srgbClr val="4C92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5"/>
          <p:cNvSpPr/>
          <p:nvPr/>
        </p:nvSpPr>
        <p:spPr>
          <a:xfrm>
            <a:off x="1188720" y="310896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retrieve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5"/>
          <p:cNvSpPr/>
          <p:nvPr/>
        </p:nvSpPr>
        <p:spPr>
          <a:xfrm>
            <a:off x="5486400" y="31089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0.1s  ·  3 chunks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5"/>
          <p:cNvSpPr/>
          <p:nvPr/>
        </p:nvSpPr>
        <p:spPr>
          <a:xfrm>
            <a:off x="1371600" y="3657600"/>
            <a:ext cx="6035040" cy="411480"/>
          </a:xfrm>
          <a:prstGeom prst="rect">
            <a:avLst/>
          </a:prstGeom>
          <a:solidFill>
            <a:srgbClr val="92BC81"/>
          </a:solidFill>
          <a:ln cap="flat" cmpd="sng" w="12700">
            <a:solidFill>
              <a:srgbClr val="92BC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5"/>
          <p:cNvSpPr/>
          <p:nvPr/>
        </p:nvSpPr>
        <p:spPr>
          <a:xfrm>
            <a:off x="1554480" y="365760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embed  ·  model=all-minilm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5"/>
          <p:cNvSpPr/>
          <p:nvPr/>
        </p:nvSpPr>
        <p:spPr>
          <a:xfrm>
            <a:off x="6492240" y="3657600"/>
            <a:ext cx="822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30ms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5"/>
          <p:cNvSpPr/>
          <p:nvPr/>
        </p:nvSpPr>
        <p:spPr>
          <a:xfrm>
            <a:off x="1005840" y="4206240"/>
            <a:ext cx="6400800" cy="457200"/>
          </a:xfrm>
          <a:prstGeom prst="rect">
            <a:avLst/>
          </a:prstGeom>
          <a:solidFill>
            <a:srgbClr val="1B786F"/>
          </a:solidFill>
          <a:ln cap="flat" cmpd="sng" w="12700">
            <a:solidFill>
              <a:srgbClr val="1B786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5"/>
          <p:cNvSpPr/>
          <p:nvPr/>
        </p:nvSpPr>
        <p:spPr>
          <a:xfrm>
            <a:off x="1188720" y="42062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urier New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generate_answer  ·  GENERATION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5"/>
          <p:cNvSpPr/>
          <p:nvPr/>
        </p:nvSpPr>
        <p:spPr>
          <a:xfrm>
            <a:off x="5394960" y="420624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2.0s  ·  416→42 tok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5"/>
          <p:cNvSpPr/>
          <p:nvPr/>
        </p:nvSpPr>
        <p:spPr>
          <a:xfrm>
            <a:off x="640080" y="49377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200"/>
              <a:buFont typeface="Spectral"/>
              <a:buNone/>
            </a:pPr>
            <a:r>
              <a:rPr b="0" i="1" lang="en-US" sz="12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Click any span → see input, output, latency, token usage.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8229600" y="24231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Each span gives you: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3" name="Google Shape;34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29718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15"/>
          <p:cNvSpPr/>
          <p:nvPr/>
        </p:nvSpPr>
        <p:spPr>
          <a:xfrm>
            <a:off x="8595360" y="29260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the exact prompt sent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5" name="Google Shape;34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34290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5"/>
          <p:cNvSpPr/>
          <p:nvPr/>
        </p:nvSpPr>
        <p:spPr>
          <a:xfrm>
            <a:off x="8595360" y="33832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the exact completion received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7" name="Google Shape;34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38862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15"/>
          <p:cNvSpPr/>
          <p:nvPr/>
        </p:nvSpPr>
        <p:spPr>
          <a:xfrm>
            <a:off x="8595360" y="38404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token counts in + out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9" name="Google Shape;34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43434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5"/>
          <p:cNvSpPr/>
          <p:nvPr/>
        </p:nvSpPr>
        <p:spPr>
          <a:xfrm>
            <a:off x="8595360" y="42976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latency per stage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1" name="Google Shape;35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48006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15"/>
          <p:cNvSpPr/>
          <p:nvPr/>
        </p:nvSpPr>
        <p:spPr>
          <a:xfrm>
            <a:off x="8595360" y="47548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model version used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3" name="Google Shape;35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29600" y="52578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15"/>
          <p:cNvSpPr/>
          <p:nvPr/>
        </p:nvSpPr>
        <p:spPr>
          <a:xfrm>
            <a:off x="8595360" y="521208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300"/>
              <a:buFont typeface="Lato"/>
              <a:buNone/>
            </a:pPr>
            <a:r>
              <a:rPr b="0" i="0" lang="en-US" sz="13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any metadata you attach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5" name="Google Shape;355;p15" title="Gemini_Generated_Image_rbdzoirbdzoirbdz.png"/>
          <p:cNvPicPr preferRelativeResize="0"/>
          <p:nvPr/>
        </p:nvPicPr>
        <p:blipFill rotWithShape="1">
          <a:blip r:embed="rId6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6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6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6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6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6"/>
          <p:cNvSpPr/>
          <p:nvPr/>
        </p:nvSpPr>
        <p:spPr>
          <a:xfrm>
            <a:off x="502920" y="2103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Lato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6"/>
          <p:cNvSpPr/>
          <p:nvPr/>
        </p:nvSpPr>
        <p:spPr>
          <a:xfrm>
            <a:off x="502920" y="26060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6400"/>
              <a:buFont typeface="Spectral"/>
              <a:buNone/>
            </a:pPr>
            <a:r>
              <a:rPr b="1" i="0" lang="en-US" sz="6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Add OpenTelemetry + Jaeger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6"/>
          <p:cNvSpPr/>
          <p:nvPr/>
        </p:nvSpPr>
        <p:spPr>
          <a:xfrm>
            <a:off x="502920" y="39319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2000"/>
              <a:buFont typeface="Spectral"/>
              <a:buNone/>
            </a:pPr>
            <a:r>
              <a:rPr b="0" i="1" lang="en-US" sz="20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Langfuse + OTel coexist. Langfuse: LLM-native view. OTel: cross-service view.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6"/>
          <p:cNvSpPr/>
          <p:nvPr/>
        </p:nvSpPr>
        <p:spPr>
          <a:xfrm>
            <a:off x="502920" y="4846320"/>
            <a:ext cx="6364224" cy="59436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6"/>
          <p:cNvSpPr/>
          <p:nvPr/>
        </p:nvSpPr>
        <p:spPr>
          <a:xfrm>
            <a:off x="502920" y="4846320"/>
            <a:ext cx="6364224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tracer.start_as_current_span("llm.generate")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6"/>
          <p:cNvSpPr/>
          <p:nvPr/>
        </p:nvSpPr>
        <p:spPr>
          <a:xfrm>
            <a:off x="502920" y="5623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15 min · same pattern, different backend. Today exports to Jaeger at localhost:16686.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2" name="Google Shape;372;p16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7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7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7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7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3 · WHY BOTH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They answer different questions.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502920" y="2286000"/>
            <a:ext cx="5257800" cy="393192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F4F2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7"/>
          <p:cNvSpPr/>
          <p:nvPr/>
        </p:nvSpPr>
        <p:spPr>
          <a:xfrm>
            <a:off x="502920" y="2286000"/>
            <a:ext cx="73152" cy="393192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7"/>
          <p:cNvSpPr/>
          <p:nvPr/>
        </p:nvSpPr>
        <p:spPr>
          <a:xfrm>
            <a:off x="777240" y="2468880"/>
            <a:ext cx="4709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Spectral"/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Langfuse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777240" y="2971800"/>
            <a:ext cx="4709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Spectral"/>
              <a:buNone/>
            </a:pPr>
            <a:r>
              <a:rPr b="0" i="1" lang="en-US" sz="13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Answers: "Why did the model say THAT?"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777240" y="3474720"/>
            <a:ext cx="470916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Prompt + completion inspection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Token + cost rollups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Prompt versioning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LLM-as-judge scoring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User session grouping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6355080" y="2286000"/>
            <a:ext cx="5257800" cy="393192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F4F2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7"/>
          <p:cNvSpPr/>
          <p:nvPr/>
        </p:nvSpPr>
        <p:spPr>
          <a:xfrm>
            <a:off x="6355080" y="2286000"/>
            <a:ext cx="73152" cy="3931920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7"/>
          <p:cNvSpPr/>
          <p:nvPr/>
        </p:nvSpPr>
        <p:spPr>
          <a:xfrm>
            <a:off x="6629400" y="2468880"/>
            <a:ext cx="4709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Spectral"/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OpenTelemetry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7"/>
          <p:cNvSpPr/>
          <p:nvPr/>
        </p:nvSpPr>
        <p:spPr>
          <a:xfrm>
            <a:off x="6629400" y="2971800"/>
            <a:ext cx="4709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Spectral"/>
              <a:buNone/>
            </a:pPr>
            <a:r>
              <a:rPr b="0" i="1" lang="en-US" sz="13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Answers: "Where does this fit in our stack?"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/>
          <p:nvPr/>
        </p:nvSpPr>
        <p:spPr>
          <a:xfrm>
            <a:off x="6629400" y="3474720"/>
            <a:ext cx="470916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Cross-service trace propagation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Today: Jaeger UI · tomorrow: Tempo, Datadog, Honeycomb...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Vendor-neutral: instrument once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Metrics + logs alongside traces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202124"/>
              </a:buClr>
              <a:buSzPts val="1400"/>
              <a:buFont typeface="Lato"/>
              <a:buChar char="•"/>
            </a:pPr>
            <a:r>
              <a:rPr b="0" i="0" lang="en-US" sz="14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Correlates with your non-LLM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5" name="Google Shape;395;p17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8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8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8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8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8"/>
          <p:cNvSpPr/>
          <p:nvPr/>
        </p:nvSpPr>
        <p:spPr>
          <a:xfrm>
            <a:off x="502920" y="2103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Lato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8"/>
          <p:cNvSpPr/>
          <p:nvPr/>
        </p:nvSpPr>
        <p:spPr>
          <a:xfrm>
            <a:off x="502920" y="26060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6400"/>
              <a:buFont typeface="Spectral"/>
              <a:buNone/>
            </a:pPr>
            <a:r>
              <a:rPr b="1" i="0" lang="en-US" sz="64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Break it. Debug it.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502920" y="393192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2000"/>
              <a:buFont typeface="Spectral"/>
              <a:buNone/>
            </a:pPr>
            <a:r>
              <a:rPr b="0" i="1" lang="en-US" sz="2000" u="none" cap="none" strike="noStrike">
                <a:solidFill>
                  <a:srgbClr val="4A5759"/>
                </a:solidFill>
                <a:latin typeface="Spectral"/>
                <a:ea typeface="Spectral"/>
                <a:cs typeface="Spectral"/>
                <a:sym typeface="Spectral"/>
              </a:rPr>
              <a:t>I planted a realistic bug. Same answers. Wrong answers. No exception.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8"/>
          <p:cNvSpPr/>
          <p:nvPr/>
        </p:nvSpPr>
        <p:spPr>
          <a:xfrm>
            <a:off x="502920" y="4846320"/>
            <a:ext cx="3931920" cy="594360"/>
          </a:xfrm>
          <a:prstGeom prst="rect">
            <a:avLst/>
          </a:prstGeom>
          <a:solidFill>
            <a:srgbClr val="F4F2EE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8"/>
          <p:cNvSpPr/>
          <p:nvPr/>
        </p:nvSpPr>
        <p:spPr>
          <a:xfrm>
            <a:off x="502920" y="4846320"/>
            <a:ext cx="3931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python step4_debug/rag.py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8"/>
          <p:cNvSpPr/>
          <p:nvPr/>
        </p:nvSpPr>
        <p:spPr>
          <a:xfrm>
            <a:off x="502920" y="5623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20 min · no peeking at SOLUTION.md — the debugging IS the workshop.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18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9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9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9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9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STEP 4 · THE DEBUG 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9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Work backwards through the trace.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9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9"/>
          <p:cNvSpPr/>
          <p:nvPr/>
        </p:nvSpPr>
        <p:spPr>
          <a:xfrm>
            <a:off x="548640" y="23317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1280160" y="228600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The answer looks wrong.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1280160" y="265176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Don't read the code. Read the trace.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548640" y="3063240"/>
            <a:ext cx="548640" cy="548640"/>
          </a:xfrm>
          <a:prstGeom prst="ellipse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9"/>
          <p:cNvSpPr/>
          <p:nvPr/>
        </p:nvSpPr>
        <p:spPr>
          <a:xfrm>
            <a:off x="548640" y="30632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1280160" y="301752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Open the prompt sent to the LLM.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1280160" y="338328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Is the right context in it?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9"/>
          <p:cNvSpPr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1280160" y="374904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If no → look at the retrieved chunks.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411480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Did we get back the right source?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9"/>
          <p:cNvSpPr/>
          <p:nvPr/>
        </p:nvSpPr>
        <p:spPr>
          <a:xfrm>
            <a:off x="548640" y="4526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448056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If no → check the embed spans.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1280160" y="484632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What model did each use?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548640" y="5257800"/>
            <a:ext cx="548640" cy="548640"/>
          </a:xfrm>
          <a:prstGeom prst="ellipse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9"/>
          <p:cNvSpPr/>
          <p:nvPr/>
        </p:nvSpPr>
        <p:spPr>
          <a:xfrm>
            <a:off x="548640" y="525780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Spectr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Spectral"/>
                <a:ea typeface="Spectral"/>
                <a:cs typeface="Spectral"/>
                <a:sym typeface="Spectral"/>
              </a:rPr>
              <a:t>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/>
          <p:nvPr/>
        </p:nvSpPr>
        <p:spPr>
          <a:xfrm>
            <a:off x="1280160" y="521208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700"/>
              <a:buFont typeface="Spectral"/>
              <a:buNone/>
            </a:pPr>
            <a:r>
              <a:rPr b="1" i="0" lang="en-US" sz="17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Look for the mismatch.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9"/>
          <p:cNvSpPr/>
          <p:nvPr/>
        </p:nvSpPr>
        <p:spPr>
          <a:xfrm>
            <a:off x="1280160" y="55778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300"/>
              <a:buFont typeface="Lato"/>
              <a:buNone/>
            </a:pPr>
            <a:r>
              <a:rPr b="0" i="1" lang="en-US" sz="1300" u="none" cap="none" strike="noStrike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Same code, different signal. That's your bug.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9"/>
          <p:cNvSpPr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Spectral"/>
              <a:buNone/>
            </a:pPr>
            <a:r>
              <a:rPr b="1" i="1" lang="en-US" sz="14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This flow is impossible without per-stage tracing. That's why it's not optional.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6" name="Google Shape;446;p19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0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0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20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0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0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TAKE THIS TO PROD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0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What to change when you're not on a laptop.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0"/>
          <p:cNvSpPr/>
          <p:nvPr/>
        </p:nvSpPr>
        <p:spPr>
          <a:xfrm>
            <a:off x="502920" y="2286000"/>
            <a:ext cx="11155680" cy="59436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0"/>
          <p:cNvSpPr/>
          <p:nvPr/>
        </p:nvSpPr>
        <p:spPr>
          <a:xfrm>
            <a:off x="731520" y="23317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Ollama → hosted model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0"/>
          <p:cNvSpPr/>
          <p:nvPr/>
        </p:nvSpPr>
        <p:spPr>
          <a:xfrm>
            <a:off x="4572000" y="23317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Swap the client; @observe decorators don't change. Langfuse auto-captures OpenAI/Anthropic SDKs.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0"/>
          <p:cNvSpPr/>
          <p:nvPr/>
        </p:nvSpPr>
        <p:spPr>
          <a:xfrm>
            <a:off x="502920" y="2971800"/>
            <a:ext cx="11155680" cy="594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20"/>
          <p:cNvSpPr/>
          <p:nvPr/>
        </p:nvSpPr>
        <p:spPr>
          <a:xfrm>
            <a:off x="731520" y="30175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ConsoleSpanExporter → OTLP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0"/>
          <p:cNvSpPr/>
          <p:nvPr/>
        </p:nvSpPr>
        <p:spPr>
          <a:xfrm>
            <a:off x="4572000" y="30175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One line. Your spans land in Jaeger, Tempo, Datadog, Honeycomb, your existing APM.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0"/>
          <p:cNvSpPr/>
          <p:nvPr/>
        </p:nvSpPr>
        <p:spPr>
          <a:xfrm>
            <a:off x="502920" y="3657600"/>
            <a:ext cx="11155680" cy="59436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0"/>
          <p:cNvSpPr/>
          <p:nvPr/>
        </p:nvSpPr>
        <p:spPr>
          <a:xfrm>
            <a:off x="731520" y="37033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EphemeralClient → persistent vectors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0"/>
          <p:cNvSpPr/>
          <p:nvPr/>
        </p:nvSpPr>
        <p:spPr>
          <a:xfrm>
            <a:off x="4572000" y="37033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Chroma HttpClient, Pinecone, Weaviate, pgvector. The trace boundary is the same.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0"/>
          <p:cNvSpPr/>
          <p:nvPr/>
        </p:nvSpPr>
        <p:spPr>
          <a:xfrm>
            <a:off x="502920" y="4343400"/>
            <a:ext cx="11155680" cy="594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0"/>
          <p:cNvSpPr/>
          <p:nvPr/>
        </p:nvSpPr>
        <p:spPr>
          <a:xfrm>
            <a:off x="731520" y="43891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Add evaluation loop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0"/>
          <p:cNvSpPr/>
          <p:nvPr/>
        </p:nvSpPr>
        <p:spPr>
          <a:xfrm>
            <a:off x="4572000" y="43891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Langfuse LLM-as-judge scores every response. Trend the scores. Gate releases on it.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0"/>
          <p:cNvSpPr/>
          <p:nvPr/>
        </p:nvSpPr>
        <p:spPr>
          <a:xfrm>
            <a:off x="502920" y="5029200"/>
            <a:ext cx="11155680" cy="59436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20"/>
          <p:cNvSpPr/>
          <p:nvPr/>
        </p:nvSpPr>
        <p:spPr>
          <a:xfrm>
            <a:off x="731520" y="50749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Lato"/>
              <a:buNone/>
            </a:pPr>
            <a:r>
              <a:rPr b="1" i="0" lang="en-US" sz="14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Mask PII before persisting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4572000" y="50749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Langfuse masking hook — strip sensitive fields in prompt/completion before storage.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4" name="Google Shape;474;p20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1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21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1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1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1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WHAT YOU LEAVE WITH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1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Four things to take home.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1"/>
          <p:cNvSpPr/>
          <p:nvPr/>
        </p:nvSpPr>
        <p:spPr>
          <a:xfrm>
            <a:off x="502920" y="2331720"/>
            <a:ext cx="548640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1"/>
          <p:cNvSpPr/>
          <p:nvPr/>
        </p:nvSpPr>
        <p:spPr>
          <a:xfrm>
            <a:off x="502920" y="2331720"/>
            <a:ext cx="54864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89" name="Google Shape;489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240" y="260604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21"/>
          <p:cNvSpPr/>
          <p:nvPr/>
        </p:nvSpPr>
        <p:spPr>
          <a:xfrm>
            <a:off x="1463040" y="256032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 working repo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1"/>
          <p:cNvSpPr/>
          <p:nvPr/>
        </p:nvSpPr>
        <p:spPr>
          <a:xfrm>
            <a:off x="777240" y="3200400"/>
            <a:ext cx="5029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Clone it, extend it, rip it apart. MIT-licensed. Bring to work Monday.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1"/>
          <p:cNvSpPr/>
          <p:nvPr/>
        </p:nvSpPr>
        <p:spPr>
          <a:xfrm>
            <a:off x="6217920" y="2331720"/>
            <a:ext cx="548640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21"/>
          <p:cNvSpPr/>
          <p:nvPr/>
        </p:nvSpPr>
        <p:spPr>
          <a:xfrm>
            <a:off x="6217920" y="2331720"/>
            <a:ext cx="54864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4" name="Google Shape;494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2240" y="260604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21"/>
          <p:cNvSpPr/>
          <p:nvPr/>
        </p:nvSpPr>
        <p:spPr>
          <a:xfrm>
            <a:off x="7178040" y="256032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An observability pattern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1"/>
          <p:cNvSpPr/>
          <p:nvPr/>
        </p:nvSpPr>
        <p:spPr>
          <a:xfrm>
            <a:off x="6492240" y="3200400"/>
            <a:ext cx="5029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Applies to any LLM project, any model, any backend. The wrapper is the same.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1"/>
          <p:cNvSpPr/>
          <p:nvPr/>
        </p:nvSpPr>
        <p:spPr>
          <a:xfrm>
            <a:off x="502920" y="4251960"/>
            <a:ext cx="548640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21"/>
          <p:cNvSpPr/>
          <p:nvPr/>
        </p:nvSpPr>
        <p:spPr>
          <a:xfrm>
            <a:off x="502920" y="4251960"/>
            <a:ext cx="54864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9" name="Google Shape;499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7240" y="4526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21"/>
          <p:cNvSpPr/>
          <p:nvPr/>
        </p:nvSpPr>
        <p:spPr>
          <a:xfrm>
            <a:off x="1463040" y="448056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 real debug reflex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1"/>
          <p:cNvSpPr/>
          <p:nvPr/>
        </p:nvSpPr>
        <p:spPr>
          <a:xfrm>
            <a:off x="777240" y="5120640"/>
            <a:ext cx="5029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You now know what a retrieval mismatch looks like in traces. You'll spot it in prod.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1"/>
          <p:cNvSpPr/>
          <p:nvPr/>
        </p:nvSpPr>
        <p:spPr>
          <a:xfrm>
            <a:off x="6217920" y="4251960"/>
            <a:ext cx="548640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21"/>
          <p:cNvSpPr/>
          <p:nvPr/>
        </p:nvSpPr>
        <p:spPr>
          <a:xfrm>
            <a:off x="6217920" y="4251960"/>
            <a:ext cx="5486400" cy="73152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4" name="Google Shape;504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92240" y="4526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05" name="Google Shape;505;p21"/>
          <p:cNvSpPr/>
          <p:nvPr/>
        </p:nvSpPr>
        <p:spPr>
          <a:xfrm>
            <a:off x="7178040" y="448056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Spectral"/>
              <a:buNone/>
            </a:pPr>
            <a:r>
              <a:rPr b="1" i="0" lang="en-US" sz="18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 production roadmap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1"/>
          <p:cNvSpPr/>
          <p:nvPr/>
        </p:nvSpPr>
        <p:spPr>
          <a:xfrm>
            <a:off x="6492240" y="5120640"/>
            <a:ext cx="5029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200"/>
              <a:buFont typeface="Lato"/>
              <a:buNone/>
            </a:pPr>
            <a:r>
              <a:rPr b="0" i="0" lang="en-US" sz="1200" u="none" cap="none" strike="noStrike">
                <a:solidFill>
                  <a:srgbClr val="202124"/>
                </a:solidFill>
                <a:latin typeface="Lato"/>
                <a:ea typeface="Lato"/>
                <a:cs typeface="Lato"/>
                <a:sym typeface="Lato"/>
              </a:rPr>
              <a:t>Evaluation loops, OTLP export, PII masking — the next 90 minutes at work.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7" name="Google Shape;507;p21" title="Gemini_Generated_Image_rbdzoirbdzoirbdz.png"/>
          <p:cNvPicPr preferRelativeResize="0"/>
          <p:nvPr/>
        </p:nvPicPr>
        <p:blipFill rotWithShape="1">
          <a:blip r:embed="rId9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22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22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2"/>
          <p:cNvSpPr/>
          <p:nvPr/>
        </p:nvSpPr>
        <p:spPr>
          <a:xfrm>
            <a:off x="502920" y="384048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Lato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2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Lato"/>
              <a:buNone/>
            </a:pPr>
            <a:r>
              <a:rPr b="0" i="0" lang="en-US" sz="11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2"/>
          <p:cNvSpPr/>
          <p:nvPr/>
        </p:nvSpPr>
        <p:spPr>
          <a:xfrm>
            <a:off x="502920" y="868680"/>
            <a:ext cx="111858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100"/>
              <a:buFont typeface="Lato"/>
              <a:buNone/>
            </a:pPr>
            <a:r>
              <a:rPr b="1" i="0" lang="en-US" sz="1100" u="none" cap="none" strike="noStrike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RESOURCES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2"/>
          <p:cNvSpPr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4000"/>
              <a:buFont typeface="Spectral"/>
              <a:buNone/>
            </a:pPr>
            <a:r>
              <a:rPr b="1" i="0" lang="en-US" sz="4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Where to go next.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2"/>
          <p:cNvSpPr/>
          <p:nvPr/>
        </p:nvSpPr>
        <p:spPr>
          <a:xfrm>
            <a:off x="502920" y="2286000"/>
            <a:ext cx="11155680" cy="50292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22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This workshop repo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2"/>
          <p:cNvSpPr/>
          <p:nvPr/>
        </p:nvSpPr>
        <p:spPr>
          <a:xfrm>
            <a:off x="4572000" y="228600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github.com/gigimcc4/DevOpsDays_llmops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2"/>
          <p:cNvSpPr/>
          <p:nvPr/>
        </p:nvSpPr>
        <p:spPr>
          <a:xfrm>
            <a:off x="502920" y="2926080"/>
            <a:ext cx="1115568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2"/>
          <p:cNvSpPr/>
          <p:nvPr/>
        </p:nvSpPr>
        <p:spPr>
          <a:xfrm>
            <a:off x="731520" y="29260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Langfuse docs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2"/>
          <p:cNvSpPr/>
          <p:nvPr/>
        </p:nvSpPr>
        <p:spPr>
          <a:xfrm>
            <a:off x="4572000" y="292608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langfuse.com/docs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2"/>
          <p:cNvSpPr/>
          <p:nvPr/>
        </p:nvSpPr>
        <p:spPr>
          <a:xfrm>
            <a:off x="502920" y="3566160"/>
            <a:ext cx="11155680" cy="50292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2"/>
          <p:cNvSpPr/>
          <p:nvPr/>
        </p:nvSpPr>
        <p:spPr>
          <a:xfrm>
            <a:off x="731520" y="356616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OpenTelemetry Python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2"/>
          <p:cNvSpPr/>
          <p:nvPr/>
        </p:nvSpPr>
        <p:spPr>
          <a:xfrm>
            <a:off x="4572000" y="356616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opentelemetry.io/docs/languages/python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2"/>
          <p:cNvSpPr/>
          <p:nvPr/>
        </p:nvSpPr>
        <p:spPr>
          <a:xfrm>
            <a:off x="502920" y="4206240"/>
            <a:ext cx="1115568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2"/>
          <p:cNvSpPr/>
          <p:nvPr/>
        </p:nvSpPr>
        <p:spPr>
          <a:xfrm>
            <a:off x="731520" y="420624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Ollama model library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2"/>
          <p:cNvSpPr/>
          <p:nvPr/>
        </p:nvSpPr>
        <p:spPr>
          <a:xfrm>
            <a:off x="4572000" y="420624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ollama.com/library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2"/>
          <p:cNvSpPr/>
          <p:nvPr/>
        </p:nvSpPr>
        <p:spPr>
          <a:xfrm>
            <a:off x="502920" y="4846320"/>
            <a:ext cx="11155680" cy="502920"/>
          </a:xfrm>
          <a:prstGeom prst="rect">
            <a:avLst/>
          </a:prstGeom>
          <a:solidFill>
            <a:srgbClr val="F4F2EE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22"/>
          <p:cNvSpPr/>
          <p:nvPr/>
        </p:nvSpPr>
        <p:spPr>
          <a:xfrm>
            <a:off x="731520" y="484632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ChromaDB docs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2"/>
          <p:cNvSpPr/>
          <p:nvPr/>
        </p:nvSpPr>
        <p:spPr>
          <a:xfrm>
            <a:off x="4572000" y="48463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docs.trychroma.com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2"/>
          <p:cNvSpPr/>
          <p:nvPr/>
        </p:nvSpPr>
        <p:spPr>
          <a:xfrm>
            <a:off x="502920" y="5486400"/>
            <a:ext cx="1115568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2"/>
          <p:cNvSpPr/>
          <p:nvPr/>
        </p:nvSpPr>
        <p:spPr>
          <a:xfrm>
            <a:off x="731520" y="54864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Spectral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Arsinnovate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2"/>
          <p:cNvSpPr/>
          <p:nvPr/>
        </p:nvSpPr>
        <p:spPr>
          <a:xfrm>
            <a:off x="4572000" y="548640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326666"/>
                </a:solidFill>
                <a:latin typeface="Courier New"/>
                <a:ea typeface="Courier New"/>
                <a:cs typeface="Courier New"/>
                <a:sym typeface="Courier New"/>
              </a:rPr>
              <a:t>arsinnovate.com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8" name="Google Shape;538;p22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23"/>
          <p:cNvSpPr/>
          <p:nvPr/>
        </p:nvSpPr>
        <p:spPr>
          <a:xfrm>
            <a:off x="9265615" y="457200"/>
            <a:ext cx="22860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3"/>
          <p:cNvSpPr/>
          <p:nvPr/>
        </p:nvSpPr>
        <p:spPr>
          <a:xfrm>
            <a:off x="9265615" y="548640"/>
            <a:ext cx="2286000" cy="18288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23">
            <a:hlinkClick r:id="rId3"/>
          </p:cNvPr>
          <p:cNvSpPr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Lato"/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www.arsinnovate.com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3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8000"/>
              <a:buFont typeface="Spectral"/>
              <a:buNone/>
            </a:pPr>
            <a:r>
              <a:rPr b="1" i="0" lang="en-US" sz="8000" u="none" cap="none" strike="noStrike">
                <a:solidFill>
                  <a:srgbClr val="0D1B2A"/>
                </a:solidFill>
                <a:latin typeface="Spectral"/>
                <a:ea typeface="Spectral"/>
                <a:cs typeface="Spectral"/>
                <a:sym typeface="Spectral"/>
              </a:rPr>
              <a:t>Thank you.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3"/>
          <p:cNvSpPr/>
          <p:nvPr/>
        </p:nvSpPr>
        <p:spPr>
          <a:xfrm>
            <a:off x="640080" y="3200400"/>
            <a:ext cx="1828800" cy="36576"/>
          </a:xfrm>
          <a:prstGeom prst="rect">
            <a:avLst/>
          </a:prstGeom>
          <a:solidFill>
            <a:srgbClr val="326666"/>
          </a:solidFill>
          <a:ln cap="flat" cmpd="sng" w="12700">
            <a:solidFill>
              <a:srgbClr val="32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3"/>
          <p:cNvSpPr/>
          <p:nvPr/>
        </p:nvSpPr>
        <p:spPr>
          <a:xfrm>
            <a:off x="640080" y="342900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3200"/>
              <a:buFont typeface="Spectral"/>
              <a:buNone/>
            </a:pPr>
            <a:r>
              <a:rPr b="0" i="1" lang="en-US" sz="3200" u="none" cap="none" strike="noStrike">
                <a:solidFill>
                  <a:srgbClr val="326666"/>
                </a:solidFill>
                <a:latin typeface="Spectral"/>
                <a:ea typeface="Spectral"/>
                <a:cs typeface="Spectral"/>
                <a:sym typeface="Spectral"/>
              </a:rPr>
              <a:t>Questions?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3"/>
          <p:cNvSpPr/>
          <p:nvPr/>
        </p:nvSpPr>
        <p:spPr>
          <a:xfrm>
            <a:off x="640080" y="416053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Lato"/>
              <a:buNone/>
            </a:pPr>
            <a:r>
              <a:rPr b="1" i="0" lang="en-US" sz="2000" u="none" cap="none" strike="noStrike">
                <a:solidFill>
                  <a:srgbClr val="0D1B2A"/>
                </a:solidFill>
                <a:latin typeface="Lato"/>
                <a:ea typeface="Lato"/>
                <a:cs typeface="Lato"/>
                <a:sym typeface="Lato"/>
              </a:rPr>
              <a:t>Jeanne McClure, PhD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A5759"/>
              </a:buClr>
              <a:buSzPts val="1500"/>
              <a:buFont typeface="Lato"/>
              <a:buNone/>
            </a:pPr>
            <a:r>
              <a:rPr lang="en-US" sz="1500">
                <a:solidFill>
                  <a:srgbClr val="4A5759"/>
                </a:solidFill>
                <a:latin typeface="Lato"/>
                <a:ea typeface="Lato"/>
                <a:cs typeface="Lato"/>
                <a:sym typeface="Lato"/>
              </a:rPr>
              <a:t>I:  Principal · Consultant · Expert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Ars Innovate Technologies &amp; Consulting</a:t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t/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 xml:space="preserve">Postdoctoral Fellow, </a:t>
            </a:r>
            <a:endParaRPr b="1">
              <a:solidFill>
                <a:srgbClr val="326666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326666"/>
              </a:buClr>
              <a:buSzPts val="1400"/>
              <a:buFont typeface="Lato"/>
              <a:buNone/>
            </a:pPr>
            <a:r>
              <a:rPr b="1" lang="en-US">
                <a:solidFill>
                  <a:srgbClr val="326666"/>
                </a:solidFill>
                <a:latin typeface="Lato"/>
                <a:ea typeface="Lato"/>
                <a:cs typeface="Lato"/>
                <a:sym typeface="Lato"/>
              </a:rPr>
              <a:t>North Carolina State University</a:t>
            </a:r>
            <a:endParaRPr>
              <a:solidFill>
                <a:srgbClr val="4A575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Lato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 xml:space="preserve">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bit.ly/3ONJiqb · jmcclure@arsinnovate.com · linkedin.com/in/jeannemcclure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3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800"/>
              <a:buFont typeface="Lato"/>
              <a:buNone/>
            </a:pPr>
            <a:r>
              <a:rPr b="0" i="0" lang="en-US" sz="800" u="none" cap="none" strike="noStrike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© 2026 Jeanne McClure, PhD / Arsinnovate. Non-commercial use only. Attribution required.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2" name="Google Shape;552;p23" title="Gemini_Generated_Image_rbdzoirbdzoirbdz.png"/>
          <p:cNvPicPr preferRelativeResize="0"/>
          <p:nvPr/>
        </p:nvPicPr>
        <p:blipFill rotWithShape="1">
          <a:blip r:embed="rId5">
            <a:alphaModFix/>
          </a:blip>
          <a:srcRect b="33061" l="22742" r="28149" t="10923"/>
          <a:stretch/>
        </p:blipFill>
        <p:spPr>
          <a:xfrm>
            <a:off x="9885440" y="6291673"/>
            <a:ext cx="1727432" cy="4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23" title="jeanne linkedi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39275" y="775600"/>
            <a:ext cx="1449400" cy="1462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ile:Curved Arrow.svg - Wikimedia Commons" id="554" name="Google Shape;554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10800000">
            <a:off x="9688663" y="891895"/>
            <a:ext cx="1047074" cy="936901"/>
          </a:xfrm>
          <a:prstGeom prst="rect">
            <a:avLst/>
          </a:prstGeom>
          <a:noFill/>
          <a:ln>
            <a:noFill/>
          </a:ln>
        </p:spPr>
      </p:pic>
      <p:sp>
        <p:nvSpPr>
          <p:cNvPr id="555" name="Google Shape;555;p23"/>
          <p:cNvSpPr txBox="1"/>
          <p:nvPr/>
        </p:nvSpPr>
        <p:spPr>
          <a:xfrm>
            <a:off x="10137425" y="1797863"/>
            <a:ext cx="1414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Hire me. Stand up your AI stack · audit your roadmap · subcontract on AI engagements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